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5"/>
  </p:notesMasterIdLst>
  <p:sldIdLst>
    <p:sldId id="258" r:id="rId2"/>
    <p:sldId id="272" r:id="rId3"/>
    <p:sldId id="288" r:id="rId4"/>
    <p:sldId id="289" r:id="rId5"/>
    <p:sldId id="290" r:id="rId6"/>
    <p:sldId id="291" r:id="rId7"/>
    <p:sldId id="273" r:id="rId8"/>
    <p:sldId id="274" r:id="rId9"/>
    <p:sldId id="275" r:id="rId10"/>
    <p:sldId id="278" r:id="rId11"/>
    <p:sldId id="281" r:id="rId12"/>
    <p:sldId id="282" r:id="rId13"/>
    <p:sldId id="283" r:id="rId14"/>
    <p:sldId id="284" r:id="rId15"/>
    <p:sldId id="276" r:id="rId16"/>
    <p:sldId id="277" r:id="rId17"/>
    <p:sldId id="285" r:id="rId18"/>
    <p:sldId id="279" r:id="rId19"/>
    <p:sldId id="286" r:id="rId20"/>
    <p:sldId id="287" r:id="rId21"/>
    <p:sldId id="280" r:id="rId22"/>
    <p:sldId id="260" r:id="rId23"/>
    <p:sldId id="261" r:id="rId24"/>
    <p:sldId id="262" r:id="rId25"/>
    <p:sldId id="265" r:id="rId26"/>
    <p:sldId id="266" r:id="rId27"/>
    <p:sldId id="267" r:id="rId28"/>
    <p:sldId id="271" r:id="rId29"/>
    <p:sldId id="268" r:id="rId30"/>
    <p:sldId id="269" r:id="rId31"/>
    <p:sldId id="270" r:id="rId32"/>
    <p:sldId id="257" r:id="rId33"/>
    <p:sldId id="263" r:id="rId34"/>
  </p:sldIdLst>
  <p:sldSz cx="7199313" cy="154797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E3D63E0-FAEA-4F05-B598-356AAF189B6B}">
          <p14:sldIdLst>
            <p14:sldId id="258"/>
            <p14:sldId id="272"/>
            <p14:sldId id="288"/>
            <p14:sldId id="289"/>
            <p14:sldId id="290"/>
            <p14:sldId id="291"/>
            <p14:sldId id="273"/>
            <p14:sldId id="274"/>
            <p14:sldId id="275"/>
            <p14:sldId id="278"/>
            <p14:sldId id="281"/>
            <p14:sldId id="282"/>
            <p14:sldId id="283"/>
            <p14:sldId id="284"/>
            <p14:sldId id="276"/>
            <p14:sldId id="277"/>
            <p14:sldId id="285"/>
            <p14:sldId id="279"/>
            <p14:sldId id="286"/>
            <p14:sldId id="287"/>
            <p14:sldId id="280"/>
            <p14:sldId id="260"/>
            <p14:sldId id="261"/>
            <p14:sldId id="262"/>
            <p14:sldId id="265"/>
            <p14:sldId id="266"/>
            <p14:sldId id="267"/>
            <p14:sldId id="271"/>
            <p14:sldId id="268"/>
            <p14:sldId id="269"/>
            <p14:sldId id="270"/>
          </p14:sldIdLst>
        </p14:section>
        <p14:section name="삭제구역" id="{65082D41-4A5F-43EB-90B9-D5BEAE7C9D55}">
          <p14:sldIdLst>
            <p14:sldId id="257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837" userDrawn="1">
          <p15:clr>
            <a:srgbClr val="A4A3A4"/>
          </p15:clr>
        </p15:guide>
        <p15:guide id="2" pos="22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  <a:srgbClr val="E4E4E4"/>
    <a:srgbClr val="262626"/>
    <a:srgbClr val="FFFF00"/>
    <a:srgbClr val="FFDE25"/>
    <a:srgbClr val="FF8A23"/>
    <a:srgbClr val="4BC8F2"/>
    <a:srgbClr val="FF5500"/>
    <a:srgbClr val="EAEA0B"/>
    <a:srgbClr val="BACA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 autoAdjust="0"/>
    <p:restoredTop sz="94660"/>
  </p:normalViewPr>
  <p:slideViewPr>
    <p:cSldViewPr snapToGrid="0">
      <p:cViewPr varScale="1">
        <p:scale>
          <a:sx n="46" d="100"/>
          <a:sy n="46" d="100"/>
        </p:scale>
        <p:origin x="4014" y="-210"/>
      </p:cViewPr>
      <p:guideLst>
        <p:guide orient="horz" pos="4837"/>
        <p:guide pos="22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723510-7DA6-4B41-91EA-9E58E9973C21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711450" y="1143000"/>
            <a:ext cx="1435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BCE4B3-A642-40A5-99F5-1EC656180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173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711450" y="1143000"/>
            <a:ext cx="14351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첫 랜딩 페이지 로그인 화면임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로그인 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아이디 또는 이메일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)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로 로그인 할 수 있으며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하단을 보면 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google, </a:t>
            </a:r>
            <a:r>
              <a:rPr lang="en-US" altLang="ko-KR" sz="1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kakao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en-US" altLang="ko-KR" sz="1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naver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의 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SSO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로그인도 가능하게 만든다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이 외에도 비회원으로 계속하기도 되도록 설정해준다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</a:p>
          <a:p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또한 아이디 저장과 자동 로그인 기능도 추가하고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회원가입하기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아이디 찾기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비밀번호 찾기 기능도 제공한다</a:t>
            </a:r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CE4B3-A642-40A5-99F5-1EC65618073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101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CAD18-4C17-0D7E-35F5-A769C319D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EDA64F-A92F-BD1C-6C28-CD6A4CB638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711450" y="1143000"/>
            <a:ext cx="14351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C35E9D-C9CB-5B00-16AE-2C03C67B2C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ECD513-44EA-E364-973E-BA7B442B6D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CE4B3-A642-40A5-99F5-1EC65618073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2574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711450" y="1143000"/>
            <a:ext cx="14351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CE4B3-A642-40A5-99F5-1EC656180739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847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2533371"/>
            <a:ext cx="6119416" cy="5389233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8130434"/>
            <a:ext cx="5399485" cy="3737346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1036-B5E2-4BC3-AD4E-33AE7B2156C0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FD1E2-10E3-4FB8-A657-EBE5FFDFD2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057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1036-B5E2-4BC3-AD4E-33AE7B2156C0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FD1E2-10E3-4FB8-A657-EBE5FFDFD2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4401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3859183"/>
            <a:ext cx="6209407" cy="6439129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10359229"/>
            <a:ext cx="6209407" cy="3386186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1036-B5E2-4BC3-AD4E-33AE7B2156C0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FD1E2-10E3-4FB8-A657-EBE5FFDFD2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094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4120757"/>
            <a:ext cx="3059708" cy="982173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4120757"/>
            <a:ext cx="3059708" cy="982173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1036-B5E2-4BC3-AD4E-33AE7B2156C0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FD1E2-10E3-4FB8-A657-EBE5FFDFD2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169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824155"/>
            <a:ext cx="6209407" cy="299202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3794681"/>
            <a:ext cx="3045646" cy="1859714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5654395"/>
            <a:ext cx="3045646" cy="831676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3794681"/>
            <a:ext cx="3060646" cy="1859714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5654395"/>
            <a:ext cx="3060646" cy="831676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1036-B5E2-4BC3-AD4E-33AE7B2156C0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FD1E2-10E3-4FB8-A657-EBE5FFDFD2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401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1036-B5E2-4BC3-AD4E-33AE7B2156C0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FD1E2-10E3-4FB8-A657-EBE5FFDFD2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65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1036-B5E2-4BC3-AD4E-33AE7B2156C0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FD1E2-10E3-4FB8-A657-EBE5FFDFD2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9293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1031981"/>
            <a:ext cx="2321966" cy="3611933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2228796"/>
            <a:ext cx="3644652" cy="11000629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4643914"/>
            <a:ext cx="2321966" cy="860342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1036-B5E2-4BC3-AD4E-33AE7B2156C0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FD1E2-10E3-4FB8-A657-EBE5FFDFD2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809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1031981"/>
            <a:ext cx="2321966" cy="3611933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2228796"/>
            <a:ext cx="3644652" cy="11000629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4643914"/>
            <a:ext cx="2321966" cy="860342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1036-B5E2-4BC3-AD4E-33AE7B2156C0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FD1E2-10E3-4FB8-A657-EBE5FFDFD2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415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1036-B5E2-4BC3-AD4E-33AE7B2156C0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FD1E2-10E3-4FB8-A657-EBE5FFDFD2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569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824152"/>
            <a:ext cx="1552352" cy="1311834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824152"/>
            <a:ext cx="4567064" cy="1311834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1036-B5E2-4BC3-AD4E-33AE7B2156C0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FD1E2-10E3-4FB8-A657-EBE5FFDFD2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581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824155"/>
            <a:ext cx="6209407" cy="29920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4120757"/>
            <a:ext cx="6209407" cy="9821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14347404"/>
            <a:ext cx="1619845" cy="8241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81036-B5E2-4BC3-AD4E-33AE7B2156C0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14347404"/>
            <a:ext cx="2429768" cy="8241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14347404"/>
            <a:ext cx="1619845" cy="8241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FD1E2-10E3-4FB8-A657-EBE5FFDFD2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048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719907" rtl="0" eaLnBrk="1" latinLnBrk="1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microsoft.com/office/2007/relationships/hdphoto" Target="../media/hdphoto2.wdp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3.png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3.png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microsoft.com/office/2007/relationships/hdphoto" Target="../media/hdphoto3.wdp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jpeg"/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12" Type="http://schemas.openxmlformats.org/officeDocument/2006/relationships/image" Target="../media/image3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11" Type="http://schemas.openxmlformats.org/officeDocument/2006/relationships/image" Target="../media/image30.png"/><Relationship Id="rId5" Type="http://schemas.openxmlformats.org/officeDocument/2006/relationships/image" Target="../media/image25.png"/><Relationship Id="rId15" Type="http://schemas.openxmlformats.org/officeDocument/2006/relationships/image" Target="../media/image34.png"/><Relationship Id="rId10" Type="http://schemas.openxmlformats.org/officeDocument/2006/relationships/image" Target="../media/image29.jpeg"/><Relationship Id="rId4" Type="http://schemas.openxmlformats.org/officeDocument/2006/relationships/image" Target="../media/image24.jpeg"/><Relationship Id="rId9" Type="http://schemas.openxmlformats.org/officeDocument/2006/relationships/image" Target="../media/image28.jpeg"/><Relationship Id="rId1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8.png"/><Relationship Id="rId7" Type="http://schemas.openxmlformats.org/officeDocument/2006/relationships/image" Target="../media/image3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5" Type="http://schemas.openxmlformats.org/officeDocument/2006/relationships/image" Target="../media/image22.png"/><Relationship Id="rId10" Type="http://schemas.microsoft.com/office/2007/relationships/hdphoto" Target="../media/hdphoto3.wdp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20.png"/><Relationship Id="rId3" Type="http://schemas.openxmlformats.org/officeDocument/2006/relationships/image" Target="../media/image38.png"/><Relationship Id="rId7" Type="http://schemas.openxmlformats.org/officeDocument/2006/relationships/image" Target="../media/image24.jpeg"/><Relationship Id="rId12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11" Type="http://schemas.openxmlformats.org/officeDocument/2006/relationships/image" Target="../media/image34.png"/><Relationship Id="rId5" Type="http://schemas.openxmlformats.org/officeDocument/2006/relationships/image" Target="../media/image23.png"/><Relationship Id="rId15" Type="http://schemas.microsoft.com/office/2007/relationships/hdphoto" Target="../media/hdphoto4.wdp"/><Relationship Id="rId10" Type="http://schemas.openxmlformats.org/officeDocument/2006/relationships/image" Target="../media/image25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3.png"/><Relationship Id="rId7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36.jpeg"/><Relationship Id="rId4" Type="http://schemas.microsoft.com/office/2007/relationships/hdphoto" Target="../media/hdphoto3.wdp"/><Relationship Id="rId9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20.png"/><Relationship Id="rId3" Type="http://schemas.openxmlformats.org/officeDocument/2006/relationships/image" Target="../media/image38.png"/><Relationship Id="rId7" Type="http://schemas.openxmlformats.org/officeDocument/2006/relationships/image" Target="../media/image24.jpeg"/><Relationship Id="rId12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11" Type="http://schemas.openxmlformats.org/officeDocument/2006/relationships/image" Target="../media/image34.png"/><Relationship Id="rId5" Type="http://schemas.openxmlformats.org/officeDocument/2006/relationships/image" Target="../media/image23.png"/><Relationship Id="rId15" Type="http://schemas.microsoft.com/office/2007/relationships/hdphoto" Target="../media/hdphoto4.wdp"/><Relationship Id="rId10" Type="http://schemas.openxmlformats.org/officeDocument/2006/relationships/image" Target="../media/image25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42.png"/><Relationship Id="rId10" Type="http://schemas.openxmlformats.org/officeDocument/2006/relationships/image" Target="../media/image1.png"/><Relationship Id="rId4" Type="http://schemas.openxmlformats.org/officeDocument/2006/relationships/hyperlink" Target="mailto:Cleandeal@kakao.com" TargetMode="External"/><Relationship Id="rId9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leandeal@kakao.com" TargetMode="External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hecheat.co.kr/rb/?m=bbs&amp;bid=suggestion&amp;uid=734801" TargetMode="External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1.png"/><Relationship Id="rId7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7.wdp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microsoft.com/office/2007/relationships/hdphoto" Target="../media/hdphoto5.wdp"/><Relationship Id="rId4" Type="http://schemas.openxmlformats.org/officeDocument/2006/relationships/image" Target="../media/image42.png"/><Relationship Id="rId9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1.png"/><Relationship Id="rId7" Type="http://schemas.openxmlformats.org/officeDocument/2006/relationships/image" Target="../media/image4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microsoft.com/office/2007/relationships/hdphoto" Target="../media/hdphoto5.wdp"/><Relationship Id="rId4" Type="http://schemas.openxmlformats.org/officeDocument/2006/relationships/image" Target="../media/image42.png"/><Relationship Id="rId9" Type="http://schemas.microsoft.com/office/2007/relationships/hdphoto" Target="../media/hdphoto7.wdp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1.png"/><Relationship Id="rId7" Type="http://schemas.openxmlformats.org/officeDocument/2006/relationships/image" Target="../media/image4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5.png"/><Relationship Id="rId5" Type="http://schemas.microsoft.com/office/2007/relationships/hdphoto" Target="../media/hdphoto5.wdp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microsoft.com/office/2007/relationships/hdphoto" Target="../media/hdphoto7.wd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microsoft.com/office/2007/relationships/hdphoto" Target="../media/hdphoto5.wdp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microsoft.com/office/2007/relationships/hdphoto" Target="../media/hdphoto8.wdp"/></Relationships>
</file>

<file path=ppt/slides/_rels/slide33.xml.rels><?xml version="1.0" encoding="UTF-8" standalone="yes"?>
<Relationships xmlns="http://schemas.openxmlformats.org/package/2006/relationships"><Relationship Id="rId8" Type="http://schemas.microsoft.com/office/2007/relationships/hdphoto" Target="../media/hdphoto7.wdp"/><Relationship Id="rId3" Type="http://schemas.openxmlformats.org/officeDocument/2006/relationships/image" Target="../media/image41.png"/><Relationship Id="rId7" Type="http://schemas.openxmlformats.org/officeDocument/2006/relationships/image" Target="../media/image4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microsoft.com/office/2007/relationships/hdphoto" Target="../media/hdphoto5.wdp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0D37D3-4E38-8F18-0D0C-1E575FD91937}"/>
              </a:ext>
            </a:extLst>
          </p:cNvPr>
          <p:cNvSpPr txBox="1"/>
          <p:nvPr/>
        </p:nvSpPr>
        <p:spPr>
          <a:xfrm>
            <a:off x="-2088690" y="6937941"/>
            <a:ext cx="11376691" cy="5516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985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냉털이</a:t>
            </a:r>
            <a:r>
              <a:rPr lang="ko-KR" altLang="en-US" sz="2985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웹사이트 기획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E4D938-C39E-0A5F-D88B-033E721FFA9A}"/>
              </a:ext>
            </a:extLst>
          </p:cNvPr>
          <p:cNvSpPr txBox="1"/>
          <p:nvPr/>
        </p:nvSpPr>
        <p:spPr>
          <a:xfrm>
            <a:off x="-2088690" y="12905809"/>
            <a:ext cx="11376691" cy="363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2025.05</a:t>
            </a:r>
            <a:endParaRPr lang="ko-KR" altLang="en-US" sz="1764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4BC347A-7D07-65A8-AB0B-346F0D1F13AF}"/>
              </a:ext>
            </a:extLst>
          </p:cNvPr>
          <p:cNvCxnSpPr>
            <a:cxnSpLocks/>
          </p:cNvCxnSpPr>
          <p:nvPr/>
        </p:nvCxnSpPr>
        <p:spPr>
          <a:xfrm>
            <a:off x="1727837" y="6083524"/>
            <a:ext cx="37436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4A4C742-48AD-0593-5D0A-3A9D9C642C6E}"/>
              </a:ext>
            </a:extLst>
          </p:cNvPr>
          <p:cNvCxnSpPr>
            <a:cxnSpLocks/>
          </p:cNvCxnSpPr>
          <p:nvPr/>
        </p:nvCxnSpPr>
        <p:spPr>
          <a:xfrm>
            <a:off x="1727837" y="8368106"/>
            <a:ext cx="37436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454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0FBD7DA3-D723-E7C1-BAF0-6A04B5B66779}"/>
              </a:ext>
            </a:extLst>
          </p:cNvPr>
          <p:cNvSpPr/>
          <p:nvPr/>
        </p:nvSpPr>
        <p:spPr>
          <a:xfrm>
            <a:off x="-1" y="3356692"/>
            <a:ext cx="7199313" cy="6336065"/>
          </a:xfrm>
          <a:prstGeom prst="rect">
            <a:avLst/>
          </a:prstGeom>
          <a:solidFill>
            <a:srgbClr val="BACA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B35AF2C-64DD-A5ED-6726-7D966C7BB19A}"/>
              </a:ext>
            </a:extLst>
          </p:cNvPr>
          <p:cNvSpPr/>
          <p:nvPr/>
        </p:nvSpPr>
        <p:spPr>
          <a:xfrm>
            <a:off x="-1" y="2809792"/>
            <a:ext cx="7199313" cy="8941654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CCF29C6-D2C9-6B3E-1B63-0216A0D751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45" t="38317" r="20647" b="35679"/>
          <a:stretch/>
        </p:blipFill>
        <p:spPr>
          <a:xfrm>
            <a:off x="2267785" y="4688728"/>
            <a:ext cx="2672745" cy="1187888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E36ADBA-0172-F733-6D99-8C9702C9163A}"/>
              </a:ext>
            </a:extLst>
          </p:cNvPr>
          <p:cNvCxnSpPr>
            <a:cxnSpLocks/>
          </p:cNvCxnSpPr>
          <p:nvPr/>
        </p:nvCxnSpPr>
        <p:spPr>
          <a:xfrm>
            <a:off x="-1" y="2454233"/>
            <a:ext cx="7199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C87DB9B8-5184-9B5F-E999-1D29CF8AFC5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" r="251"/>
          <a:stretch/>
        </p:blipFill>
        <p:spPr>
          <a:xfrm>
            <a:off x="-1" y="2480172"/>
            <a:ext cx="7199313" cy="32962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3E2EE0E-B79E-5B66-F58F-D1281811ACED}"/>
              </a:ext>
            </a:extLst>
          </p:cNvPr>
          <p:cNvSpPr txBox="1"/>
          <p:nvPr/>
        </p:nvSpPr>
        <p:spPr>
          <a:xfrm>
            <a:off x="2" y="1980409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UI 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구성</a:t>
            </a:r>
            <a:endParaRPr lang="ko-KR" altLang="en-US" sz="2267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CAB91C-4063-EFF7-D9F3-705336A603FE}"/>
              </a:ext>
            </a:extLst>
          </p:cNvPr>
          <p:cNvSpPr txBox="1"/>
          <p:nvPr/>
        </p:nvSpPr>
        <p:spPr>
          <a:xfrm>
            <a:off x="-1" y="16033491"/>
            <a:ext cx="7199313" cy="674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첫 랜딩 페이지 로그인 화면임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로그인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아이디 또는 이메일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)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로 로그인 할 수 있으며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하단을 보면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google, </a:t>
            </a:r>
            <a:r>
              <a:rPr lang="en-US" altLang="ko-KR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kakao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en-US" altLang="ko-KR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naver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의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SSO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로그인도 가능하게 만든다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이 외에도 비회원으로 계속하기도 되도록 설정해준다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</a:p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또한 아이디 저장과 자동 로그인 기능도 추가하고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회원가입하기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아이디 찾기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비밀번호 찾기 기능도 제공한다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6734F4-C953-D41F-A597-C52E8C83C9E5}"/>
              </a:ext>
            </a:extLst>
          </p:cNvPr>
          <p:cNvSpPr txBox="1"/>
          <p:nvPr/>
        </p:nvSpPr>
        <p:spPr>
          <a:xfrm>
            <a:off x="2" y="15585079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2267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3DA1BE-9373-35B6-681A-91411DDBFBCC}"/>
              </a:ext>
            </a:extLst>
          </p:cNvPr>
          <p:cNvSpPr txBox="1"/>
          <p:nvPr/>
        </p:nvSpPr>
        <p:spPr>
          <a:xfrm>
            <a:off x="1906850" y="8313628"/>
            <a:ext cx="3385619" cy="3877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아직 회원이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아니신가요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? </a:t>
            </a:r>
            <a:r>
              <a:rPr lang="en-US" altLang="ko-KR" sz="1260" b="1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3</a:t>
            </a:r>
            <a:r>
              <a:rPr lang="ko-KR" altLang="en-US" sz="1260" b="1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초 회원가입하기</a:t>
            </a:r>
            <a:endParaRPr lang="en-US" altLang="ko-KR" sz="1260" b="1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pPr algn="ctr"/>
            <a:r>
              <a:rPr lang="ko-KR" altLang="en-US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아이디 찾기 </a:t>
            </a:r>
            <a:r>
              <a:rPr lang="ko-KR" altLang="en-US" sz="1260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ㅣ</a:t>
            </a:r>
            <a:r>
              <a:rPr lang="ko-KR" altLang="en-US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비밀번호 찾기</a:t>
            </a:r>
            <a:endParaRPr lang="ko-KR" altLang="en-US" sz="126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960286E-D612-6BD4-6CB2-253C17460EA5}"/>
              </a:ext>
            </a:extLst>
          </p:cNvPr>
          <p:cNvSpPr/>
          <p:nvPr/>
        </p:nvSpPr>
        <p:spPr>
          <a:xfrm>
            <a:off x="2355613" y="10456315"/>
            <a:ext cx="2503093" cy="42789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535" dirty="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750F6C-099F-0C98-F73E-6B5BE0B3279A}"/>
              </a:ext>
            </a:extLst>
          </p:cNvPr>
          <p:cNvSpPr txBox="1"/>
          <p:nvPr/>
        </p:nvSpPr>
        <p:spPr>
          <a:xfrm>
            <a:off x="2599764" y="10528993"/>
            <a:ext cx="1999793" cy="26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비회원으로 시작하기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4C2D854-3205-E9DD-D22F-1FF4406F6A88}"/>
              </a:ext>
            </a:extLst>
          </p:cNvPr>
          <p:cNvGrpSpPr/>
          <p:nvPr/>
        </p:nvGrpSpPr>
        <p:grpSpPr>
          <a:xfrm>
            <a:off x="1679968" y="7336687"/>
            <a:ext cx="2959342" cy="427890"/>
            <a:chOff x="1423945" y="3750018"/>
            <a:chExt cx="3049883" cy="440982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F7698A82-F4C6-29D7-BAB7-3B78A8DB4E78}"/>
                </a:ext>
              </a:extLst>
            </p:cNvPr>
            <p:cNvSpPr/>
            <p:nvPr/>
          </p:nvSpPr>
          <p:spPr>
            <a:xfrm>
              <a:off x="1423945" y="3750018"/>
              <a:ext cx="3049883" cy="4409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535" dirty="0">
                <a:ln>
                  <a:solidFill>
                    <a:schemeClr val="bg1"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81DFE36-6D3E-2950-5661-09C27E9747B8}"/>
                </a:ext>
              </a:extLst>
            </p:cNvPr>
            <p:cNvSpPr txBox="1"/>
            <p:nvPr/>
          </p:nvSpPr>
          <p:spPr>
            <a:xfrm>
              <a:off x="1494345" y="3818795"/>
              <a:ext cx="2060976" cy="3049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323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KoPubWorld돋움체 Medium" panose="00000600000000000000" pitchFamily="2" charset="-127"/>
                </a:rPr>
                <a:t>비밀번호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EA682EC-36A3-FF63-F0E3-961169E9194F}"/>
              </a:ext>
            </a:extLst>
          </p:cNvPr>
          <p:cNvGrpSpPr/>
          <p:nvPr/>
        </p:nvGrpSpPr>
        <p:grpSpPr>
          <a:xfrm>
            <a:off x="1679968" y="6847679"/>
            <a:ext cx="2959342" cy="427890"/>
            <a:chOff x="1423945" y="3750018"/>
            <a:chExt cx="3049883" cy="440982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A1C387BB-B373-D241-C158-F683B18B24DC}"/>
                </a:ext>
              </a:extLst>
            </p:cNvPr>
            <p:cNvSpPr/>
            <p:nvPr/>
          </p:nvSpPr>
          <p:spPr>
            <a:xfrm>
              <a:off x="1423945" y="3750018"/>
              <a:ext cx="3049883" cy="4409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535" dirty="0">
                <a:ln>
                  <a:solidFill>
                    <a:schemeClr val="bg1"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43B2876-1867-3383-5482-827905E23B24}"/>
                </a:ext>
              </a:extLst>
            </p:cNvPr>
            <p:cNvSpPr txBox="1"/>
            <p:nvPr/>
          </p:nvSpPr>
          <p:spPr>
            <a:xfrm>
              <a:off x="1494345" y="3810685"/>
              <a:ext cx="2060976" cy="3049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323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KoPubWorld돋움체 Medium" panose="00000600000000000000" pitchFamily="2" charset="-127"/>
                </a:rPr>
                <a:t>아이디 또는 이메일</a:t>
              </a:r>
            </a:p>
          </p:txBody>
        </p:sp>
      </p:grp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D5597AC-A05F-2E06-CCEE-04E19C1A6F79}"/>
              </a:ext>
            </a:extLst>
          </p:cNvPr>
          <p:cNvSpPr/>
          <p:nvPr/>
        </p:nvSpPr>
        <p:spPr>
          <a:xfrm>
            <a:off x="4723656" y="6837797"/>
            <a:ext cx="795688" cy="926783"/>
          </a:xfrm>
          <a:prstGeom prst="roundRect">
            <a:avLst>
              <a:gd name="adj" fmla="val 5152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로그인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F7835FA-EE7C-B1D6-8B6A-2AE526B3A9A3}"/>
              </a:ext>
            </a:extLst>
          </p:cNvPr>
          <p:cNvGrpSpPr/>
          <p:nvPr/>
        </p:nvGrpSpPr>
        <p:grpSpPr>
          <a:xfrm>
            <a:off x="2695670" y="7819190"/>
            <a:ext cx="846063" cy="228075"/>
            <a:chOff x="1790586" y="4634984"/>
            <a:chExt cx="671627" cy="181052"/>
          </a:xfrm>
        </p:grpSpPr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17D4AA23-34B9-50AF-2EF7-D1F2D8E0AE1F}"/>
                </a:ext>
              </a:extLst>
            </p:cNvPr>
            <p:cNvSpPr/>
            <p:nvPr/>
          </p:nvSpPr>
          <p:spPr>
            <a:xfrm>
              <a:off x="1790586" y="4692319"/>
              <a:ext cx="79359" cy="77913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535" dirty="0">
                <a:ln>
                  <a:solidFill>
                    <a:schemeClr val="bg1"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055ADDE-9DFF-29AE-1394-550B80393D9D}"/>
                </a:ext>
              </a:extLst>
            </p:cNvPr>
            <p:cNvSpPr txBox="1"/>
            <p:nvPr/>
          </p:nvSpPr>
          <p:spPr>
            <a:xfrm>
              <a:off x="1821179" y="4634984"/>
              <a:ext cx="641034" cy="1810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아이디 저장</a:t>
              </a:r>
              <a:endParaRPr lang="ko-KR" altLang="en-US" sz="882" dirty="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8D883D4-0E03-0A08-30FC-439FD65C0E2C}"/>
              </a:ext>
            </a:extLst>
          </p:cNvPr>
          <p:cNvGrpSpPr/>
          <p:nvPr/>
        </p:nvGrpSpPr>
        <p:grpSpPr>
          <a:xfrm>
            <a:off x="3475751" y="7819196"/>
            <a:ext cx="1027899" cy="228076"/>
            <a:chOff x="1790586" y="4634984"/>
            <a:chExt cx="815973" cy="181053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61684AD9-5FED-D161-21ED-46C999EF041C}"/>
                </a:ext>
              </a:extLst>
            </p:cNvPr>
            <p:cNvSpPr/>
            <p:nvPr/>
          </p:nvSpPr>
          <p:spPr>
            <a:xfrm>
              <a:off x="1790586" y="4692319"/>
              <a:ext cx="79359" cy="77913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535" dirty="0">
                <a:ln>
                  <a:solidFill>
                    <a:schemeClr val="bg1"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203A398-CA41-C82B-65D2-6A256E3CDFD6}"/>
                </a:ext>
              </a:extLst>
            </p:cNvPr>
            <p:cNvSpPr txBox="1"/>
            <p:nvPr/>
          </p:nvSpPr>
          <p:spPr>
            <a:xfrm>
              <a:off x="1821179" y="4634984"/>
              <a:ext cx="785380" cy="181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자동 로그인</a:t>
              </a:r>
            </a:p>
          </p:txBody>
        </p:sp>
      </p:grpSp>
      <p:pic>
        <p:nvPicPr>
          <p:cNvPr id="44" name="그림 43">
            <a:extLst>
              <a:ext uri="{FF2B5EF4-FFF2-40B4-BE49-F238E27FC236}">
                <a16:creationId xmlns:a16="http://schemas.microsoft.com/office/drawing/2014/main" id="{3AC2BFE5-8DDE-6877-5405-6207170591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00" r="15600"/>
          <a:stretch/>
        </p:blipFill>
        <p:spPr>
          <a:xfrm>
            <a:off x="3347798" y="3871853"/>
            <a:ext cx="455838" cy="626650"/>
          </a:xfrm>
          <a:prstGeom prst="rect">
            <a:avLst/>
          </a:prstGeom>
        </p:spPr>
      </p:pic>
      <p:pic>
        <p:nvPicPr>
          <p:cNvPr id="45" name="Picture 6" descr="다시 정리하는 소셜 로그인">
            <a:extLst>
              <a:ext uri="{FF2B5EF4-FFF2-40B4-BE49-F238E27FC236}">
                <a16:creationId xmlns:a16="http://schemas.microsoft.com/office/drawing/2014/main" id="{9B7C9C5C-033D-9C8A-29D3-52962A8CEC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83" b="90352" l="10000" r="90000">
                        <a14:foregroundMark x1="28904" y1="16275" x2="67432" y2="24497"/>
                        <a14:foregroundMark x1="26678" y1="77517" x2="66336" y2="80537"/>
                        <a14:foregroundMark x1="72877" y1="14094" x2="27432" y2="27181"/>
                        <a14:foregroundMark x1="23459" y1="17953" x2="26336" y2="25000"/>
                        <a14:foregroundMark x1="56781" y1="29866" x2="75103" y2="25000"/>
                        <a14:foregroundMark x1="24897" y1="18708" x2="30103" y2="22567"/>
                        <a14:foregroundMark x1="25342" y1="90017" x2="64281" y2="84983"/>
                        <a14:foregroundMark x1="64281" y1="84983" x2="72945" y2="86577"/>
                        <a14:foregroundMark x1="72945" y1="86577" x2="75342" y2="90352"/>
                        <a14:foregroundMark x1="35514" y1="46225" x2="56918" y2="49664"/>
                        <a14:backgroundMark x1="36267" y1="64010" x2="38664" y2="645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32" t="7208" r="21208" b="66584"/>
          <a:stretch/>
        </p:blipFill>
        <p:spPr bwMode="auto">
          <a:xfrm>
            <a:off x="2343615" y="8888460"/>
            <a:ext cx="2525761" cy="46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6" descr="다시 정리하는 소셜 로그인">
            <a:extLst>
              <a:ext uri="{FF2B5EF4-FFF2-40B4-BE49-F238E27FC236}">
                <a16:creationId xmlns:a16="http://schemas.microsoft.com/office/drawing/2014/main" id="{96B608B4-6140-D4C6-782E-DCC9B47FF2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83" b="90352" l="10000" r="90000">
                        <a14:foregroundMark x1="28904" y1="16275" x2="67432" y2="24497"/>
                        <a14:foregroundMark x1="26678" y1="77517" x2="66336" y2="80537"/>
                        <a14:foregroundMark x1="72877" y1="14094" x2="27432" y2="27181"/>
                        <a14:foregroundMark x1="23459" y1="17953" x2="26336" y2="25000"/>
                        <a14:foregroundMark x1="56781" y1="29866" x2="75103" y2="25000"/>
                        <a14:foregroundMark x1="24897" y1="18708" x2="30103" y2="22567"/>
                        <a14:foregroundMark x1="25342" y1="90017" x2="64281" y2="84983"/>
                        <a14:foregroundMark x1="64281" y1="84983" x2="72945" y2="86577"/>
                        <a14:foregroundMark x1="72945" y1="86577" x2="75342" y2="90352"/>
                        <a14:foregroundMark x1="35514" y1="46225" x2="56918" y2="49664"/>
                        <a14:backgroundMark x1="36267" y1="64010" x2="38664" y2="645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32" t="36797" r="21208" b="36995"/>
          <a:stretch/>
        </p:blipFill>
        <p:spPr bwMode="auto">
          <a:xfrm>
            <a:off x="2343615" y="9402231"/>
            <a:ext cx="2525761" cy="46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6" descr="다시 정리하는 소셜 로그인">
            <a:extLst>
              <a:ext uri="{FF2B5EF4-FFF2-40B4-BE49-F238E27FC236}">
                <a16:creationId xmlns:a16="http://schemas.microsoft.com/office/drawing/2014/main" id="{7E0A71F1-6418-EF66-5278-3B6834E059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83" b="90352" l="10000" r="90000">
                        <a14:foregroundMark x1="28904" y1="16275" x2="67432" y2="24497"/>
                        <a14:foregroundMark x1="26678" y1="77517" x2="66336" y2="80537"/>
                        <a14:foregroundMark x1="72877" y1="14094" x2="27432" y2="27181"/>
                        <a14:foregroundMark x1="23459" y1="17953" x2="26336" y2="25000"/>
                        <a14:foregroundMark x1="56781" y1="29866" x2="75103" y2="25000"/>
                        <a14:foregroundMark x1="24897" y1="18708" x2="30103" y2="22567"/>
                        <a14:foregroundMark x1="25342" y1="90017" x2="64281" y2="84983"/>
                        <a14:foregroundMark x1="64281" y1="84983" x2="72945" y2="86577"/>
                        <a14:foregroundMark x1="72945" y1="86577" x2="75342" y2="90352"/>
                        <a14:foregroundMark x1="35514" y1="46225" x2="56918" y2="49664"/>
                        <a14:backgroundMark x1="36267" y1="64010" x2="38664" y2="645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32" t="65910" r="21208" b="7882"/>
          <a:stretch/>
        </p:blipFill>
        <p:spPr bwMode="auto">
          <a:xfrm>
            <a:off x="2343615" y="9906987"/>
            <a:ext cx="2525761" cy="46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72F5296-81E9-5D39-996B-9F7D462200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8" y="-50755"/>
            <a:ext cx="7199313" cy="1558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667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0EE12-2B49-6CFC-43D7-C13DBAB14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>
            <a:extLst>
              <a:ext uri="{FF2B5EF4-FFF2-40B4-BE49-F238E27FC236}">
                <a16:creationId xmlns:a16="http://schemas.microsoft.com/office/drawing/2014/main" id="{A195214F-ADB7-6757-D50F-D47EC8E2A241}"/>
              </a:ext>
            </a:extLst>
          </p:cNvPr>
          <p:cNvSpPr/>
          <p:nvPr/>
        </p:nvSpPr>
        <p:spPr>
          <a:xfrm>
            <a:off x="-11741" y="14382044"/>
            <a:ext cx="7211054" cy="109766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9A950C-CD21-16BD-8367-E52BB41FCD05}"/>
              </a:ext>
            </a:extLst>
          </p:cNvPr>
          <p:cNvSpPr txBox="1"/>
          <p:nvPr/>
        </p:nvSpPr>
        <p:spPr>
          <a:xfrm>
            <a:off x="-11741" y="16572249"/>
            <a:ext cx="7199313" cy="443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로그인을 하고 나면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배경은 화이트로 바뀐다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로그인 실행 이후 부터 페이지부터는 모두다 화이트 배경으로 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홈페이지 메뉴 네비게이션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홈페이지의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메뉴바이다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일단 크게는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나의 냉장고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이렇게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네가지의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메뉴가 있음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현재 페이지는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페이지의 첫 페이지에 해당한다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비로그인 상태 가능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</a:t>
            </a:r>
          </a:p>
          <a:p>
            <a:pPr marL="215976" indent="-215976">
              <a:buFontTx/>
              <a:buChar char="-"/>
            </a:pP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해당 아이콘은 클릭이 안된 경우엔 아래 경로의 이미지 아이콘을 쓰고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화이트계열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pPr marL="215976" indent="-215976">
              <a:buFontTx/>
              <a:buChar char="-"/>
            </a:pP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"C:\Users\user\Desktop\RefrigeratorCode\frontend\src\assets\navigator_myfridge_white.png“</a:t>
            </a:r>
          </a:p>
          <a:p>
            <a:pPr marL="215976" indent="-215976">
              <a:buFontTx/>
              <a:buChar char="-"/>
            </a:pP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"C:\Users\user\Desktop\RefrigeratorCode\frontend\src\assets\navigator_myfridgerecipe_white.png“</a:t>
            </a:r>
          </a:p>
          <a:p>
            <a:pPr marL="215976" indent="-215976">
              <a:buFontTx/>
              <a:buChar char="-"/>
            </a:pP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"C:\Users\user\Desktop\RefrigeratorCode\frontend\src\assets\navigator_popularity_white.png“</a:t>
            </a:r>
          </a:p>
          <a:p>
            <a:pPr marL="215976" indent="-215976">
              <a:buFontTx/>
              <a:buChar char="-"/>
            </a:pP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"C:\Users\user\Desktop\RefrigeratorCode\frontend\src\assets\navigator_mypage_white.png“</a:t>
            </a:r>
          </a:p>
          <a:p>
            <a:pPr marL="215976" indent="-215976">
              <a:buFontTx/>
              <a:buChar char="-"/>
            </a:pP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클릭이 된 경우엔 아래 경로의 이미지 아이콘을 쓴다 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블랙계열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pPr marL="215976" indent="-215976">
              <a:buFontTx/>
              <a:buChar char="-"/>
            </a:pP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"C:\Users\user\Desktop\RefrigeratorCode\frontend\src\assets\navigator_myfridge_black.png“</a:t>
            </a:r>
          </a:p>
          <a:p>
            <a:pPr marL="215976" indent="-215976">
              <a:buFontTx/>
              <a:buChar char="-"/>
            </a:pP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"C:\Users\user\Desktop\RefrigeratorCode\frontend\src\assets\navigator_myfridgerecipe_black.png“</a:t>
            </a:r>
          </a:p>
          <a:p>
            <a:pPr marL="215976" indent="-215976">
              <a:buFontTx/>
              <a:buChar char="-"/>
            </a:pP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"C:\Users\user\Desktop\RefrigeratorCode\frontend\src\assets\navigator_popularity_black.png“</a:t>
            </a:r>
          </a:p>
          <a:p>
            <a:pPr marL="215976" indent="-215976">
              <a:buFontTx/>
              <a:buChar char="-"/>
            </a:pP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"C:\Users\user\Desktop\RefrigeratorCode\frontend\src\assets\navigator_mypage_black.png“</a:t>
            </a:r>
          </a:p>
          <a:p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지금은 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내 냉장고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 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페이지에 해당하니 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내 냉장고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에 해당하는 아이콘만 블랙 계열의 파일을 씀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Ⓑ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냉동실 선택창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이미지상의 냉동실을 선택하게 되면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우리집 냉동실안에 있는 재료들을 업데이트 할 수 있는 창으로 이동된다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ⓒ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냉장실 선택창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이미지상의 냉장실을 선택하게 되면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우리집 냉장실안에 있는 재료들을 업데이트 할 수 있는 창으로 이동된다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Ⓓ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실온보관 선택창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이미지상의 실온보관 공간을 선택하게 되면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우리집 실온보관실에 있는 재료들을 업데이트 할 수 있는 창으로 이동된다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270CBC-873F-C93D-4ACE-26500B76BB0F}"/>
              </a:ext>
            </a:extLst>
          </p:cNvPr>
          <p:cNvSpPr txBox="1"/>
          <p:nvPr/>
        </p:nvSpPr>
        <p:spPr>
          <a:xfrm>
            <a:off x="2" y="15880383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2267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A155965E-ABF7-A0D9-1CDF-5A1EFF02D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744" y="14658116"/>
            <a:ext cx="555464" cy="346419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034FBCB-B0C2-0FE4-8500-1BEE8DBF43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587" y="14579721"/>
            <a:ext cx="449449" cy="50320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8FFB979A-FB8A-FC71-474E-9A46E808A6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441" y="14594658"/>
            <a:ext cx="430038" cy="473339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1AFE271D-A849-98C8-9E6B-22CE6EC9FD5D}"/>
              </a:ext>
            </a:extLst>
          </p:cNvPr>
          <p:cNvSpPr txBox="1"/>
          <p:nvPr/>
        </p:nvSpPr>
        <p:spPr>
          <a:xfrm>
            <a:off x="102413" y="15163112"/>
            <a:ext cx="195903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08000DA-3992-6F49-DF8B-544E938263DA}"/>
              </a:ext>
            </a:extLst>
          </p:cNvPr>
          <p:cNvSpPr txBox="1"/>
          <p:nvPr/>
        </p:nvSpPr>
        <p:spPr>
          <a:xfrm>
            <a:off x="1733775" y="15163112"/>
            <a:ext cx="220340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E37F6DD-D1D1-6C8B-77C3-21E25440C2A2}"/>
              </a:ext>
            </a:extLst>
          </p:cNvPr>
          <p:cNvSpPr txBox="1"/>
          <p:nvPr/>
        </p:nvSpPr>
        <p:spPr>
          <a:xfrm>
            <a:off x="5713176" y="15163112"/>
            <a:ext cx="105656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BDB3AE4-4745-0BBE-6BDA-71B06608B94A}"/>
              </a:ext>
            </a:extLst>
          </p:cNvPr>
          <p:cNvSpPr txBox="1"/>
          <p:nvPr/>
        </p:nvSpPr>
        <p:spPr>
          <a:xfrm>
            <a:off x="3711516" y="15163112"/>
            <a:ext cx="163959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E4643441-A3E7-2107-C73F-D81AC438CF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14" y="14567779"/>
            <a:ext cx="298637" cy="527094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DF4A6AA7-E31A-146E-CE0B-B272EB8C9810}"/>
              </a:ext>
            </a:extLst>
          </p:cNvPr>
          <p:cNvSpPr txBox="1"/>
          <p:nvPr/>
        </p:nvSpPr>
        <p:spPr>
          <a:xfrm>
            <a:off x="1168701" y="16103985"/>
            <a:ext cx="518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ko-KR" altLang="en-US" sz="2267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E739724-3DCB-F7BC-C690-8D41B1416266}"/>
              </a:ext>
            </a:extLst>
          </p:cNvPr>
          <p:cNvSpPr txBox="1"/>
          <p:nvPr/>
        </p:nvSpPr>
        <p:spPr>
          <a:xfrm>
            <a:off x="381000" y="4662540"/>
            <a:ext cx="266654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재료 관리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3C7DE19-59F4-A551-84AD-E07648C2FD80}"/>
              </a:ext>
            </a:extLst>
          </p:cNvPr>
          <p:cNvSpPr txBox="1"/>
          <p:nvPr/>
        </p:nvSpPr>
        <p:spPr>
          <a:xfrm>
            <a:off x="630070" y="5037669"/>
            <a:ext cx="34319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냉동보관</a:t>
            </a:r>
            <a:r>
              <a:rPr lang="en-US" altLang="ko-KR" sz="15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🧊</a:t>
            </a:r>
            <a:endParaRPr lang="ko-KR" altLang="en-US" sz="15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1AA5CE1-D1D4-E5F0-BDAC-72FC49E9E6FE}"/>
              </a:ext>
            </a:extLst>
          </p:cNvPr>
          <p:cNvSpPr txBox="1"/>
          <p:nvPr/>
        </p:nvSpPr>
        <p:spPr>
          <a:xfrm>
            <a:off x="630070" y="6861247"/>
            <a:ext cx="34319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냉장보관</a:t>
            </a:r>
            <a:r>
              <a:rPr lang="en-US" altLang="ko-KR" sz="15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❄️</a:t>
            </a:r>
            <a:endParaRPr lang="ko-KR" altLang="en-US" sz="15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D820954-A5DC-E7BC-0C18-B6DBAC7F2770}"/>
              </a:ext>
            </a:extLst>
          </p:cNvPr>
          <p:cNvSpPr txBox="1"/>
          <p:nvPr/>
        </p:nvSpPr>
        <p:spPr>
          <a:xfrm>
            <a:off x="630070" y="8684824"/>
            <a:ext cx="34319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실온보관</a:t>
            </a:r>
            <a:r>
              <a:rPr lang="en-US" altLang="ko-KR" sz="1500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🌡️</a:t>
            </a:r>
          </a:p>
        </p:txBody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31680261-9CB0-D83E-B3DE-2D7D553DC2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230" y="722289"/>
            <a:ext cx="324772" cy="333416"/>
          </a:xfrm>
          <a:prstGeom prst="rect">
            <a:avLst/>
          </a:prstGeom>
        </p:spPr>
      </p:pic>
      <p:pic>
        <p:nvPicPr>
          <p:cNvPr id="122" name="그림 121">
            <a:extLst>
              <a:ext uri="{FF2B5EF4-FFF2-40B4-BE49-F238E27FC236}">
                <a16:creationId xmlns:a16="http://schemas.microsoft.com/office/drawing/2014/main" id="{AAFF3CFC-F820-9C85-5926-8CA9A49E4D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81" y="705298"/>
            <a:ext cx="1006249" cy="367398"/>
          </a:xfrm>
          <a:prstGeom prst="rect">
            <a:avLst/>
          </a:prstGeom>
        </p:spPr>
      </p:pic>
      <p:sp>
        <p:nvSpPr>
          <p:cNvPr id="123" name="TextBox 122">
            <a:extLst>
              <a:ext uri="{FF2B5EF4-FFF2-40B4-BE49-F238E27FC236}">
                <a16:creationId xmlns:a16="http://schemas.microsoft.com/office/drawing/2014/main" id="{57B3BBA2-11BE-FAAE-46E6-85C654780F32}"/>
              </a:ext>
            </a:extLst>
          </p:cNvPr>
          <p:cNvSpPr txBox="1"/>
          <p:nvPr/>
        </p:nvSpPr>
        <p:spPr>
          <a:xfrm>
            <a:off x="2254643" y="2412867"/>
            <a:ext cx="2666544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재료 추가</a:t>
            </a: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B3564DF3-9D29-9BFD-53AA-A5F6FF5CF2AA}"/>
              </a:ext>
            </a:extLst>
          </p:cNvPr>
          <p:cNvSpPr/>
          <p:nvPr/>
        </p:nvSpPr>
        <p:spPr>
          <a:xfrm>
            <a:off x="1727805" y="2936959"/>
            <a:ext cx="3720496" cy="310174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5B40F10-D244-A58A-47D4-DC4BCB96C064}"/>
              </a:ext>
            </a:extLst>
          </p:cNvPr>
          <p:cNvSpPr txBox="1"/>
          <p:nvPr/>
        </p:nvSpPr>
        <p:spPr>
          <a:xfrm>
            <a:off x="1775013" y="2968334"/>
            <a:ext cx="2981023" cy="24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추가 할 재료들을 입력해주세요</a:t>
            </a:r>
          </a:p>
        </p:txBody>
      </p:sp>
      <p:grpSp>
        <p:nvGrpSpPr>
          <p:cNvPr id="2069" name="그룹 2068">
            <a:extLst>
              <a:ext uri="{FF2B5EF4-FFF2-40B4-BE49-F238E27FC236}">
                <a16:creationId xmlns:a16="http://schemas.microsoft.com/office/drawing/2014/main" id="{172CDEC3-BD72-37C7-6CFE-C9DE57DD75CB}"/>
              </a:ext>
            </a:extLst>
          </p:cNvPr>
          <p:cNvGrpSpPr/>
          <p:nvPr/>
        </p:nvGrpSpPr>
        <p:grpSpPr>
          <a:xfrm>
            <a:off x="793488" y="5403042"/>
            <a:ext cx="6043659" cy="1292586"/>
            <a:chOff x="793488" y="5403042"/>
            <a:chExt cx="6043659" cy="1292586"/>
          </a:xfrm>
        </p:grpSpPr>
        <p:sp>
          <p:nvSpPr>
            <p:cNvPr id="101" name="사각형: 둥근 모서리 100">
              <a:extLst>
                <a:ext uri="{FF2B5EF4-FFF2-40B4-BE49-F238E27FC236}">
                  <a16:creationId xmlns:a16="http://schemas.microsoft.com/office/drawing/2014/main" id="{5A5D5BAB-D121-84A2-3584-EF58A539087D}"/>
                </a:ext>
              </a:extLst>
            </p:cNvPr>
            <p:cNvSpPr/>
            <p:nvPr/>
          </p:nvSpPr>
          <p:spPr>
            <a:xfrm>
              <a:off x="793488" y="5403042"/>
              <a:ext cx="6043659" cy="1292586"/>
            </a:xfrm>
            <a:prstGeom prst="roundRect">
              <a:avLst>
                <a:gd name="adj" fmla="val 8334"/>
              </a:avLst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사각형: 둥근 모서리 125">
              <a:extLst>
                <a:ext uri="{FF2B5EF4-FFF2-40B4-BE49-F238E27FC236}">
                  <a16:creationId xmlns:a16="http://schemas.microsoft.com/office/drawing/2014/main" id="{6724B339-9BF8-A59D-8688-6DF39F791F86}"/>
                </a:ext>
              </a:extLst>
            </p:cNvPr>
            <p:cNvSpPr/>
            <p:nvPr/>
          </p:nvSpPr>
          <p:spPr>
            <a:xfrm>
              <a:off x="6540665" y="5606037"/>
              <a:ext cx="139536" cy="43281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4" name="그룹 143">
              <a:extLst>
                <a:ext uri="{FF2B5EF4-FFF2-40B4-BE49-F238E27FC236}">
                  <a16:creationId xmlns:a16="http://schemas.microsoft.com/office/drawing/2014/main" id="{74C3C0DB-3913-C3A4-196E-E8E80E672A24}"/>
                </a:ext>
              </a:extLst>
            </p:cNvPr>
            <p:cNvGrpSpPr/>
            <p:nvPr/>
          </p:nvGrpSpPr>
          <p:grpSpPr>
            <a:xfrm>
              <a:off x="969973" y="5569092"/>
              <a:ext cx="933314" cy="261610"/>
              <a:chOff x="1168701" y="5655177"/>
              <a:chExt cx="933314" cy="261610"/>
            </a:xfrm>
          </p:grpSpPr>
          <p:sp>
            <p:nvSpPr>
              <p:cNvPr id="127" name="사각형: 둥근 모서리 126">
                <a:extLst>
                  <a:ext uri="{FF2B5EF4-FFF2-40B4-BE49-F238E27FC236}">
                    <a16:creationId xmlns:a16="http://schemas.microsoft.com/office/drawing/2014/main" id="{A121AC16-DF3B-DF84-6DC3-23FEF04AAE8B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청양고추</a:t>
                </a: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86A82F09-98BF-E93E-2847-EE9C06DF3BD4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C41A359E-3C6F-46A9-0EEE-E8CB570F7A83}"/>
                </a:ext>
              </a:extLst>
            </p:cNvPr>
            <p:cNvGrpSpPr/>
            <p:nvPr/>
          </p:nvGrpSpPr>
          <p:grpSpPr>
            <a:xfrm>
              <a:off x="2002044" y="5569092"/>
              <a:ext cx="933314" cy="261610"/>
              <a:chOff x="1168701" y="5655177"/>
              <a:chExt cx="933314" cy="261610"/>
            </a:xfrm>
          </p:grpSpPr>
          <p:sp>
            <p:nvSpPr>
              <p:cNvPr id="146" name="사각형: 둥근 모서리 145">
                <a:extLst>
                  <a:ext uri="{FF2B5EF4-FFF2-40B4-BE49-F238E27FC236}">
                    <a16:creationId xmlns:a16="http://schemas.microsoft.com/office/drawing/2014/main" id="{44D15FC8-7342-427B-4F21-584CEDAAC6DC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만두</a:t>
                </a: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610A868C-F3B1-D1F5-E2D5-0026F187087A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A260EBAE-522A-5921-5FB3-58B9EE7F8825}"/>
                </a:ext>
              </a:extLst>
            </p:cNvPr>
            <p:cNvGrpSpPr/>
            <p:nvPr/>
          </p:nvGrpSpPr>
          <p:grpSpPr>
            <a:xfrm>
              <a:off x="3034115" y="5569092"/>
              <a:ext cx="933314" cy="261610"/>
              <a:chOff x="1168701" y="5655177"/>
              <a:chExt cx="933314" cy="261610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39E821BB-77B9-20FA-3176-297DF881DC53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대파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3B50442F-CF9A-2FCE-5010-1C5327C8EDE7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796108A1-A2BE-129F-25CB-C2FD98C0F731}"/>
                </a:ext>
              </a:extLst>
            </p:cNvPr>
            <p:cNvGrpSpPr/>
            <p:nvPr/>
          </p:nvGrpSpPr>
          <p:grpSpPr>
            <a:xfrm>
              <a:off x="4066186" y="5569092"/>
              <a:ext cx="933314" cy="261610"/>
              <a:chOff x="1168701" y="5655177"/>
              <a:chExt cx="933314" cy="261610"/>
            </a:xfrm>
          </p:grpSpPr>
          <p:sp>
            <p:nvSpPr>
              <p:cNvPr id="152" name="사각형: 둥근 모서리 151">
                <a:extLst>
                  <a:ext uri="{FF2B5EF4-FFF2-40B4-BE49-F238E27FC236}">
                    <a16:creationId xmlns:a16="http://schemas.microsoft.com/office/drawing/2014/main" id="{021D7126-D32E-1993-4A3E-F9E63893CBD9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표고버섯</a:t>
                </a: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E20AA869-7214-DA44-5095-ED20F0E1DD39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54" name="그룹 153">
              <a:extLst>
                <a:ext uri="{FF2B5EF4-FFF2-40B4-BE49-F238E27FC236}">
                  <a16:creationId xmlns:a16="http://schemas.microsoft.com/office/drawing/2014/main" id="{05FBCB17-DC21-5724-D9A4-22F7057B15CA}"/>
                </a:ext>
              </a:extLst>
            </p:cNvPr>
            <p:cNvGrpSpPr/>
            <p:nvPr/>
          </p:nvGrpSpPr>
          <p:grpSpPr>
            <a:xfrm>
              <a:off x="5098256" y="5569092"/>
              <a:ext cx="933314" cy="261610"/>
              <a:chOff x="1168701" y="5655177"/>
              <a:chExt cx="933314" cy="261610"/>
            </a:xfrm>
          </p:grpSpPr>
          <p:sp>
            <p:nvSpPr>
              <p:cNvPr id="155" name="사각형: 둥근 모서리 154">
                <a:extLst>
                  <a:ext uri="{FF2B5EF4-FFF2-40B4-BE49-F238E27FC236}">
                    <a16:creationId xmlns:a16="http://schemas.microsoft.com/office/drawing/2014/main" id="{B2C09C17-1038-9FD7-7643-9D594DBEDAD5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떡갈비</a:t>
                </a: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20E62336-600E-63CC-5C51-F96F2AFCC2C2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57" name="그룹 156">
              <a:extLst>
                <a:ext uri="{FF2B5EF4-FFF2-40B4-BE49-F238E27FC236}">
                  <a16:creationId xmlns:a16="http://schemas.microsoft.com/office/drawing/2014/main" id="{26273C32-F94B-D697-5554-F081973D728F}"/>
                </a:ext>
              </a:extLst>
            </p:cNvPr>
            <p:cNvGrpSpPr/>
            <p:nvPr/>
          </p:nvGrpSpPr>
          <p:grpSpPr>
            <a:xfrm>
              <a:off x="969973" y="5898941"/>
              <a:ext cx="933314" cy="261610"/>
              <a:chOff x="1168701" y="5655177"/>
              <a:chExt cx="933314" cy="261610"/>
            </a:xfrm>
          </p:grpSpPr>
          <p:sp>
            <p:nvSpPr>
              <p:cNvPr id="158" name="사각형: 둥근 모서리 157">
                <a:extLst>
                  <a:ext uri="{FF2B5EF4-FFF2-40B4-BE49-F238E27FC236}">
                    <a16:creationId xmlns:a16="http://schemas.microsoft.com/office/drawing/2014/main" id="{E2932DF1-AFC5-AA61-1724-80FC418080E8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청양고추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709C15B0-DA22-DB79-D98F-A409A4604164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2434A8A1-1487-2A3E-5E15-AAE8CFB88010}"/>
                </a:ext>
              </a:extLst>
            </p:cNvPr>
            <p:cNvGrpSpPr/>
            <p:nvPr/>
          </p:nvGrpSpPr>
          <p:grpSpPr>
            <a:xfrm>
              <a:off x="2002044" y="5898941"/>
              <a:ext cx="933314" cy="261610"/>
              <a:chOff x="1168701" y="5655177"/>
              <a:chExt cx="933314" cy="261610"/>
            </a:xfrm>
          </p:grpSpPr>
          <p:sp>
            <p:nvSpPr>
              <p:cNvPr id="161" name="사각형: 둥근 모서리 160">
                <a:extLst>
                  <a:ext uri="{FF2B5EF4-FFF2-40B4-BE49-F238E27FC236}">
                    <a16:creationId xmlns:a16="http://schemas.microsoft.com/office/drawing/2014/main" id="{84093725-0627-16AD-5F40-9FC5B03315BB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고구마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882C9A30-1A80-4721-59A6-ADEAD6E36EB5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grpSp>
        <p:nvGrpSpPr>
          <p:cNvPr id="2068" name="그룹 2067">
            <a:extLst>
              <a:ext uri="{FF2B5EF4-FFF2-40B4-BE49-F238E27FC236}">
                <a16:creationId xmlns:a16="http://schemas.microsoft.com/office/drawing/2014/main" id="{1CD1DE9B-E962-6C71-3C0B-28AA70C9FB35}"/>
              </a:ext>
            </a:extLst>
          </p:cNvPr>
          <p:cNvGrpSpPr/>
          <p:nvPr/>
        </p:nvGrpSpPr>
        <p:grpSpPr>
          <a:xfrm>
            <a:off x="793488" y="7245609"/>
            <a:ext cx="6043659" cy="1292586"/>
            <a:chOff x="793488" y="7226502"/>
            <a:chExt cx="6043659" cy="1292586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500B9386-02E9-1A53-2EDF-3DDF9EDBA9BA}"/>
                </a:ext>
              </a:extLst>
            </p:cNvPr>
            <p:cNvSpPr/>
            <p:nvPr/>
          </p:nvSpPr>
          <p:spPr>
            <a:xfrm>
              <a:off x="793488" y="7226502"/>
              <a:ext cx="6043659" cy="1292586"/>
            </a:xfrm>
            <a:prstGeom prst="roundRect">
              <a:avLst>
                <a:gd name="adj" fmla="val 8334"/>
              </a:avLst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사각형: 둥근 모서리 163">
              <a:extLst>
                <a:ext uri="{FF2B5EF4-FFF2-40B4-BE49-F238E27FC236}">
                  <a16:creationId xmlns:a16="http://schemas.microsoft.com/office/drawing/2014/main" id="{FF7E63E5-7738-7EC7-9572-5CB594663711}"/>
                </a:ext>
              </a:extLst>
            </p:cNvPr>
            <p:cNvSpPr/>
            <p:nvPr/>
          </p:nvSpPr>
          <p:spPr>
            <a:xfrm>
              <a:off x="6540665" y="7429497"/>
              <a:ext cx="139536" cy="43281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5" name="그룹 164">
              <a:extLst>
                <a:ext uri="{FF2B5EF4-FFF2-40B4-BE49-F238E27FC236}">
                  <a16:creationId xmlns:a16="http://schemas.microsoft.com/office/drawing/2014/main" id="{C4402EEE-617C-1987-197E-C5B54CD3C060}"/>
                </a:ext>
              </a:extLst>
            </p:cNvPr>
            <p:cNvGrpSpPr/>
            <p:nvPr/>
          </p:nvGrpSpPr>
          <p:grpSpPr>
            <a:xfrm>
              <a:off x="969973" y="7392552"/>
              <a:ext cx="933314" cy="261610"/>
              <a:chOff x="1168701" y="5655177"/>
              <a:chExt cx="933314" cy="261610"/>
            </a:xfrm>
          </p:grpSpPr>
          <p:sp>
            <p:nvSpPr>
              <p:cNvPr id="166" name="사각형: 둥근 모서리 165">
                <a:extLst>
                  <a:ext uri="{FF2B5EF4-FFF2-40B4-BE49-F238E27FC236}">
                    <a16:creationId xmlns:a16="http://schemas.microsoft.com/office/drawing/2014/main" id="{CB9C4F15-BFF1-3E16-AC23-DDB410D27A3A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계란</a:t>
                </a:r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47B42709-61A5-3538-C22B-7082BA052DA2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68" name="그룹 167">
              <a:extLst>
                <a:ext uri="{FF2B5EF4-FFF2-40B4-BE49-F238E27FC236}">
                  <a16:creationId xmlns:a16="http://schemas.microsoft.com/office/drawing/2014/main" id="{2E275C0A-9445-7603-42CF-6BBEE8B0E77D}"/>
                </a:ext>
              </a:extLst>
            </p:cNvPr>
            <p:cNvGrpSpPr/>
            <p:nvPr/>
          </p:nvGrpSpPr>
          <p:grpSpPr>
            <a:xfrm>
              <a:off x="2002044" y="7392552"/>
              <a:ext cx="933314" cy="261610"/>
              <a:chOff x="1168701" y="5655177"/>
              <a:chExt cx="933314" cy="261610"/>
            </a:xfrm>
          </p:grpSpPr>
          <p:sp>
            <p:nvSpPr>
              <p:cNvPr id="169" name="사각형: 둥근 모서리 168">
                <a:extLst>
                  <a:ext uri="{FF2B5EF4-FFF2-40B4-BE49-F238E27FC236}">
                    <a16:creationId xmlns:a16="http://schemas.microsoft.com/office/drawing/2014/main" id="{46EFA433-9156-F6CB-377E-3DA768065686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두부</a:t>
                </a: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1FEC30CF-30B7-CDB9-5D0E-B270E988456F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71" name="그룹 170">
              <a:extLst>
                <a:ext uri="{FF2B5EF4-FFF2-40B4-BE49-F238E27FC236}">
                  <a16:creationId xmlns:a16="http://schemas.microsoft.com/office/drawing/2014/main" id="{9BFB8F2B-5860-0F3A-B1DA-CEB6D2DCEF9E}"/>
                </a:ext>
              </a:extLst>
            </p:cNvPr>
            <p:cNvGrpSpPr/>
            <p:nvPr/>
          </p:nvGrpSpPr>
          <p:grpSpPr>
            <a:xfrm>
              <a:off x="3034115" y="7392552"/>
              <a:ext cx="933314" cy="261610"/>
              <a:chOff x="1168701" y="5655177"/>
              <a:chExt cx="933314" cy="261610"/>
            </a:xfrm>
          </p:grpSpPr>
          <p:sp>
            <p:nvSpPr>
              <p:cNvPr id="172" name="사각형: 둥근 모서리 171">
                <a:extLst>
                  <a:ext uri="{FF2B5EF4-FFF2-40B4-BE49-F238E27FC236}">
                    <a16:creationId xmlns:a16="http://schemas.microsoft.com/office/drawing/2014/main" id="{B4F039AC-2D18-C477-FB83-C1F96F2CFBF7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쌈장</a:t>
                </a: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E939E602-AE1B-A51A-04C9-C608F9AFB64A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74" name="그룹 173">
              <a:extLst>
                <a:ext uri="{FF2B5EF4-FFF2-40B4-BE49-F238E27FC236}">
                  <a16:creationId xmlns:a16="http://schemas.microsoft.com/office/drawing/2014/main" id="{19F5B3F5-847B-9C2F-34E7-4323AFBC936F}"/>
                </a:ext>
              </a:extLst>
            </p:cNvPr>
            <p:cNvGrpSpPr/>
            <p:nvPr/>
          </p:nvGrpSpPr>
          <p:grpSpPr>
            <a:xfrm>
              <a:off x="4066186" y="7392552"/>
              <a:ext cx="933314" cy="261610"/>
              <a:chOff x="1168701" y="5655177"/>
              <a:chExt cx="933314" cy="261610"/>
            </a:xfrm>
          </p:grpSpPr>
          <p:sp>
            <p:nvSpPr>
              <p:cNvPr id="175" name="사각형: 둥근 모서리 174">
                <a:extLst>
                  <a:ext uri="{FF2B5EF4-FFF2-40B4-BE49-F238E27FC236}">
                    <a16:creationId xmlns:a16="http://schemas.microsoft.com/office/drawing/2014/main" id="{7A392B2E-BF16-D981-75F2-C53B22AB2506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우유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21DF2F3B-C67E-4F47-F7AD-AFC21A680079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3E26C351-C3D0-FB80-7127-AE6193174958}"/>
                </a:ext>
              </a:extLst>
            </p:cNvPr>
            <p:cNvGrpSpPr/>
            <p:nvPr/>
          </p:nvGrpSpPr>
          <p:grpSpPr>
            <a:xfrm>
              <a:off x="5098256" y="7392552"/>
              <a:ext cx="933314" cy="261610"/>
              <a:chOff x="1168701" y="5655177"/>
              <a:chExt cx="933314" cy="261610"/>
            </a:xfrm>
          </p:grpSpPr>
          <p:sp>
            <p:nvSpPr>
              <p:cNvPr id="178" name="사각형: 둥근 모서리 177">
                <a:extLst>
                  <a:ext uri="{FF2B5EF4-FFF2-40B4-BE49-F238E27FC236}">
                    <a16:creationId xmlns:a16="http://schemas.microsoft.com/office/drawing/2014/main" id="{C03962D1-2455-44D9-3EB3-8DFC96AA5EC9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파스타면</a:t>
                </a:r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BA01A555-8AAF-4ECC-0214-48EA5C0644F3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4968159C-1026-976C-C5CF-D0BAD55B6DF4}"/>
                </a:ext>
              </a:extLst>
            </p:cNvPr>
            <p:cNvGrpSpPr/>
            <p:nvPr/>
          </p:nvGrpSpPr>
          <p:grpSpPr>
            <a:xfrm>
              <a:off x="969973" y="7722401"/>
              <a:ext cx="933314" cy="261610"/>
              <a:chOff x="1168701" y="5655177"/>
              <a:chExt cx="933314" cy="261610"/>
            </a:xfrm>
          </p:grpSpPr>
          <p:sp>
            <p:nvSpPr>
              <p:cNvPr id="181" name="사각형: 둥근 모서리 180">
                <a:extLst>
                  <a:ext uri="{FF2B5EF4-FFF2-40B4-BE49-F238E27FC236}">
                    <a16:creationId xmlns:a16="http://schemas.microsoft.com/office/drawing/2014/main" id="{25FBD137-5E36-FDAB-E072-FC9BB58B316E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두부면</a:t>
                </a:r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25852725-3499-8B95-CFE5-71C4D5978C2C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13F4C3A6-D0BC-3434-0A7C-8E2B7FB65746}"/>
                </a:ext>
              </a:extLst>
            </p:cNvPr>
            <p:cNvSpPr txBox="1"/>
            <p:nvPr/>
          </p:nvSpPr>
          <p:spPr>
            <a:xfrm>
              <a:off x="2723624" y="7722401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2066" name="그룹 2065">
            <a:extLst>
              <a:ext uri="{FF2B5EF4-FFF2-40B4-BE49-F238E27FC236}">
                <a16:creationId xmlns:a16="http://schemas.microsoft.com/office/drawing/2014/main" id="{9B162813-14F0-EBB1-A0E8-3453C2EBC84D}"/>
              </a:ext>
            </a:extLst>
          </p:cNvPr>
          <p:cNvGrpSpPr/>
          <p:nvPr/>
        </p:nvGrpSpPr>
        <p:grpSpPr>
          <a:xfrm>
            <a:off x="787903" y="9088176"/>
            <a:ext cx="6043659" cy="1292586"/>
            <a:chOff x="787903" y="9088176"/>
            <a:chExt cx="6043659" cy="1292586"/>
          </a:xfrm>
        </p:grpSpPr>
        <p:sp>
          <p:nvSpPr>
            <p:cNvPr id="186" name="사각형: 둥근 모서리 185">
              <a:extLst>
                <a:ext uri="{FF2B5EF4-FFF2-40B4-BE49-F238E27FC236}">
                  <a16:creationId xmlns:a16="http://schemas.microsoft.com/office/drawing/2014/main" id="{DF69C9A3-BF72-7F9C-EBA0-F19E74117DC9}"/>
                </a:ext>
              </a:extLst>
            </p:cNvPr>
            <p:cNvSpPr/>
            <p:nvPr/>
          </p:nvSpPr>
          <p:spPr>
            <a:xfrm>
              <a:off x="787903" y="9088176"/>
              <a:ext cx="6043659" cy="1292586"/>
            </a:xfrm>
            <a:prstGeom prst="roundRect">
              <a:avLst>
                <a:gd name="adj" fmla="val 8334"/>
              </a:avLst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사각형: 둥근 모서리 186">
              <a:extLst>
                <a:ext uri="{FF2B5EF4-FFF2-40B4-BE49-F238E27FC236}">
                  <a16:creationId xmlns:a16="http://schemas.microsoft.com/office/drawing/2014/main" id="{667F2D45-FBC5-86F7-3CF9-25614DE6AED5}"/>
                </a:ext>
              </a:extLst>
            </p:cNvPr>
            <p:cNvSpPr/>
            <p:nvPr/>
          </p:nvSpPr>
          <p:spPr>
            <a:xfrm>
              <a:off x="6535080" y="9291171"/>
              <a:ext cx="139536" cy="43281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8" name="그룹 187">
              <a:extLst>
                <a:ext uri="{FF2B5EF4-FFF2-40B4-BE49-F238E27FC236}">
                  <a16:creationId xmlns:a16="http://schemas.microsoft.com/office/drawing/2014/main" id="{2C11F6FF-463D-294C-F68F-164C2A6C197D}"/>
                </a:ext>
              </a:extLst>
            </p:cNvPr>
            <p:cNvGrpSpPr/>
            <p:nvPr/>
          </p:nvGrpSpPr>
          <p:grpSpPr>
            <a:xfrm>
              <a:off x="964388" y="9254226"/>
              <a:ext cx="933314" cy="261610"/>
              <a:chOff x="1168701" y="5655177"/>
              <a:chExt cx="933314" cy="261610"/>
            </a:xfrm>
          </p:grpSpPr>
          <p:sp>
            <p:nvSpPr>
              <p:cNvPr id="189" name="사각형: 둥근 모서리 188">
                <a:extLst>
                  <a:ext uri="{FF2B5EF4-FFF2-40B4-BE49-F238E27FC236}">
                    <a16:creationId xmlns:a16="http://schemas.microsoft.com/office/drawing/2014/main" id="{3D3D76BD-C967-9701-049B-2D6B18D8677C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아몬드</a:t>
                </a:r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FA464670-9AEA-288D-E453-E0DFBCA76CC7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91" name="그룹 190">
              <a:extLst>
                <a:ext uri="{FF2B5EF4-FFF2-40B4-BE49-F238E27FC236}">
                  <a16:creationId xmlns:a16="http://schemas.microsoft.com/office/drawing/2014/main" id="{EF0E72AE-199A-AF5A-856C-739AC77F4A04}"/>
                </a:ext>
              </a:extLst>
            </p:cNvPr>
            <p:cNvGrpSpPr/>
            <p:nvPr/>
          </p:nvGrpSpPr>
          <p:grpSpPr>
            <a:xfrm>
              <a:off x="1996459" y="9254226"/>
              <a:ext cx="933314" cy="261610"/>
              <a:chOff x="1168701" y="5655177"/>
              <a:chExt cx="933314" cy="261610"/>
            </a:xfrm>
          </p:grpSpPr>
          <p:sp>
            <p:nvSpPr>
              <p:cNvPr id="2048" name="사각형: 둥근 모서리 2047">
                <a:extLst>
                  <a:ext uri="{FF2B5EF4-FFF2-40B4-BE49-F238E27FC236}">
                    <a16:creationId xmlns:a16="http://schemas.microsoft.com/office/drawing/2014/main" id="{5F0E019E-236A-2F82-DD24-2ACB6B3F9F5D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양파</a:t>
                </a:r>
              </a:p>
            </p:txBody>
          </p:sp>
          <p:sp>
            <p:nvSpPr>
              <p:cNvPr id="2049" name="TextBox 2048">
                <a:extLst>
                  <a:ext uri="{FF2B5EF4-FFF2-40B4-BE49-F238E27FC236}">
                    <a16:creationId xmlns:a16="http://schemas.microsoft.com/office/drawing/2014/main" id="{49082398-2155-4915-BD45-ECED783D5570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sp>
          <p:nvSpPr>
            <p:cNvPr id="2053" name="TextBox 2052">
              <a:extLst>
                <a:ext uri="{FF2B5EF4-FFF2-40B4-BE49-F238E27FC236}">
                  <a16:creationId xmlns:a16="http://schemas.microsoft.com/office/drawing/2014/main" id="{8316C947-1AC3-DF49-1827-CB728D3D0993}"/>
                </a:ext>
              </a:extLst>
            </p:cNvPr>
            <p:cNvSpPr txBox="1"/>
            <p:nvPr/>
          </p:nvSpPr>
          <p:spPr>
            <a:xfrm>
              <a:off x="3750110" y="9254226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056" name="TextBox 2055">
              <a:extLst>
                <a:ext uri="{FF2B5EF4-FFF2-40B4-BE49-F238E27FC236}">
                  <a16:creationId xmlns:a16="http://schemas.microsoft.com/office/drawing/2014/main" id="{9B8BB1A2-7009-BB38-34F3-EAF529BF1B16}"/>
                </a:ext>
              </a:extLst>
            </p:cNvPr>
            <p:cNvSpPr txBox="1"/>
            <p:nvPr/>
          </p:nvSpPr>
          <p:spPr>
            <a:xfrm>
              <a:off x="4782181" y="9254226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059" name="TextBox 2058">
              <a:extLst>
                <a:ext uri="{FF2B5EF4-FFF2-40B4-BE49-F238E27FC236}">
                  <a16:creationId xmlns:a16="http://schemas.microsoft.com/office/drawing/2014/main" id="{824EF478-27E1-7D59-CAD4-EEF22CB3F5C1}"/>
                </a:ext>
              </a:extLst>
            </p:cNvPr>
            <p:cNvSpPr txBox="1"/>
            <p:nvPr/>
          </p:nvSpPr>
          <p:spPr>
            <a:xfrm>
              <a:off x="5814251" y="9254226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062" name="TextBox 2061">
              <a:extLst>
                <a:ext uri="{FF2B5EF4-FFF2-40B4-BE49-F238E27FC236}">
                  <a16:creationId xmlns:a16="http://schemas.microsoft.com/office/drawing/2014/main" id="{A0B8A0BC-6BDB-DECB-761F-D143CC6DC721}"/>
                </a:ext>
              </a:extLst>
            </p:cNvPr>
            <p:cNvSpPr txBox="1"/>
            <p:nvPr/>
          </p:nvSpPr>
          <p:spPr>
            <a:xfrm>
              <a:off x="1685968" y="9584075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cxnSp>
        <p:nvCxnSpPr>
          <p:cNvPr id="2071" name="직선 연결선 2070">
            <a:extLst>
              <a:ext uri="{FF2B5EF4-FFF2-40B4-BE49-F238E27FC236}">
                <a16:creationId xmlns:a16="http://schemas.microsoft.com/office/drawing/2014/main" id="{73693D18-E750-843A-39C9-8C55B090AC36}"/>
              </a:ext>
            </a:extLst>
          </p:cNvPr>
          <p:cNvCxnSpPr>
            <a:cxnSpLocks/>
          </p:cNvCxnSpPr>
          <p:nvPr/>
        </p:nvCxnSpPr>
        <p:spPr>
          <a:xfrm>
            <a:off x="381000" y="4965700"/>
            <a:ext cx="6450562" cy="0"/>
          </a:xfrm>
          <a:prstGeom prst="line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73" name="사각형: 둥근 모서리 2072">
            <a:extLst>
              <a:ext uri="{FF2B5EF4-FFF2-40B4-BE49-F238E27FC236}">
                <a16:creationId xmlns:a16="http://schemas.microsoft.com/office/drawing/2014/main" id="{3EC899E7-1929-A55D-3947-A42E96866DFB}"/>
              </a:ext>
            </a:extLst>
          </p:cNvPr>
          <p:cNvSpPr/>
          <p:nvPr/>
        </p:nvSpPr>
        <p:spPr>
          <a:xfrm>
            <a:off x="682423" y="10900454"/>
            <a:ext cx="6087321" cy="2805297"/>
          </a:xfrm>
          <a:prstGeom prst="roundRect">
            <a:avLst>
              <a:gd name="adj" fmla="val 8518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추후 광고 추가 할 자리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&gt;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6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indent="0" algn="ctr">
              <a:buNone/>
            </a:pP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새로 </a:t>
            </a:r>
            <a:r>
              <a:rPr lang="ko-KR" altLang="en-US" sz="16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사야하는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는 </a:t>
            </a:r>
            <a:r>
              <a:rPr lang="ko-KR" altLang="en-US" sz="16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쿠팡이나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6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마켓컬리로</a:t>
            </a:r>
            <a:endParaRPr lang="en-US" altLang="ko-KR" sz="16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indent="0" algn="ctr">
              <a:buNone/>
            </a:pP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바로 이동 가능하게 하여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광고 삽입하기</a:t>
            </a:r>
          </a:p>
        </p:txBody>
      </p:sp>
    </p:spTree>
    <p:extLst>
      <p:ext uri="{BB962C8B-B14F-4D97-AF65-F5344CB8AC3E}">
        <p14:creationId xmlns:p14="http://schemas.microsoft.com/office/powerpoint/2010/main" val="3346362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07259-AEFE-4E90-C25E-8E573AC37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>
            <a:extLst>
              <a:ext uri="{FF2B5EF4-FFF2-40B4-BE49-F238E27FC236}">
                <a16:creationId xmlns:a16="http://schemas.microsoft.com/office/drawing/2014/main" id="{08256903-24BE-3126-E5D4-911BD257F9B2}"/>
              </a:ext>
            </a:extLst>
          </p:cNvPr>
          <p:cNvSpPr/>
          <p:nvPr/>
        </p:nvSpPr>
        <p:spPr>
          <a:xfrm>
            <a:off x="-11741" y="14382044"/>
            <a:ext cx="7211054" cy="109766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643600-458E-B9B8-7D63-3085D3FD124F}"/>
              </a:ext>
            </a:extLst>
          </p:cNvPr>
          <p:cNvSpPr txBox="1"/>
          <p:nvPr/>
        </p:nvSpPr>
        <p:spPr>
          <a:xfrm>
            <a:off x="-11741" y="16572249"/>
            <a:ext cx="7199313" cy="693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ⓐ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재료 상세 정보 입력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팝업창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냉동고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냉장고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실온보관 모두 재료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입력시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동일 로직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)</a:t>
            </a: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재료를 입력하고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엔터를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치는 순간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팝업창이 뜨며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재료에 유통기한이 있어요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’,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재료에 유통기한은 따로 없어요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‘,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입력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안할래요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라는 걸 선택할 수 있도록 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AC792E2-19F6-C602-0757-E33208C4C41E}"/>
              </a:ext>
            </a:extLst>
          </p:cNvPr>
          <p:cNvSpPr txBox="1"/>
          <p:nvPr/>
        </p:nvSpPr>
        <p:spPr>
          <a:xfrm>
            <a:off x="2" y="15880383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2267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16A1CAD6-69A9-7FE3-A5B1-89D4ADF061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744" y="14658116"/>
            <a:ext cx="555464" cy="346419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C9A9BBB0-D8C0-6F8E-E718-C7C37AAA1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587" y="14579721"/>
            <a:ext cx="449449" cy="50320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5E4545DC-00C4-F87C-D6BC-BBB9346B3B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441" y="14594658"/>
            <a:ext cx="430038" cy="473339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05C3B548-A6A6-0562-FC92-7A43E6FBBAC5}"/>
              </a:ext>
            </a:extLst>
          </p:cNvPr>
          <p:cNvSpPr txBox="1"/>
          <p:nvPr/>
        </p:nvSpPr>
        <p:spPr>
          <a:xfrm>
            <a:off x="102413" y="15163112"/>
            <a:ext cx="195903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36A9C8D-592C-CCAA-A700-90950BDA8970}"/>
              </a:ext>
            </a:extLst>
          </p:cNvPr>
          <p:cNvSpPr txBox="1"/>
          <p:nvPr/>
        </p:nvSpPr>
        <p:spPr>
          <a:xfrm>
            <a:off x="1733775" y="15163112"/>
            <a:ext cx="220340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24814A8-32BB-3E0F-2D00-207D80105E03}"/>
              </a:ext>
            </a:extLst>
          </p:cNvPr>
          <p:cNvSpPr txBox="1"/>
          <p:nvPr/>
        </p:nvSpPr>
        <p:spPr>
          <a:xfrm>
            <a:off x="5713176" y="15163112"/>
            <a:ext cx="105656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07177AF-0F7E-A0F6-9070-AFC34404DFDC}"/>
              </a:ext>
            </a:extLst>
          </p:cNvPr>
          <p:cNvSpPr txBox="1"/>
          <p:nvPr/>
        </p:nvSpPr>
        <p:spPr>
          <a:xfrm>
            <a:off x="3711516" y="15163112"/>
            <a:ext cx="163959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FD9382CC-1A52-CA91-D20A-36BA16F447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14" y="14567779"/>
            <a:ext cx="298637" cy="527094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B80905B5-4967-B3EC-1DE7-BE847EE3E687}"/>
              </a:ext>
            </a:extLst>
          </p:cNvPr>
          <p:cNvSpPr txBox="1"/>
          <p:nvPr/>
        </p:nvSpPr>
        <p:spPr>
          <a:xfrm>
            <a:off x="1168701" y="16103985"/>
            <a:ext cx="518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ko-KR" altLang="en-US" sz="2267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3A281F5-AC72-B32D-3396-2AD19181FC30}"/>
              </a:ext>
            </a:extLst>
          </p:cNvPr>
          <p:cNvSpPr txBox="1"/>
          <p:nvPr/>
        </p:nvSpPr>
        <p:spPr>
          <a:xfrm>
            <a:off x="381000" y="4662540"/>
            <a:ext cx="266654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재료 관리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BACCB14-E3CD-7F8A-AA3D-7322D05F77D3}"/>
              </a:ext>
            </a:extLst>
          </p:cNvPr>
          <p:cNvSpPr txBox="1"/>
          <p:nvPr/>
        </p:nvSpPr>
        <p:spPr>
          <a:xfrm>
            <a:off x="630070" y="5037669"/>
            <a:ext cx="34319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냉동보관</a:t>
            </a:r>
            <a:r>
              <a:rPr lang="en-US" altLang="ko-KR" sz="15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🧊</a:t>
            </a:r>
            <a:endParaRPr lang="ko-KR" altLang="en-US" sz="15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F5A1B2E-B927-0109-FCC5-5F9B62A8C103}"/>
              </a:ext>
            </a:extLst>
          </p:cNvPr>
          <p:cNvSpPr txBox="1"/>
          <p:nvPr/>
        </p:nvSpPr>
        <p:spPr>
          <a:xfrm>
            <a:off x="630070" y="6861247"/>
            <a:ext cx="34319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냉장보관</a:t>
            </a:r>
            <a:r>
              <a:rPr lang="en-US" altLang="ko-KR" sz="15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❄️</a:t>
            </a:r>
            <a:endParaRPr lang="ko-KR" altLang="en-US" sz="15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8DF2A49-15EE-D539-06FA-D2D07F5977F5}"/>
              </a:ext>
            </a:extLst>
          </p:cNvPr>
          <p:cNvSpPr txBox="1"/>
          <p:nvPr/>
        </p:nvSpPr>
        <p:spPr>
          <a:xfrm>
            <a:off x="630070" y="8684824"/>
            <a:ext cx="34319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실온보관</a:t>
            </a:r>
            <a:r>
              <a:rPr lang="en-US" altLang="ko-KR" sz="1500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🌡️</a:t>
            </a:r>
          </a:p>
        </p:txBody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8ECED698-C330-93BF-7DDE-1751107943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230" y="722289"/>
            <a:ext cx="324772" cy="333416"/>
          </a:xfrm>
          <a:prstGeom prst="rect">
            <a:avLst/>
          </a:prstGeom>
        </p:spPr>
      </p:pic>
      <p:pic>
        <p:nvPicPr>
          <p:cNvPr id="122" name="그림 121">
            <a:extLst>
              <a:ext uri="{FF2B5EF4-FFF2-40B4-BE49-F238E27FC236}">
                <a16:creationId xmlns:a16="http://schemas.microsoft.com/office/drawing/2014/main" id="{1AB40C9F-1CC5-1AAA-7214-16A6B90A90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81" y="705298"/>
            <a:ext cx="1006249" cy="367398"/>
          </a:xfrm>
          <a:prstGeom prst="rect">
            <a:avLst/>
          </a:prstGeom>
        </p:spPr>
      </p:pic>
      <p:sp>
        <p:nvSpPr>
          <p:cNvPr id="123" name="TextBox 122">
            <a:extLst>
              <a:ext uri="{FF2B5EF4-FFF2-40B4-BE49-F238E27FC236}">
                <a16:creationId xmlns:a16="http://schemas.microsoft.com/office/drawing/2014/main" id="{EA7D89E7-2FB4-4A7E-7B5D-2F0BFB4B8612}"/>
              </a:ext>
            </a:extLst>
          </p:cNvPr>
          <p:cNvSpPr txBox="1"/>
          <p:nvPr/>
        </p:nvSpPr>
        <p:spPr>
          <a:xfrm>
            <a:off x="2254643" y="2412867"/>
            <a:ext cx="2666544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재료 추가</a:t>
            </a: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F52690FD-D169-A762-C2DE-05183E4978AE}"/>
              </a:ext>
            </a:extLst>
          </p:cNvPr>
          <p:cNvSpPr/>
          <p:nvPr/>
        </p:nvSpPr>
        <p:spPr>
          <a:xfrm>
            <a:off x="1727805" y="2936959"/>
            <a:ext cx="3720496" cy="310174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743EFF0-459F-F854-E6BA-18E8DA70A826}"/>
              </a:ext>
            </a:extLst>
          </p:cNvPr>
          <p:cNvSpPr txBox="1"/>
          <p:nvPr/>
        </p:nvSpPr>
        <p:spPr>
          <a:xfrm>
            <a:off x="1775013" y="2968334"/>
            <a:ext cx="2981023" cy="24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추가 할 재료들을 입력해주세요</a:t>
            </a:r>
          </a:p>
        </p:txBody>
      </p:sp>
      <p:grpSp>
        <p:nvGrpSpPr>
          <p:cNvPr id="2069" name="그룹 2068">
            <a:extLst>
              <a:ext uri="{FF2B5EF4-FFF2-40B4-BE49-F238E27FC236}">
                <a16:creationId xmlns:a16="http://schemas.microsoft.com/office/drawing/2014/main" id="{5FDD67FD-CB29-3D38-E507-BE1DAEB2DA86}"/>
              </a:ext>
            </a:extLst>
          </p:cNvPr>
          <p:cNvGrpSpPr/>
          <p:nvPr/>
        </p:nvGrpSpPr>
        <p:grpSpPr>
          <a:xfrm>
            <a:off x="793488" y="5403042"/>
            <a:ext cx="6043659" cy="1292586"/>
            <a:chOff x="793488" y="5403042"/>
            <a:chExt cx="6043659" cy="1292586"/>
          </a:xfrm>
        </p:grpSpPr>
        <p:sp>
          <p:nvSpPr>
            <p:cNvPr id="101" name="사각형: 둥근 모서리 100">
              <a:extLst>
                <a:ext uri="{FF2B5EF4-FFF2-40B4-BE49-F238E27FC236}">
                  <a16:creationId xmlns:a16="http://schemas.microsoft.com/office/drawing/2014/main" id="{4A04B631-7FE5-7EB6-CFFC-BC9DBCCD84DC}"/>
                </a:ext>
              </a:extLst>
            </p:cNvPr>
            <p:cNvSpPr/>
            <p:nvPr/>
          </p:nvSpPr>
          <p:spPr>
            <a:xfrm>
              <a:off x="793488" y="5403042"/>
              <a:ext cx="6043659" cy="1292586"/>
            </a:xfrm>
            <a:prstGeom prst="roundRect">
              <a:avLst>
                <a:gd name="adj" fmla="val 8334"/>
              </a:avLst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사각형: 둥근 모서리 125">
              <a:extLst>
                <a:ext uri="{FF2B5EF4-FFF2-40B4-BE49-F238E27FC236}">
                  <a16:creationId xmlns:a16="http://schemas.microsoft.com/office/drawing/2014/main" id="{2066D5CA-16FF-D532-6A7B-E7EAC5F0E053}"/>
                </a:ext>
              </a:extLst>
            </p:cNvPr>
            <p:cNvSpPr/>
            <p:nvPr/>
          </p:nvSpPr>
          <p:spPr>
            <a:xfrm>
              <a:off x="6540665" y="5606037"/>
              <a:ext cx="139536" cy="43281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4" name="그룹 143">
              <a:extLst>
                <a:ext uri="{FF2B5EF4-FFF2-40B4-BE49-F238E27FC236}">
                  <a16:creationId xmlns:a16="http://schemas.microsoft.com/office/drawing/2014/main" id="{2B55DC36-0A5C-A46D-7681-B35F2C2A9469}"/>
                </a:ext>
              </a:extLst>
            </p:cNvPr>
            <p:cNvGrpSpPr/>
            <p:nvPr/>
          </p:nvGrpSpPr>
          <p:grpSpPr>
            <a:xfrm>
              <a:off x="969973" y="5569092"/>
              <a:ext cx="933314" cy="261610"/>
              <a:chOff x="1168701" y="5655177"/>
              <a:chExt cx="933314" cy="261610"/>
            </a:xfrm>
          </p:grpSpPr>
          <p:sp>
            <p:nvSpPr>
              <p:cNvPr id="127" name="사각형: 둥근 모서리 126">
                <a:extLst>
                  <a:ext uri="{FF2B5EF4-FFF2-40B4-BE49-F238E27FC236}">
                    <a16:creationId xmlns:a16="http://schemas.microsoft.com/office/drawing/2014/main" id="{996CB3C1-0AB2-A9AF-2C6F-DD3DB74C5262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청양고추</a:t>
                </a: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095ECAF5-50E8-BDC1-6DE2-D83840CF960A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80A72F45-2765-C1C7-8626-F740CF5B9D8C}"/>
                </a:ext>
              </a:extLst>
            </p:cNvPr>
            <p:cNvGrpSpPr/>
            <p:nvPr/>
          </p:nvGrpSpPr>
          <p:grpSpPr>
            <a:xfrm>
              <a:off x="2002044" y="5569092"/>
              <a:ext cx="933314" cy="261610"/>
              <a:chOff x="1168701" y="5655177"/>
              <a:chExt cx="933314" cy="261610"/>
            </a:xfrm>
          </p:grpSpPr>
          <p:sp>
            <p:nvSpPr>
              <p:cNvPr id="146" name="사각형: 둥근 모서리 145">
                <a:extLst>
                  <a:ext uri="{FF2B5EF4-FFF2-40B4-BE49-F238E27FC236}">
                    <a16:creationId xmlns:a16="http://schemas.microsoft.com/office/drawing/2014/main" id="{4922BA95-7A3E-B10B-04B8-B0256F34D338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만두</a:t>
                </a: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BFE8E134-5AB5-3BAC-0FC4-B0C188B9402D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97CD3181-5316-87AB-1D6B-F06909B98C90}"/>
                </a:ext>
              </a:extLst>
            </p:cNvPr>
            <p:cNvGrpSpPr/>
            <p:nvPr/>
          </p:nvGrpSpPr>
          <p:grpSpPr>
            <a:xfrm>
              <a:off x="3034115" y="5569092"/>
              <a:ext cx="933314" cy="261610"/>
              <a:chOff x="1168701" y="5655177"/>
              <a:chExt cx="933314" cy="261610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51411D47-31B3-CA66-65F2-87CECE9572FC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대파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EF3E8173-C562-CC33-1A40-6FB5396BD0D2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C6D0D085-24AE-C9E4-16E0-89DFAE1092D4}"/>
                </a:ext>
              </a:extLst>
            </p:cNvPr>
            <p:cNvGrpSpPr/>
            <p:nvPr/>
          </p:nvGrpSpPr>
          <p:grpSpPr>
            <a:xfrm>
              <a:off x="4066186" y="5569092"/>
              <a:ext cx="933314" cy="261610"/>
              <a:chOff x="1168701" y="5655177"/>
              <a:chExt cx="933314" cy="261610"/>
            </a:xfrm>
          </p:grpSpPr>
          <p:sp>
            <p:nvSpPr>
              <p:cNvPr id="152" name="사각형: 둥근 모서리 151">
                <a:extLst>
                  <a:ext uri="{FF2B5EF4-FFF2-40B4-BE49-F238E27FC236}">
                    <a16:creationId xmlns:a16="http://schemas.microsoft.com/office/drawing/2014/main" id="{3BBD62F3-C480-0E9B-5B8F-00247A68FE09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표고버섯</a:t>
                </a: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45B2C1D6-3D84-6DC0-EE4E-96FEB4A212B5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54" name="그룹 153">
              <a:extLst>
                <a:ext uri="{FF2B5EF4-FFF2-40B4-BE49-F238E27FC236}">
                  <a16:creationId xmlns:a16="http://schemas.microsoft.com/office/drawing/2014/main" id="{E526FA1F-927B-1558-D2DD-2D8F4E37170A}"/>
                </a:ext>
              </a:extLst>
            </p:cNvPr>
            <p:cNvGrpSpPr/>
            <p:nvPr/>
          </p:nvGrpSpPr>
          <p:grpSpPr>
            <a:xfrm>
              <a:off x="5098256" y="5569092"/>
              <a:ext cx="933314" cy="261610"/>
              <a:chOff x="1168701" y="5655177"/>
              <a:chExt cx="933314" cy="261610"/>
            </a:xfrm>
          </p:grpSpPr>
          <p:sp>
            <p:nvSpPr>
              <p:cNvPr id="155" name="사각형: 둥근 모서리 154">
                <a:extLst>
                  <a:ext uri="{FF2B5EF4-FFF2-40B4-BE49-F238E27FC236}">
                    <a16:creationId xmlns:a16="http://schemas.microsoft.com/office/drawing/2014/main" id="{24AABB9C-B616-A990-4A95-2FE9FC918E2E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떡갈비</a:t>
                </a: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2B602FE0-5654-8C9D-3D68-05430484C68D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57" name="그룹 156">
              <a:extLst>
                <a:ext uri="{FF2B5EF4-FFF2-40B4-BE49-F238E27FC236}">
                  <a16:creationId xmlns:a16="http://schemas.microsoft.com/office/drawing/2014/main" id="{4BA3BDD5-8965-5ED9-AC13-7C7A3196A666}"/>
                </a:ext>
              </a:extLst>
            </p:cNvPr>
            <p:cNvGrpSpPr/>
            <p:nvPr/>
          </p:nvGrpSpPr>
          <p:grpSpPr>
            <a:xfrm>
              <a:off x="969973" y="5898941"/>
              <a:ext cx="933314" cy="261610"/>
              <a:chOff x="1168701" y="5655177"/>
              <a:chExt cx="933314" cy="261610"/>
            </a:xfrm>
          </p:grpSpPr>
          <p:sp>
            <p:nvSpPr>
              <p:cNvPr id="158" name="사각형: 둥근 모서리 157">
                <a:extLst>
                  <a:ext uri="{FF2B5EF4-FFF2-40B4-BE49-F238E27FC236}">
                    <a16:creationId xmlns:a16="http://schemas.microsoft.com/office/drawing/2014/main" id="{43C821E5-AA95-C1EF-697A-630A3E7C0073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청양고추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1B65B36D-07C6-2ADC-F38E-903A432D23E3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28D0F2E6-A005-5A98-2912-C2AA11298C69}"/>
                </a:ext>
              </a:extLst>
            </p:cNvPr>
            <p:cNvGrpSpPr/>
            <p:nvPr/>
          </p:nvGrpSpPr>
          <p:grpSpPr>
            <a:xfrm>
              <a:off x="2002044" y="5898941"/>
              <a:ext cx="933314" cy="261610"/>
              <a:chOff x="1168701" y="5655177"/>
              <a:chExt cx="933314" cy="261610"/>
            </a:xfrm>
          </p:grpSpPr>
          <p:sp>
            <p:nvSpPr>
              <p:cNvPr id="161" name="사각형: 둥근 모서리 160">
                <a:extLst>
                  <a:ext uri="{FF2B5EF4-FFF2-40B4-BE49-F238E27FC236}">
                    <a16:creationId xmlns:a16="http://schemas.microsoft.com/office/drawing/2014/main" id="{47C088F0-B86C-7091-E4AD-C95F3F043BC6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고구마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A240383F-AAB5-B12C-AEB3-DA8CD0E49388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grpSp>
        <p:nvGrpSpPr>
          <p:cNvPr id="2068" name="그룹 2067">
            <a:extLst>
              <a:ext uri="{FF2B5EF4-FFF2-40B4-BE49-F238E27FC236}">
                <a16:creationId xmlns:a16="http://schemas.microsoft.com/office/drawing/2014/main" id="{DD17B958-DF5D-9499-D10F-BF1672360867}"/>
              </a:ext>
            </a:extLst>
          </p:cNvPr>
          <p:cNvGrpSpPr/>
          <p:nvPr/>
        </p:nvGrpSpPr>
        <p:grpSpPr>
          <a:xfrm>
            <a:off x="793488" y="7245609"/>
            <a:ext cx="6043659" cy="1292586"/>
            <a:chOff x="793488" y="7226502"/>
            <a:chExt cx="6043659" cy="1292586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E008B03B-A730-7C24-BA72-AE55B4D36602}"/>
                </a:ext>
              </a:extLst>
            </p:cNvPr>
            <p:cNvSpPr/>
            <p:nvPr/>
          </p:nvSpPr>
          <p:spPr>
            <a:xfrm>
              <a:off x="793488" y="7226502"/>
              <a:ext cx="6043659" cy="1292586"/>
            </a:xfrm>
            <a:prstGeom prst="roundRect">
              <a:avLst>
                <a:gd name="adj" fmla="val 8334"/>
              </a:avLst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사각형: 둥근 모서리 163">
              <a:extLst>
                <a:ext uri="{FF2B5EF4-FFF2-40B4-BE49-F238E27FC236}">
                  <a16:creationId xmlns:a16="http://schemas.microsoft.com/office/drawing/2014/main" id="{7E15DA89-B331-F13E-A938-14B90254839A}"/>
                </a:ext>
              </a:extLst>
            </p:cNvPr>
            <p:cNvSpPr/>
            <p:nvPr/>
          </p:nvSpPr>
          <p:spPr>
            <a:xfrm>
              <a:off x="6540665" y="7429497"/>
              <a:ext cx="139536" cy="43281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5" name="그룹 164">
              <a:extLst>
                <a:ext uri="{FF2B5EF4-FFF2-40B4-BE49-F238E27FC236}">
                  <a16:creationId xmlns:a16="http://schemas.microsoft.com/office/drawing/2014/main" id="{DC18E712-7BDE-B0B6-E413-99B6340DC88E}"/>
                </a:ext>
              </a:extLst>
            </p:cNvPr>
            <p:cNvGrpSpPr/>
            <p:nvPr/>
          </p:nvGrpSpPr>
          <p:grpSpPr>
            <a:xfrm>
              <a:off x="969973" y="7392552"/>
              <a:ext cx="933314" cy="261610"/>
              <a:chOff x="1168701" y="5655177"/>
              <a:chExt cx="933314" cy="261610"/>
            </a:xfrm>
          </p:grpSpPr>
          <p:sp>
            <p:nvSpPr>
              <p:cNvPr id="166" name="사각형: 둥근 모서리 165">
                <a:extLst>
                  <a:ext uri="{FF2B5EF4-FFF2-40B4-BE49-F238E27FC236}">
                    <a16:creationId xmlns:a16="http://schemas.microsoft.com/office/drawing/2014/main" id="{DF7668D7-1980-57FD-9851-88AA79EED436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계란</a:t>
                </a:r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52BAFA45-6806-79CA-2D69-E99825573B22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68" name="그룹 167">
              <a:extLst>
                <a:ext uri="{FF2B5EF4-FFF2-40B4-BE49-F238E27FC236}">
                  <a16:creationId xmlns:a16="http://schemas.microsoft.com/office/drawing/2014/main" id="{705BC5EA-EA88-CD1A-3B4E-4A8691D0297F}"/>
                </a:ext>
              </a:extLst>
            </p:cNvPr>
            <p:cNvGrpSpPr/>
            <p:nvPr/>
          </p:nvGrpSpPr>
          <p:grpSpPr>
            <a:xfrm>
              <a:off x="2002044" y="7392552"/>
              <a:ext cx="933314" cy="261610"/>
              <a:chOff x="1168701" y="5655177"/>
              <a:chExt cx="933314" cy="261610"/>
            </a:xfrm>
          </p:grpSpPr>
          <p:sp>
            <p:nvSpPr>
              <p:cNvPr id="169" name="사각형: 둥근 모서리 168">
                <a:extLst>
                  <a:ext uri="{FF2B5EF4-FFF2-40B4-BE49-F238E27FC236}">
                    <a16:creationId xmlns:a16="http://schemas.microsoft.com/office/drawing/2014/main" id="{6882BFB7-9F7A-2A95-0BFC-35390CF35D4A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두부</a:t>
                </a: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25CB725F-3719-7371-528E-E257AB0691CB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71" name="그룹 170">
              <a:extLst>
                <a:ext uri="{FF2B5EF4-FFF2-40B4-BE49-F238E27FC236}">
                  <a16:creationId xmlns:a16="http://schemas.microsoft.com/office/drawing/2014/main" id="{44758ECC-288A-732C-5DD9-50126D87BA37}"/>
                </a:ext>
              </a:extLst>
            </p:cNvPr>
            <p:cNvGrpSpPr/>
            <p:nvPr/>
          </p:nvGrpSpPr>
          <p:grpSpPr>
            <a:xfrm>
              <a:off x="3034115" y="7392552"/>
              <a:ext cx="933314" cy="261610"/>
              <a:chOff x="1168701" y="5655177"/>
              <a:chExt cx="933314" cy="261610"/>
            </a:xfrm>
          </p:grpSpPr>
          <p:sp>
            <p:nvSpPr>
              <p:cNvPr id="172" name="사각형: 둥근 모서리 171">
                <a:extLst>
                  <a:ext uri="{FF2B5EF4-FFF2-40B4-BE49-F238E27FC236}">
                    <a16:creationId xmlns:a16="http://schemas.microsoft.com/office/drawing/2014/main" id="{66D867D3-4CC5-79CA-1DE9-8767842313C7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쌈장</a:t>
                </a: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C488CFCA-D5BD-75B7-792A-053830297B5D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74" name="그룹 173">
              <a:extLst>
                <a:ext uri="{FF2B5EF4-FFF2-40B4-BE49-F238E27FC236}">
                  <a16:creationId xmlns:a16="http://schemas.microsoft.com/office/drawing/2014/main" id="{F6FB7E3D-E1EA-CDF6-4E46-255EEF8B88A1}"/>
                </a:ext>
              </a:extLst>
            </p:cNvPr>
            <p:cNvGrpSpPr/>
            <p:nvPr/>
          </p:nvGrpSpPr>
          <p:grpSpPr>
            <a:xfrm>
              <a:off x="4066186" y="7392552"/>
              <a:ext cx="933314" cy="261610"/>
              <a:chOff x="1168701" y="5655177"/>
              <a:chExt cx="933314" cy="261610"/>
            </a:xfrm>
          </p:grpSpPr>
          <p:sp>
            <p:nvSpPr>
              <p:cNvPr id="175" name="사각형: 둥근 모서리 174">
                <a:extLst>
                  <a:ext uri="{FF2B5EF4-FFF2-40B4-BE49-F238E27FC236}">
                    <a16:creationId xmlns:a16="http://schemas.microsoft.com/office/drawing/2014/main" id="{59C8BC29-B8CB-AD71-81CB-89C4B1D709E0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우유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40086C43-95F2-425C-2129-FB62465C4D23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BFC8CAC7-70D1-DE3C-04CE-89A4E5FEA6DA}"/>
                </a:ext>
              </a:extLst>
            </p:cNvPr>
            <p:cNvGrpSpPr/>
            <p:nvPr/>
          </p:nvGrpSpPr>
          <p:grpSpPr>
            <a:xfrm>
              <a:off x="5098256" y="7392552"/>
              <a:ext cx="933314" cy="261610"/>
              <a:chOff x="1168701" y="5655177"/>
              <a:chExt cx="933314" cy="261610"/>
            </a:xfrm>
          </p:grpSpPr>
          <p:sp>
            <p:nvSpPr>
              <p:cNvPr id="178" name="사각형: 둥근 모서리 177">
                <a:extLst>
                  <a:ext uri="{FF2B5EF4-FFF2-40B4-BE49-F238E27FC236}">
                    <a16:creationId xmlns:a16="http://schemas.microsoft.com/office/drawing/2014/main" id="{189F31C0-69D7-5EE6-0DD2-9DF443ECA675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파스타면</a:t>
                </a:r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5EF6A302-9C4B-89B3-606E-8FF6602C45BB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6369D999-6688-219C-0C5C-B6C4E023C752}"/>
                </a:ext>
              </a:extLst>
            </p:cNvPr>
            <p:cNvGrpSpPr/>
            <p:nvPr/>
          </p:nvGrpSpPr>
          <p:grpSpPr>
            <a:xfrm>
              <a:off x="969973" y="7722401"/>
              <a:ext cx="933314" cy="261610"/>
              <a:chOff x="1168701" y="5655177"/>
              <a:chExt cx="933314" cy="261610"/>
            </a:xfrm>
          </p:grpSpPr>
          <p:sp>
            <p:nvSpPr>
              <p:cNvPr id="181" name="사각형: 둥근 모서리 180">
                <a:extLst>
                  <a:ext uri="{FF2B5EF4-FFF2-40B4-BE49-F238E27FC236}">
                    <a16:creationId xmlns:a16="http://schemas.microsoft.com/office/drawing/2014/main" id="{B48BE91C-79D3-369F-732D-42CDFCE911C7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두부면</a:t>
                </a:r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5B454179-E998-BFD8-E86E-000C8DCE83E4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DB1E7233-F39F-2A8E-D6B1-E17342569094}"/>
                </a:ext>
              </a:extLst>
            </p:cNvPr>
            <p:cNvSpPr txBox="1"/>
            <p:nvPr/>
          </p:nvSpPr>
          <p:spPr>
            <a:xfrm>
              <a:off x="2723624" y="7722401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2066" name="그룹 2065">
            <a:extLst>
              <a:ext uri="{FF2B5EF4-FFF2-40B4-BE49-F238E27FC236}">
                <a16:creationId xmlns:a16="http://schemas.microsoft.com/office/drawing/2014/main" id="{BA8CCE9A-C9FA-E9AF-FC05-578395BDCF32}"/>
              </a:ext>
            </a:extLst>
          </p:cNvPr>
          <p:cNvGrpSpPr/>
          <p:nvPr/>
        </p:nvGrpSpPr>
        <p:grpSpPr>
          <a:xfrm>
            <a:off x="787903" y="9088176"/>
            <a:ext cx="6043659" cy="1292586"/>
            <a:chOff x="787903" y="9088176"/>
            <a:chExt cx="6043659" cy="1292586"/>
          </a:xfrm>
        </p:grpSpPr>
        <p:sp>
          <p:nvSpPr>
            <p:cNvPr id="186" name="사각형: 둥근 모서리 185">
              <a:extLst>
                <a:ext uri="{FF2B5EF4-FFF2-40B4-BE49-F238E27FC236}">
                  <a16:creationId xmlns:a16="http://schemas.microsoft.com/office/drawing/2014/main" id="{DFFED23C-24DB-9C75-E16B-C820A9B76635}"/>
                </a:ext>
              </a:extLst>
            </p:cNvPr>
            <p:cNvSpPr/>
            <p:nvPr/>
          </p:nvSpPr>
          <p:spPr>
            <a:xfrm>
              <a:off x="787903" y="9088176"/>
              <a:ext cx="6043659" cy="1292586"/>
            </a:xfrm>
            <a:prstGeom prst="roundRect">
              <a:avLst>
                <a:gd name="adj" fmla="val 8334"/>
              </a:avLst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사각형: 둥근 모서리 186">
              <a:extLst>
                <a:ext uri="{FF2B5EF4-FFF2-40B4-BE49-F238E27FC236}">
                  <a16:creationId xmlns:a16="http://schemas.microsoft.com/office/drawing/2014/main" id="{E60C044E-31A7-1B95-8836-15EF7DED08AF}"/>
                </a:ext>
              </a:extLst>
            </p:cNvPr>
            <p:cNvSpPr/>
            <p:nvPr/>
          </p:nvSpPr>
          <p:spPr>
            <a:xfrm>
              <a:off x="6535080" y="9291171"/>
              <a:ext cx="139536" cy="43281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8" name="그룹 187">
              <a:extLst>
                <a:ext uri="{FF2B5EF4-FFF2-40B4-BE49-F238E27FC236}">
                  <a16:creationId xmlns:a16="http://schemas.microsoft.com/office/drawing/2014/main" id="{F068DBDC-0C33-896D-CE64-3DAEAD5BF795}"/>
                </a:ext>
              </a:extLst>
            </p:cNvPr>
            <p:cNvGrpSpPr/>
            <p:nvPr/>
          </p:nvGrpSpPr>
          <p:grpSpPr>
            <a:xfrm>
              <a:off x="964388" y="9254226"/>
              <a:ext cx="933314" cy="261610"/>
              <a:chOff x="1168701" y="5655177"/>
              <a:chExt cx="933314" cy="261610"/>
            </a:xfrm>
          </p:grpSpPr>
          <p:sp>
            <p:nvSpPr>
              <p:cNvPr id="189" name="사각형: 둥근 모서리 188">
                <a:extLst>
                  <a:ext uri="{FF2B5EF4-FFF2-40B4-BE49-F238E27FC236}">
                    <a16:creationId xmlns:a16="http://schemas.microsoft.com/office/drawing/2014/main" id="{19BAC4CF-C4E4-5804-73D4-C12C60F00327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아몬드</a:t>
                </a:r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082D93C0-2618-B8E1-14CE-9B3581846255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91" name="그룹 190">
              <a:extLst>
                <a:ext uri="{FF2B5EF4-FFF2-40B4-BE49-F238E27FC236}">
                  <a16:creationId xmlns:a16="http://schemas.microsoft.com/office/drawing/2014/main" id="{854C3D02-37B7-E714-63EF-0EA214C15EAA}"/>
                </a:ext>
              </a:extLst>
            </p:cNvPr>
            <p:cNvGrpSpPr/>
            <p:nvPr/>
          </p:nvGrpSpPr>
          <p:grpSpPr>
            <a:xfrm>
              <a:off x="1996459" y="9254226"/>
              <a:ext cx="933314" cy="261610"/>
              <a:chOff x="1168701" y="5655177"/>
              <a:chExt cx="933314" cy="261610"/>
            </a:xfrm>
          </p:grpSpPr>
          <p:sp>
            <p:nvSpPr>
              <p:cNvPr id="2048" name="사각형: 둥근 모서리 2047">
                <a:extLst>
                  <a:ext uri="{FF2B5EF4-FFF2-40B4-BE49-F238E27FC236}">
                    <a16:creationId xmlns:a16="http://schemas.microsoft.com/office/drawing/2014/main" id="{F10E7350-C075-B019-8FFB-E29DEFA665E2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양파</a:t>
                </a:r>
              </a:p>
            </p:txBody>
          </p:sp>
          <p:sp>
            <p:nvSpPr>
              <p:cNvPr id="2049" name="TextBox 2048">
                <a:extLst>
                  <a:ext uri="{FF2B5EF4-FFF2-40B4-BE49-F238E27FC236}">
                    <a16:creationId xmlns:a16="http://schemas.microsoft.com/office/drawing/2014/main" id="{B026874F-5C62-14A1-D074-5E8D4F43BE04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sp>
          <p:nvSpPr>
            <p:cNvPr id="2053" name="TextBox 2052">
              <a:extLst>
                <a:ext uri="{FF2B5EF4-FFF2-40B4-BE49-F238E27FC236}">
                  <a16:creationId xmlns:a16="http://schemas.microsoft.com/office/drawing/2014/main" id="{9BABE3EF-49D4-1A30-BA92-B2137768648D}"/>
                </a:ext>
              </a:extLst>
            </p:cNvPr>
            <p:cNvSpPr txBox="1"/>
            <p:nvPr/>
          </p:nvSpPr>
          <p:spPr>
            <a:xfrm>
              <a:off x="3750110" y="9254226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056" name="TextBox 2055">
              <a:extLst>
                <a:ext uri="{FF2B5EF4-FFF2-40B4-BE49-F238E27FC236}">
                  <a16:creationId xmlns:a16="http://schemas.microsoft.com/office/drawing/2014/main" id="{F60CBD70-8AC4-6774-CCD6-53BA0B52227F}"/>
                </a:ext>
              </a:extLst>
            </p:cNvPr>
            <p:cNvSpPr txBox="1"/>
            <p:nvPr/>
          </p:nvSpPr>
          <p:spPr>
            <a:xfrm>
              <a:off x="4782181" y="9254226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059" name="TextBox 2058">
              <a:extLst>
                <a:ext uri="{FF2B5EF4-FFF2-40B4-BE49-F238E27FC236}">
                  <a16:creationId xmlns:a16="http://schemas.microsoft.com/office/drawing/2014/main" id="{22E7EEE3-6281-87B7-BEEF-EB130E6968BD}"/>
                </a:ext>
              </a:extLst>
            </p:cNvPr>
            <p:cNvSpPr txBox="1"/>
            <p:nvPr/>
          </p:nvSpPr>
          <p:spPr>
            <a:xfrm>
              <a:off x="5814251" y="9254226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062" name="TextBox 2061">
              <a:extLst>
                <a:ext uri="{FF2B5EF4-FFF2-40B4-BE49-F238E27FC236}">
                  <a16:creationId xmlns:a16="http://schemas.microsoft.com/office/drawing/2014/main" id="{6F0BB82D-F1AE-D33E-D7BE-D0066B29726A}"/>
                </a:ext>
              </a:extLst>
            </p:cNvPr>
            <p:cNvSpPr txBox="1"/>
            <p:nvPr/>
          </p:nvSpPr>
          <p:spPr>
            <a:xfrm>
              <a:off x="1685968" y="9584075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cxnSp>
        <p:nvCxnSpPr>
          <p:cNvPr id="2071" name="직선 연결선 2070">
            <a:extLst>
              <a:ext uri="{FF2B5EF4-FFF2-40B4-BE49-F238E27FC236}">
                <a16:creationId xmlns:a16="http://schemas.microsoft.com/office/drawing/2014/main" id="{B25D0B8C-51DE-3441-AAE3-1BCE8E42C83F}"/>
              </a:ext>
            </a:extLst>
          </p:cNvPr>
          <p:cNvCxnSpPr>
            <a:cxnSpLocks/>
          </p:cNvCxnSpPr>
          <p:nvPr/>
        </p:nvCxnSpPr>
        <p:spPr>
          <a:xfrm>
            <a:off x="381000" y="4965700"/>
            <a:ext cx="6450562" cy="0"/>
          </a:xfrm>
          <a:prstGeom prst="line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73" name="사각형: 둥근 모서리 2072">
            <a:extLst>
              <a:ext uri="{FF2B5EF4-FFF2-40B4-BE49-F238E27FC236}">
                <a16:creationId xmlns:a16="http://schemas.microsoft.com/office/drawing/2014/main" id="{31E1301A-E0C6-DC40-9507-E35A9597139D}"/>
              </a:ext>
            </a:extLst>
          </p:cNvPr>
          <p:cNvSpPr/>
          <p:nvPr/>
        </p:nvSpPr>
        <p:spPr>
          <a:xfrm>
            <a:off x="682423" y="10900454"/>
            <a:ext cx="6087321" cy="2805297"/>
          </a:xfrm>
          <a:prstGeom prst="roundRect">
            <a:avLst>
              <a:gd name="adj" fmla="val 8518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추후 광고 추가 할 자리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&gt;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6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indent="0" algn="ctr">
              <a:buNone/>
            </a:pP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새로 </a:t>
            </a:r>
            <a:r>
              <a:rPr lang="ko-KR" altLang="en-US" sz="16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사야하는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는 </a:t>
            </a:r>
            <a:r>
              <a:rPr lang="ko-KR" altLang="en-US" sz="16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쿠팡이나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6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마켓컬리로</a:t>
            </a:r>
            <a:endParaRPr lang="en-US" altLang="ko-KR" sz="16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indent="0" algn="ctr">
              <a:buNone/>
            </a:pP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바로 이동 가능하게 하여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광고 삽입하기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7B72048-2FF1-83B5-9C28-E9E1070B5668}"/>
              </a:ext>
            </a:extLst>
          </p:cNvPr>
          <p:cNvGrpSpPr/>
          <p:nvPr/>
        </p:nvGrpSpPr>
        <p:grpSpPr>
          <a:xfrm>
            <a:off x="1081932" y="3366453"/>
            <a:ext cx="4713603" cy="3462029"/>
            <a:chOff x="9104460" y="4100820"/>
            <a:chExt cx="4713603" cy="3462029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7364D5FC-96E7-1DF7-6ABC-E3306C28B59D}"/>
                </a:ext>
              </a:extLst>
            </p:cNvPr>
            <p:cNvSpPr/>
            <p:nvPr/>
          </p:nvSpPr>
          <p:spPr>
            <a:xfrm>
              <a:off x="9104460" y="4126544"/>
              <a:ext cx="4713603" cy="3436305"/>
            </a:xfrm>
            <a:prstGeom prst="roundRect">
              <a:avLst>
                <a:gd name="adj" fmla="val 2707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AB223F1-47BD-CE94-B98F-00E6855E2321}"/>
                </a:ext>
              </a:extLst>
            </p:cNvPr>
            <p:cNvSpPr txBox="1"/>
            <p:nvPr/>
          </p:nvSpPr>
          <p:spPr>
            <a:xfrm>
              <a:off x="9583700" y="4350675"/>
              <a:ext cx="372444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재료의 상세정보를 입력해 주세요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93A71B4-70C7-ECEE-B5D6-8E1DF541EF5E}"/>
                </a:ext>
              </a:extLst>
            </p:cNvPr>
            <p:cNvSpPr txBox="1"/>
            <p:nvPr/>
          </p:nvSpPr>
          <p:spPr>
            <a:xfrm>
              <a:off x="13460986" y="4100820"/>
              <a:ext cx="285061" cy="3638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76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76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AC922D3B-1BC9-2E2B-C589-70B48F7EA763}"/>
                </a:ext>
              </a:extLst>
            </p:cNvPr>
            <p:cNvCxnSpPr/>
            <p:nvPr/>
          </p:nvCxnSpPr>
          <p:spPr>
            <a:xfrm>
              <a:off x="9390932" y="4670847"/>
              <a:ext cx="412182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9949A14-1760-70BB-4B5E-9FCE80DB7C13}"/>
                </a:ext>
              </a:extLst>
            </p:cNvPr>
            <p:cNvSpPr/>
            <p:nvPr/>
          </p:nvSpPr>
          <p:spPr>
            <a:xfrm>
              <a:off x="9453614" y="6541714"/>
              <a:ext cx="1174083" cy="721298"/>
            </a:xfrm>
            <a:prstGeom prst="roundRect">
              <a:avLst>
                <a:gd name="adj" fmla="val 50000"/>
              </a:avLst>
            </a:prstGeom>
            <a:solidFill>
              <a:srgbClr val="FF8A2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3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재료에 </a:t>
              </a:r>
              <a:endPara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r>
                <a:rPr lang="ko-KR" altLang="en-US" sz="113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유통기한이 </a:t>
              </a:r>
              <a:endPara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r>
                <a:rPr lang="ko-KR" altLang="en-US" sz="113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있어요</a:t>
              </a: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8DA7F50D-E3FC-1B81-BDBF-CBFFD6135201}"/>
                </a:ext>
              </a:extLst>
            </p:cNvPr>
            <p:cNvSpPr/>
            <p:nvPr/>
          </p:nvSpPr>
          <p:spPr>
            <a:xfrm>
              <a:off x="10836609" y="6541714"/>
              <a:ext cx="1174083" cy="721298"/>
            </a:xfrm>
            <a:prstGeom prst="roundRect">
              <a:avLst>
                <a:gd name="adj" fmla="val 50000"/>
              </a:avLst>
            </a:prstGeom>
            <a:solidFill>
              <a:srgbClr val="4BC8F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3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재료에 </a:t>
              </a:r>
              <a:endPara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r>
                <a:rPr lang="ko-KR" altLang="en-US" sz="113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유통기한은 따로 없어요</a:t>
              </a: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AEA681EB-6D5F-9117-1D2F-F4455CEE1C18}"/>
                </a:ext>
              </a:extLst>
            </p:cNvPr>
            <p:cNvSpPr/>
            <p:nvPr/>
          </p:nvSpPr>
          <p:spPr>
            <a:xfrm>
              <a:off x="12219604" y="6575842"/>
              <a:ext cx="1174083" cy="721298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3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입력 </a:t>
              </a:r>
              <a:r>
                <a:rPr lang="ko-KR" altLang="en-US" sz="1134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안할래요</a:t>
              </a:r>
              <a:endPara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EE78BA0-5405-BFB2-D174-FA988DF79C7C}"/>
                </a:ext>
              </a:extLst>
            </p:cNvPr>
            <p:cNvSpPr txBox="1"/>
            <p:nvPr/>
          </p:nvSpPr>
          <p:spPr>
            <a:xfrm>
              <a:off x="9299575" y="4804324"/>
              <a:ext cx="910763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보관 공간</a:t>
              </a:r>
              <a:endParaRPr lang="ko-KR" altLang="en-US" sz="105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B5677F1-67E6-4BDB-5B9B-79CE74E0829B}"/>
                </a:ext>
              </a:extLst>
            </p:cNvPr>
            <p:cNvSpPr txBox="1"/>
            <p:nvPr/>
          </p:nvSpPr>
          <p:spPr>
            <a:xfrm>
              <a:off x="9299575" y="6182107"/>
              <a:ext cx="910763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소비 기한</a:t>
              </a:r>
              <a:endParaRPr lang="ko-KR" altLang="en-US" sz="1050" dirty="0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FB745DCB-89EF-8372-9C91-90EE0724FF65}"/>
                </a:ext>
              </a:extLst>
            </p:cNvPr>
            <p:cNvGrpSpPr/>
            <p:nvPr/>
          </p:nvGrpSpPr>
          <p:grpSpPr>
            <a:xfrm>
              <a:off x="9344018" y="5037669"/>
              <a:ext cx="1209612" cy="1046441"/>
              <a:chOff x="9344018" y="5314865"/>
              <a:chExt cx="1209612" cy="104644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FCCD7BE-0027-2356-9A9E-1D4E3F3C5678}"/>
                  </a:ext>
                </a:extLst>
              </p:cNvPr>
              <p:cNvSpPr txBox="1"/>
              <p:nvPr/>
            </p:nvSpPr>
            <p:spPr>
              <a:xfrm>
                <a:off x="9344018" y="5314865"/>
                <a:ext cx="120961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4800" dirty="0">
                    <a:effectLst/>
                    <a:latin typeface="Segoe UI Emoji" panose="020B0502040204020203" pitchFamily="34" charset="0"/>
                    <a:ea typeface="맑은 고딕" panose="020B0503020000020004" pitchFamily="50" charset="-127"/>
                    <a:cs typeface="Segoe UI Emoji" panose="020B0502040204020203" pitchFamily="34" charset="0"/>
                  </a:rPr>
                  <a:t>🧊</a:t>
                </a:r>
                <a:endParaRPr lang="ko-KR" altLang="en-US" sz="4800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EBDD17B-5F8E-D939-B0ED-8DEB11E73CBA}"/>
                  </a:ext>
                </a:extLst>
              </p:cNvPr>
              <p:cNvSpPr txBox="1"/>
              <p:nvPr/>
            </p:nvSpPr>
            <p:spPr>
              <a:xfrm>
                <a:off x="9609960" y="6145862"/>
                <a:ext cx="810320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8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냉동보관</a:t>
                </a:r>
              </a:p>
            </p:txBody>
          </p: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B0C8475F-2610-0689-DF1C-564F919384A9}"/>
                </a:ext>
              </a:extLst>
            </p:cNvPr>
            <p:cNvGrpSpPr/>
            <p:nvPr/>
          </p:nvGrpSpPr>
          <p:grpSpPr>
            <a:xfrm>
              <a:off x="10719568" y="5024807"/>
              <a:ext cx="1209612" cy="1059303"/>
              <a:chOff x="10668948" y="5302003"/>
              <a:chExt cx="1209612" cy="1059303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277F289-5EC1-CE22-DA5E-BE272DE17CF7}"/>
                  </a:ext>
                </a:extLst>
              </p:cNvPr>
              <p:cNvSpPr txBox="1"/>
              <p:nvPr/>
            </p:nvSpPr>
            <p:spPr>
              <a:xfrm>
                <a:off x="10668948" y="5302003"/>
                <a:ext cx="120961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4800" dirty="0">
                    <a:latin typeface="Segoe UI Emoji" panose="020B0502040204020203" pitchFamily="34" charset="0"/>
                    <a:ea typeface="맑은 고딕" panose="020B0503020000020004" pitchFamily="50" charset="-127"/>
                  </a:rPr>
                  <a:t>❄️</a:t>
                </a:r>
                <a:endParaRPr lang="ko-KR" altLang="en-US" sz="4800" dirty="0">
                  <a:latin typeface="Segoe UI Emoji" panose="020B0502040204020203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30E50AC-B091-CA2D-B3FE-02B0D889BD23}"/>
                  </a:ext>
                </a:extLst>
              </p:cNvPr>
              <p:cNvSpPr txBox="1"/>
              <p:nvPr/>
            </p:nvSpPr>
            <p:spPr>
              <a:xfrm>
                <a:off x="10907378" y="6145862"/>
                <a:ext cx="810320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8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냉장보관</a:t>
                </a:r>
              </a:p>
            </p:txBody>
          </p: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8D58CD33-D7AC-307B-3C00-7653C10ACC20}"/>
                </a:ext>
              </a:extLst>
            </p:cNvPr>
            <p:cNvGrpSpPr/>
            <p:nvPr/>
          </p:nvGrpSpPr>
          <p:grpSpPr>
            <a:xfrm>
              <a:off x="12154988" y="5004642"/>
              <a:ext cx="1209612" cy="1079468"/>
              <a:chOff x="12098532" y="5281838"/>
              <a:chExt cx="1209612" cy="1079468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9C87251-7B65-3FA0-C9D3-D6B0DE259639}"/>
                  </a:ext>
                </a:extLst>
              </p:cNvPr>
              <p:cNvSpPr txBox="1"/>
              <p:nvPr/>
            </p:nvSpPr>
            <p:spPr>
              <a:xfrm>
                <a:off x="12098532" y="5281838"/>
                <a:ext cx="120961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4800" dirty="0">
                    <a:latin typeface="Segoe UI Emoji" panose="020B0502040204020203" pitchFamily="34" charset="0"/>
                    <a:ea typeface="맑은 고딕" panose="020B0503020000020004" pitchFamily="50" charset="-127"/>
                  </a:rPr>
                  <a:t>🌡️</a:t>
                </a:r>
                <a:endParaRPr lang="ko-KR" altLang="en-US" sz="4800" dirty="0">
                  <a:latin typeface="Segoe UI Emoji" panose="020B0502040204020203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8D9E916-2B8A-B5DA-FC80-1D43B32401A8}"/>
                  </a:ext>
                </a:extLst>
              </p:cNvPr>
              <p:cNvSpPr txBox="1"/>
              <p:nvPr/>
            </p:nvSpPr>
            <p:spPr>
              <a:xfrm>
                <a:off x="12443151" y="6145862"/>
                <a:ext cx="810320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8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실온보관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42284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13835-0E6B-6FDD-38C9-88D452F5D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>
            <a:extLst>
              <a:ext uri="{FF2B5EF4-FFF2-40B4-BE49-F238E27FC236}">
                <a16:creationId xmlns:a16="http://schemas.microsoft.com/office/drawing/2014/main" id="{D95A0C60-B43D-9418-84DC-0CF72D2CF460}"/>
              </a:ext>
            </a:extLst>
          </p:cNvPr>
          <p:cNvSpPr/>
          <p:nvPr/>
        </p:nvSpPr>
        <p:spPr>
          <a:xfrm>
            <a:off x="-11741" y="14382044"/>
            <a:ext cx="7211054" cy="109766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8892DC-63A0-E0C8-9FC5-36745B92FB0F}"/>
              </a:ext>
            </a:extLst>
          </p:cNvPr>
          <p:cNvSpPr txBox="1"/>
          <p:nvPr/>
        </p:nvSpPr>
        <p:spPr>
          <a:xfrm>
            <a:off x="-11741" y="16572249"/>
            <a:ext cx="7199313" cy="424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로그인을 하고 나면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배경은 화이트로 바뀐다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</a:p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홈페이지 메뉴 네비게이션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홈페이지의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메뉴바이다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일단 크게는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나의 냉장고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이렇게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네가지의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메뉴가 있음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현재 페이지는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페이지의 첫 페이지에 해당한다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비로그인 상태 가능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</a:t>
            </a:r>
          </a:p>
          <a:p>
            <a:pPr marL="215976" indent="-215976">
              <a:buFontTx/>
              <a:buChar char="-"/>
            </a:pP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해당 아이콘은 클릭이 안된 경우엔 아래 경로의 이미지 아이콘을 쓰고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화이트계열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pPr marL="215976" indent="-215976">
              <a:buFontTx/>
              <a:buChar char="-"/>
            </a:pP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"C:\Users\user\Desktop\RefrigeratorCode\frontend\src\assets\navigator_myfridge_white.png“</a:t>
            </a:r>
          </a:p>
          <a:p>
            <a:pPr marL="215976" indent="-215976">
              <a:buFontTx/>
              <a:buChar char="-"/>
            </a:pP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"C:\Users\user\Desktop\RefrigeratorCode\frontend\src\assets\navigator_myfridgerecipe_white.png“</a:t>
            </a:r>
          </a:p>
          <a:p>
            <a:pPr marL="215976" indent="-215976">
              <a:buFontTx/>
              <a:buChar char="-"/>
            </a:pP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"C:\Users\user\Desktop\RefrigeratorCode\frontend\src\assets\navigator_popularity_white.png“</a:t>
            </a:r>
          </a:p>
          <a:p>
            <a:pPr marL="215976" indent="-215976">
              <a:buFontTx/>
              <a:buChar char="-"/>
            </a:pP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"C:\Users\user\Desktop\RefrigeratorCode\frontend\src\assets\navigator_mypage_white.png“</a:t>
            </a:r>
          </a:p>
          <a:p>
            <a:pPr marL="215976" indent="-215976">
              <a:buFontTx/>
              <a:buChar char="-"/>
            </a:pP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클릭이 된 경우엔 아래 경로의 이미지 아이콘을 쓴다 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블랙계열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pPr marL="215976" indent="-215976">
              <a:buFontTx/>
              <a:buChar char="-"/>
            </a:pP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"C:\Users\user\Desktop\RefrigeratorCode\frontend\src\assets\navigator_myfridge_black.png“</a:t>
            </a:r>
          </a:p>
          <a:p>
            <a:pPr marL="215976" indent="-215976">
              <a:buFontTx/>
              <a:buChar char="-"/>
            </a:pP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"C:\Users\user\Desktop\RefrigeratorCode\frontend\src\assets\navigator_myfridgerecipe_black.png“</a:t>
            </a:r>
          </a:p>
          <a:p>
            <a:pPr marL="215976" indent="-215976">
              <a:buFontTx/>
              <a:buChar char="-"/>
            </a:pP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"C:\Users\user\Desktop\RefrigeratorCode\frontend\src\assets\navigator_popularity_black.png“</a:t>
            </a:r>
          </a:p>
          <a:p>
            <a:pPr marL="215976" indent="-215976">
              <a:buFontTx/>
              <a:buChar char="-"/>
            </a:pP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"C:\Users\user\Desktop\RefrigeratorCode\frontend\src\assets\navigator_mypage_black.png“</a:t>
            </a:r>
          </a:p>
          <a:p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지금은 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내 냉장고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 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페이지에 해당하니 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내 냉장고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에 해당하는 아이콘만 블랙 계열의 파일을 씀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Ⓑ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냉동실 선택창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이미지상의 냉동실을 선택하게 되면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우리집 냉동실안에 있는 재료들을 업데이트 할 수 있는 창으로 이동된다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ⓒ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냉장실 선택창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이미지상의 냉장실을 선택하게 되면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우리집 냉장실안에 있는 재료들을 업데이트 할 수 있는 창으로 이동된다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Ⓓ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실온보관 선택창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이미지상의 실온보관 공간을 선택하게 되면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우리집 실온보관실에 있는 재료들을 업데이트 할 수 있는 창으로 이동된다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71071FD-B44B-1D81-51F5-5BACB608CA67}"/>
              </a:ext>
            </a:extLst>
          </p:cNvPr>
          <p:cNvSpPr txBox="1"/>
          <p:nvPr/>
        </p:nvSpPr>
        <p:spPr>
          <a:xfrm>
            <a:off x="2" y="15880383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2267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62DB6E6F-E137-C348-AA7F-F74F832E90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744" y="14658116"/>
            <a:ext cx="555464" cy="346419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52516438-B7ED-9487-7627-BAB0403B77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587" y="14579721"/>
            <a:ext cx="449449" cy="50320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B1380705-8007-D849-D43B-276FC484C6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441" y="14594658"/>
            <a:ext cx="430038" cy="473339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05625BB6-0689-28EF-C226-38DD185655EB}"/>
              </a:ext>
            </a:extLst>
          </p:cNvPr>
          <p:cNvSpPr txBox="1"/>
          <p:nvPr/>
        </p:nvSpPr>
        <p:spPr>
          <a:xfrm>
            <a:off x="102413" y="15163112"/>
            <a:ext cx="195903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DD53EE1-05E2-7AE2-706D-A5F85465AA74}"/>
              </a:ext>
            </a:extLst>
          </p:cNvPr>
          <p:cNvSpPr txBox="1"/>
          <p:nvPr/>
        </p:nvSpPr>
        <p:spPr>
          <a:xfrm>
            <a:off x="1733775" y="15163112"/>
            <a:ext cx="220340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21425FD-834C-866B-C5A6-B7A4FF97192A}"/>
              </a:ext>
            </a:extLst>
          </p:cNvPr>
          <p:cNvSpPr txBox="1"/>
          <p:nvPr/>
        </p:nvSpPr>
        <p:spPr>
          <a:xfrm>
            <a:off x="5713176" y="15163112"/>
            <a:ext cx="105656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9D12BF8-CA4E-A965-DE03-DEBE08A4105D}"/>
              </a:ext>
            </a:extLst>
          </p:cNvPr>
          <p:cNvSpPr txBox="1"/>
          <p:nvPr/>
        </p:nvSpPr>
        <p:spPr>
          <a:xfrm>
            <a:off x="3711516" y="15163112"/>
            <a:ext cx="163959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C429871C-37AE-2A22-C6DF-FF67B2FF60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14" y="14567779"/>
            <a:ext cx="298637" cy="527094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F91F4DB3-AB4A-6BB0-F7B7-C7A6C9DC7F3C}"/>
              </a:ext>
            </a:extLst>
          </p:cNvPr>
          <p:cNvSpPr txBox="1"/>
          <p:nvPr/>
        </p:nvSpPr>
        <p:spPr>
          <a:xfrm>
            <a:off x="1168701" y="16103985"/>
            <a:ext cx="518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ko-KR" altLang="en-US" sz="2267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D42DF0C-27C4-9876-F3F0-5ACEAA4AA3D4}"/>
              </a:ext>
            </a:extLst>
          </p:cNvPr>
          <p:cNvSpPr txBox="1"/>
          <p:nvPr/>
        </p:nvSpPr>
        <p:spPr>
          <a:xfrm>
            <a:off x="381000" y="4662540"/>
            <a:ext cx="266654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재료 관리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8EF9B25-B2ED-8362-5BE6-7B6CC53FAFC0}"/>
              </a:ext>
            </a:extLst>
          </p:cNvPr>
          <p:cNvSpPr txBox="1"/>
          <p:nvPr/>
        </p:nvSpPr>
        <p:spPr>
          <a:xfrm>
            <a:off x="630070" y="5037669"/>
            <a:ext cx="34319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냉동보관</a:t>
            </a:r>
            <a:r>
              <a:rPr lang="en-US" altLang="ko-KR" sz="15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🧊</a:t>
            </a:r>
            <a:endParaRPr lang="ko-KR" altLang="en-US" sz="15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05E4FDA-1CE3-63F2-BB50-FC22585D37A1}"/>
              </a:ext>
            </a:extLst>
          </p:cNvPr>
          <p:cNvSpPr txBox="1"/>
          <p:nvPr/>
        </p:nvSpPr>
        <p:spPr>
          <a:xfrm>
            <a:off x="630070" y="6861247"/>
            <a:ext cx="34319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냉장보관</a:t>
            </a:r>
            <a:r>
              <a:rPr lang="en-US" altLang="ko-KR" sz="15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❄️</a:t>
            </a:r>
            <a:endParaRPr lang="ko-KR" altLang="en-US" sz="15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B14371F-DEC6-1240-289A-F07ABD7163D0}"/>
              </a:ext>
            </a:extLst>
          </p:cNvPr>
          <p:cNvSpPr txBox="1"/>
          <p:nvPr/>
        </p:nvSpPr>
        <p:spPr>
          <a:xfrm>
            <a:off x="630070" y="8684824"/>
            <a:ext cx="34319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실온보관</a:t>
            </a:r>
            <a:r>
              <a:rPr lang="en-US" altLang="ko-KR" sz="1500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🌡️</a:t>
            </a:r>
          </a:p>
        </p:txBody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BB256FC2-5B30-09A6-F310-15E87B19D2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230" y="722289"/>
            <a:ext cx="324772" cy="333416"/>
          </a:xfrm>
          <a:prstGeom prst="rect">
            <a:avLst/>
          </a:prstGeom>
        </p:spPr>
      </p:pic>
      <p:pic>
        <p:nvPicPr>
          <p:cNvPr id="122" name="그림 121">
            <a:extLst>
              <a:ext uri="{FF2B5EF4-FFF2-40B4-BE49-F238E27FC236}">
                <a16:creationId xmlns:a16="http://schemas.microsoft.com/office/drawing/2014/main" id="{980B84D1-8465-FD08-4801-B5CB15E735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81" y="705298"/>
            <a:ext cx="1006249" cy="367398"/>
          </a:xfrm>
          <a:prstGeom prst="rect">
            <a:avLst/>
          </a:prstGeom>
        </p:spPr>
      </p:pic>
      <p:sp>
        <p:nvSpPr>
          <p:cNvPr id="123" name="TextBox 122">
            <a:extLst>
              <a:ext uri="{FF2B5EF4-FFF2-40B4-BE49-F238E27FC236}">
                <a16:creationId xmlns:a16="http://schemas.microsoft.com/office/drawing/2014/main" id="{CDC29BF5-92CD-9459-8C62-2ED103060B2B}"/>
              </a:ext>
            </a:extLst>
          </p:cNvPr>
          <p:cNvSpPr txBox="1"/>
          <p:nvPr/>
        </p:nvSpPr>
        <p:spPr>
          <a:xfrm>
            <a:off x="2254643" y="2412867"/>
            <a:ext cx="2666544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재료 추가</a:t>
            </a: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526BD687-2B95-D93D-B1FE-4BC2BF8E2484}"/>
              </a:ext>
            </a:extLst>
          </p:cNvPr>
          <p:cNvSpPr/>
          <p:nvPr/>
        </p:nvSpPr>
        <p:spPr>
          <a:xfrm>
            <a:off x="1727805" y="2936959"/>
            <a:ext cx="3720496" cy="310174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D095E2C-9217-A67B-445E-6798F781A7C1}"/>
              </a:ext>
            </a:extLst>
          </p:cNvPr>
          <p:cNvSpPr txBox="1"/>
          <p:nvPr/>
        </p:nvSpPr>
        <p:spPr>
          <a:xfrm>
            <a:off x="1775013" y="2968334"/>
            <a:ext cx="2981023" cy="24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추가 할 재료들을 입력해주세요</a:t>
            </a:r>
          </a:p>
        </p:txBody>
      </p:sp>
      <p:grpSp>
        <p:nvGrpSpPr>
          <p:cNvPr id="2069" name="그룹 2068">
            <a:extLst>
              <a:ext uri="{FF2B5EF4-FFF2-40B4-BE49-F238E27FC236}">
                <a16:creationId xmlns:a16="http://schemas.microsoft.com/office/drawing/2014/main" id="{9EB9F126-8136-312A-BCA5-9C3B8EB57B6E}"/>
              </a:ext>
            </a:extLst>
          </p:cNvPr>
          <p:cNvGrpSpPr/>
          <p:nvPr/>
        </p:nvGrpSpPr>
        <p:grpSpPr>
          <a:xfrm>
            <a:off x="793488" y="5403042"/>
            <a:ext cx="6043659" cy="1292586"/>
            <a:chOff x="793488" y="5403042"/>
            <a:chExt cx="6043659" cy="1292586"/>
          </a:xfrm>
        </p:grpSpPr>
        <p:sp>
          <p:nvSpPr>
            <p:cNvPr id="101" name="사각형: 둥근 모서리 100">
              <a:extLst>
                <a:ext uri="{FF2B5EF4-FFF2-40B4-BE49-F238E27FC236}">
                  <a16:creationId xmlns:a16="http://schemas.microsoft.com/office/drawing/2014/main" id="{3DCB90C9-4221-B7A0-AB37-79C31635C790}"/>
                </a:ext>
              </a:extLst>
            </p:cNvPr>
            <p:cNvSpPr/>
            <p:nvPr/>
          </p:nvSpPr>
          <p:spPr>
            <a:xfrm>
              <a:off x="793488" y="5403042"/>
              <a:ext cx="6043659" cy="1292586"/>
            </a:xfrm>
            <a:prstGeom prst="roundRect">
              <a:avLst>
                <a:gd name="adj" fmla="val 8334"/>
              </a:avLst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사각형: 둥근 모서리 125">
              <a:extLst>
                <a:ext uri="{FF2B5EF4-FFF2-40B4-BE49-F238E27FC236}">
                  <a16:creationId xmlns:a16="http://schemas.microsoft.com/office/drawing/2014/main" id="{F761EF3A-9838-0DFB-166C-BAFB8A74FB84}"/>
                </a:ext>
              </a:extLst>
            </p:cNvPr>
            <p:cNvSpPr/>
            <p:nvPr/>
          </p:nvSpPr>
          <p:spPr>
            <a:xfrm>
              <a:off x="6540665" y="5606037"/>
              <a:ext cx="139536" cy="43281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4" name="그룹 143">
              <a:extLst>
                <a:ext uri="{FF2B5EF4-FFF2-40B4-BE49-F238E27FC236}">
                  <a16:creationId xmlns:a16="http://schemas.microsoft.com/office/drawing/2014/main" id="{CA19406D-0B6D-2790-F1B6-B75A8251A033}"/>
                </a:ext>
              </a:extLst>
            </p:cNvPr>
            <p:cNvGrpSpPr/>
            <p:nvPr/>
          </p:nvGrpSpPr>
          <p:grpSpPr>
            <a:xfrm>
              <a:off x="969973" y="5569092"/>
              <a:ext cx="933314" cy="261610"/>
              <a:chOff x="1168701" y="5655177"/>
              <a:chExt cx="933314" cy="261610"/>
            </a:xfrm>
          </p:grpSpPr>
          <p:sp>
            <p:nvSpPr>
              <p:cNvPr id="127" name="사각형: 둥근 모서리 126">
                <a:extLst>
                  <a:ext uri="{FF2B5EF4-FFF2-40B4-BE49-F238E27FC236}">
                    <a16:creationId xmlns:a16="http://schemas.microsoft.com/office/drawing/2014/main" id="{EB63208B-9A9C-E0D8-B942-3670E5191751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청양고추</a:t>
                </a: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73BFB205-65AB-FCD5-EA1B-8F9DB97F472A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15CE31BC-300F-4099-E7BF-B468EF216516}"/>
                </a:ext>
              </a:extLst>
            </p:cNvPr>
            <p:cNvGrpSpPr/>
            <p:nvPr/>
          </p:nvGrpSpPr>
          <p:grpSpPr>
            <a:xfrm>
              <a:off x="2002044" y="5569092"/>
              <a:ext cx="933314" cy="261610"/>
              <a:chOff x="1168701" y="5655177"/>
              <a:chExt cx="933314" cy="261610"/>
            </a:xfrm>
          </p:grpSpPr>
          <p:sp>
            <p:nvSpPr>
              <p:cNvPr id="146" name="사각형: 둥근 모서리 145">
                <a:extLst>
                  <a:ext uri="{FF2B5EF4-FFF2-40B4-BE49-F238E27FC236}">
                    <a16:creationId xmlns:a16="http://schemas.microsoft.com/office/drawing/2014/main" id="{65F5A296-8F18-FB15-03C2-E0BB98464BBC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만두</a:t>
                </a: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21C1D2B4-A7DC-99C2-FF26-B8D7AEBD6A41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346E028C-7758-C223-0B8E-EDC5AED8A187}"/>
                </a:ext>
              </a:extLst>
            </p:cNvPr>
            <p:cNvGrpSpPr/>
            <p:nvPr/>
          </p:nvGrpSpPr>
          <p:grpSpPr>
            <a:xfrm>
              <a:off x="3034115" y="5569092"/>
              <a:ext cx="933314" cy="261610"/>
              <a:chOff x="1168701" y="5655177"/>
              <a:chExt cx="933314" cy="261610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2C0B7472-356F-8D4B-5BE7-1A474AC4B9BF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대파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2AEC2C18-73AB-ED3C-7812-DADF1B841FAC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64BD3642-B840-0CB0-009A-315387A736BF}"/>
                </a:ext>
              </a:extLst>
            </p:cNvPr>
            <p:cNvGrpSpPr/>
            <p:nvPr/>
          </p:nvGrpSpPr>
          <p:grpSpPr>
            <a:xfrm>
              <a:off x="4066186" y="5569092"/>
              <a:ext cx="933314" cy="261610"/>
              <a:chOff x="1168701" y="5655177"/>
              <a:chExt cx="933314" cy="261610"/>
            </a:xfrm>
          </p:grpSpPr>
          <p:sp>
            <p:nvSpPr>
              <p:cNvPr id="152" name="사각형: 둥근 모서리 151">
                <a:extLst>
                  <a:ext uri="{FF2B5EF4-FFF2-40B4-BE49-F238E27FC236}">
                    <a16:creationId xmlns:a16="http://schemas.microsoft.com/office/drawing/2014/main" id="{38896680-CDAB-8713-17E1-DE0A4D88F157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표고버섯</a:t>
                </a: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899AF170-3C36-DBAE-B66F-3BA21BB561FF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54" name="그룹 153">
              <a:extLst>
                <a:ext uri="{FF2B5EF4-FFF2-40B4-BE49-F238E27FC236}">
                  <a16:creationId xmlns:a16="http://schemas.microsoft.com/office/drawing/2014/main" id="{390F1819-4E74-F38F-A3FF-0C69AEE30E25}"/>
                </a:ext>
              </a:extLst>
            </p:cNvPr>
            <p:cNvGrpSpPr/>
            <p:nvPr/>
          </p:nvGrpSpPr>
          <p:grpSpPr>
            <a:xfrm>
              <a:off x="5098256" y="5569092"/>
              <a:ext cx="933314" cy="261610"/>
              <a:chOff x="1168701" y="5655177"/>
              <a:chExt cx="933314" cy="261610"/>
            </a:xfrm>
          </p:grpSpPr>
          <p:sp>
            <p:nvSpPr>
              <p:cNvPr id="155" name="사각형: 둥근 모서리 154">
                <a:extLst>
                  <a:ext uri="{FF2B5EF4-FFF2-40B4-BE49-F238E27FC236}">
                    <a16:creationId xmlns:a16="http://schemas.microsoft.com/office/drawing/2014/main" id="{A36D8AB4-0A32-CE0B-1F7C-945E7599FB06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떡갈비</a:t>
                </a: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709C7DFF-25CC-CCD1-B69A-3B86E45D669E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57" name="그룹 156">
              <a:extLst>
                <a:ext uri="{FF2B5EF4-FFF2-40B4-BE49-F238E27FC236}">
                  <a16:creationId xmlns:a16="http://schemas.microsoft.com/office/drawing/2014/main" id="{A1FF1F50-017D-AEF8-0B5B-CF7063AD030C}"/>
                </a:ext>
              </a:extLst>
            </p:cNvPr>
            <p:cNvGrpSpPr/>
            <p:nvPr/>
          </p:nvGrpSpPr>
          <p:grpSpPr>
            <a:xfrm>
              <a:off x="969973" y="5898941"/>
              <a:ext cx="933314" cy="261610"/>
              <a:chOff x="1168701" y="5655177"/>
              <a:chExt cx="933314" cy="261610"/>
            </a:xfrm>
          </p:grpSpPr>
          <p:sp>
            <p:nvSpPr>
              <p:cNvPr id="158" name="사각형: 둥근 모서리 157">
                <a:extLst>
                  <a:ext uri="{FF2B5EF4-FFF2-40B4-BE49-F238E27FC236}">
                    <a16:creationId xmlns:a16="http://schemas.microsoft.com/office/drawing/2014/main" id="{51181C81-6671-28E4-A1E5-495F108E9AD1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청양고추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44D08C5F-A9EE-F5EF-6440-14BD113FFE72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F52B3AC1-06E4-1787-E2AC-D20F38F51BEA}"/>
                </a:ext>
              </a:extLst>
            </p:cNvPr>
            <p:cNvGrpSpPr/>
            <p:nvPr/>
          </p:nvGrpSpPr>
          <p:grpSpPr>
            <a:xfrm>
              <a:off x="2002044" y="5898941"/>
              <a:ext cx="933314" cy="261610"/>
              <a:chOff x="1168701" y="5655177"/>
              <a:chExt cx="933314" cy="261610"/>
            </a:xfrm>
          </p:grpSpPr>
          <p:sp>
            <p:nvSpPr>
              <p:cNvPr id="161" name="사각형: 둥근 모서리 160">
                <a:extLst>
                  <a:ext uri="{FF2B5EF4-FFF2-40B4-BE49-F238E27FC236}">
                    <a16:creationId xmlns:a16="http://schemas.microsoft.com/office/drawing/2014/main" id="{67D4FD05-6966-F5D9-706E-EF9D400C33AF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고구마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731CF254-DC30-BA72-5006-072CFB61DB46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grpSp>
        <p:nvGrpSpPr>
          <p:cNvPr id="2068" name="그룹 2067">
            <a:extLst>
              <a:ext uri="{FF2B5EF4-FFF2-40B4-BE49-F238E27FC236}">
                <a16:creationId xmlns:a16="http://schemas.microsoft.com/office/drawing/2014/main" id="{E29870AF-E95D-7066-E32D-57256BFECBAD}"/>
              </a:ext>
            </a:extLst>
          </p:cNvPr>
          <p:cNvGrpSpPr/>
          <p:nvPr/>
        </p:nvGrpSpPr>
        <p:grpSpPr>
          <a:xfrm>
            <a:off x="793488" y="7245609"/>
            <a:ext cx="6043659" cy="1292586"/>
            <a:chOff x="793488" y="7226502"/>
            <a:chExt cx="6043659" cy="1292586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0951A413-FA42-887A-AF3E-584DC6459642}"/>
                </a:ext>
              </a:extLst>
            </p:cNvPr>
            <p:cNvSpPr/>
            <p:nvPr/>
          </p:nvSpPr>
          <p:spPr>
            <a:xfrm>
              <a:off x="793488" y="7226502"/>
              <a:ext cx="6043659" cy="1292586"/>
            </a:xfrm>
            <a:prstGeom prst="roundRect">
              <a:avLst>
                <a:gd name="adj" fmla="val 8334"/>
              </a:avLst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사각형: 둥근 모서리 163">
              <a:extLst>
                <a:ext uri="{FF2B5EF4-FFF2-40B4-BE49-F238E27FC236}">
                  <a16:creationId xmlns:a16="http://schemas.microsoft.com/office/drawing/2014/main" id="{1DC54A35-D0E8-C3B5-8A82-9CD358825B73}"/>
                </a:ext>
              </a:extLst>
            </p:cNvPr>
            <p:cNvSpPr/>
            <p:nvPr/>
          </p:nvSpPr>
          <p:spPr>
            <a:xfrm>
              <a:off x="6540665" y="7429497"/>
              <a:ext cx="139536" cy="43281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5" name="그룹 164">
              <a:extLst>
                <a:ext uri="{FF2B5EF4-FFF2-40B4-BE49-F238E27FC236}">
                  <a16:creationId xmlns:a16="http://schemas.microsoft.com/office/drawing/2014/main" id="{BA581E66-5E63-CFBA-B527-9804A14F3110}"/>
                </a:ext>
              </a:extLst>
            </p:cNvPr>
            <p:cNvGrpSpPr/>
            <p:nvPr/>
          </p:nvGrpSpPr>
          <p:grpSpPr>
            <a:xfrm>
              <a:off x="969973" y="7392552"/>
              <a:ext cx="933314" cy="261610"/>
              <a:chOff x="1168701" y="5655177"/>
              <a:chExt cx="933314" cy="261610"/>
            </a:xfrm>
          </p:grpSpPr>
          <p:sp>
            <p:nvSpPr>
              <p:cNvPr id="166" name="사각형: 둥근 모서리 165">
                <a:extLst>
                  <a:ext uri="{FF2B5EF4-FFF2-40B4-BE49-F238E27FC236}">
                    <a16:creationId xmlns:a16="http://schemas.microsoft.com/office/drawing/2014/main" id="{0E92F0B9-1314-52F3-A2FB-00570FCCC153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계란</a:t>
                </a:r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B86A0193-E837-B7E1-C4B0-97129AB6275F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68" name="그룹 167">
              <a:extLst>
                <a:ext uri="{FF2B5EF4-FFF2-40B4-BE49-F238E27FC236}">
                  <a16:creationId xmlns:a16="http://schemas.microsoft.com/office/drawing/2014/main" id="{D733F774-5BD9-E4E4-BA27-A32992455BEC}"/>
                </a:ext>
              </a:extLst>
            </p:cNvPr>
            <p:cNvGrpSpPr/>
            <p:nvPr/>
          </p:nvGrpSpPr>
          <p:grpSpPr>
            <a:xfrm>
              <a:off x="2002044" y="7392552"/>
              <a:ext cx="933314" cy="261610"/>
              <a:chOff x="1168701" y="5655177"/>
              <a:chExt cx="933314" cy="261610"/>
            </a:xfrm>
          </p:grpSpPr>
          <p:sp>
            <p:nvSpPr>
              <p:cNvPr id="169" name="사각형: 둥근 모서리 168">
                <a:extLst>
                  <a:ext uri="{FF2B5EF4-FFF2-40B4-BE49-F238E27FC236}">
                    <a16:creationId xmlns:a16="http://schemas.microsoft.com/office/drawing/2014/main" id="{2738419E-D8DF-2805-96D5-0428825E4A65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두부</a:t>
                </a: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82EA80FC-062C-AD85-634B-F57CF8E2B5FB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71" name="그룹 170">
              <a:extLst>
                <a:ext uri="{FF2B5EF4-FFF2-40B4-BE49-F238E27FC236}">
                  <a16:creationId xmlns:a16="http://schemas.microsoft.com/office/drawing/2014/main" id="{4B898512-BC62-CB53-3D47-3223AF1C44AB}"/>
                </a:ext>
              </a:extLst>
            </p:cNvPr>
            <p:cNvGrpSpPr/>
            <p:nvPr/>
          </p:nvGrpSpPr>
          <p:grpSpPr>
            <a:xfrm>
              <a:off x="3034115" y="7392552"/>
              <a:ext cx="933314" cy="261610"/>
              <a:chOff x="1168701" y="5655177"/>
              <a:chExt cx="933314" cy="261610"/>
            </a:xfrm>
          </p:grpSpPr>
          <p:sp>
            <p:nvSpPr>
              <p:cNvPr id="172" name="사각형: 둥근 모서리 171">
                <a:extLst>
                  <a:ext uri="{FF2B5EF4-FFF2-40B4-BE49-F238E27FC236}">
                    <a16:creationId xmlns:a16="http://schemas.microsoft.com/office/drawing/2014/main" id="{2E29CD27-C5E8-236F-92F4-A4A91DF61F46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쌈장</a:t>
                </a: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0408828D-6E2D-B1C5-23B7-D23B14D9A5ED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74" name="그룹 173">
              <a:extLst>
                <a:ext uri="{FF2B5EF4-FFF2-40B4-BE49-F238E27FC236}">
                  <a16:creationId xmlns:a16="http://schemas.microsoft.com/office/drawing/2014/main" id="{4465FD1F-C38E-B87B-6C48-5AE06FFC053B}"/>
                </a:ext>
              </a:extLst>
            </p:cNvPr>
            <p:cNvGrpSpPr/>
            <p:nvPr/>
          </p:nvGrpSpPr>
          <p:grpSpPr>
            <a:xfrm>
              <a:off x="4066186" y="7392552"/>
              <a:ext cx="933314" cy="261610"/>
              <a:chOff x="1168701" y="5655177"/>
              <a:chExt cx="933314" cy="261610"/>
            </a:xfrm>
          </p:grpSpPr>
          <p:sp>
            <p:nvSpPr>
              <p:cNvPr id="175" name="사각형: 둥근 모서리 174">
                <a:extLst>
                  <a:ext uri="{FF2B5EF4-FFF2-40B4-BE49-F238E27FC236}">
                    <a16:creationId xmlns:a16="http://schemas.microsoft.com/office/drawing/2014/main" id="{D8E12B3E-07CB-DBC8-5013-A2A40AE71B99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우유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3C1443B7-016A-3479-96D7-768FFEF3F387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78353DD5-451C-0F57-E998-168B60F772AD}"/>
                </a:ext>
              </a:extLst>
            </p:cNvPr>
            <p:cNvGrpSpPr/>
            <p:nvPr/>
          </p:nvGrpSpPr>
          <p:grpSpPr>
            <a:xfrm>
              <a:off x="5098256" y="7392552"/>
              <a:ext cx="933314" cy="261610"/>
              <a:chOff x="1168701" y="5655177"/>
              <a:chExt cx="933314" cy="261610"/>
            </a:xfrm>
          </p:grpSpPr>
          <p:sp>
            <p:nvSpPr>
              <p:cNvPr id="178" name="사각형: 둥근 모서리 177">
                <a:extLst>
                  <a:ext uri="{FF2B5EF4-FFF2-40B4-BE49-F238E27FC236}">
                    <a16:creationId xmlns:a16="http://schemas.microsoft.com/office/drawing/2014/main" id="{F7C083A7-D889-78B2-D24F-EF6420743F1E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파스타면</a:t>
                </a:r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FFFD0707-0AA7-E13E-3F30-2E8886FFDF13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14454424-4A93-AA24-85D1-AB089D1868C2}"/>
                </a:ext>
              </a:extLst>
            </p:cNvPr>
            <p:cNvGrpSpPr/>
            <p:nvPr/>
          </p:nvGrpSpPr>
          <p:grpSpPr>
            <a:xfrm>
              <a:off x="969973" y="7722401"/>
              <a:ext cx="933314" cy="261610"/>
              <a:chOff x="1168701" y="5655177"/>
              <a:chExt cx="933314" cy="261610"/>
            </a:xfrm>
          </p:grpSpPr>
          <p:sp>
            <p:nvSpPr>
              <p:cNvPr id="181" name="사각형: 둥근 모서리 180">
                <a:extLst>
                  <a:ext uri="{FF2B5EF4-FFF2-40B4-BE49-F238E27FC236}">
                    <a16:creationId xmlns:a16="http://schemas.microsoft.com/office/drawing/2014/main" id="{10846FF3-5B3B-3F84-1625-F01E699A7642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두부면</a:t>
                </a:r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5312E516-1719-5C81-26E1-809DD91367EE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5F788632-EF61-6706-D8D6-0E89BB1F6C3B}"/>
                </a:ext>
              </a:extLst>
            </p:cNvPr>
            <p:cNvSpPr txBox="1"/>
            <p:nvPr/>
          </p:nvSpPr>
          <p:spPr>
            <a:xfrm>
              <a:off x="2723624" y="7722401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2066" name="그룹 2065">
            <a:extLst>
              <a:ext uri="{FF2B5EF4-FFF2-40B4-BE49-F238E27FC236}">
                <a16:creationId xmlns:a16="http://schemas.microsoft.com/office/drawing/2014/main" id="{749A4790-3BF9-4770-FEC6-29E14DAC0542}"/>
              </a:ext>
            </a:extLst>
          </p:cNvPr>
          <p:cNvGrpSpPr/>
          <p:nvPr/>
        </p:nvGrpSpPr>
        <p:grpSpPr>
          <a:xfrm>
            <a:off x="787903" y="9088176"/>
            <a:ext cx="6043659" cy="1292586"/>
            <a:chOff x="787903" y="9088176"/>
            <a:chExt cx="6043659" cy="1292586"/>
          </a:xfrm>
        </p:grpSpPr>
        <p:sp>
          <p:nvSpPr>
            <p:cNvPr id="186" name="사각형: 둥근 모서리 185">
              <a:extLst>
                <a:ext uri="{FF2B5EF4-FFF2-40B4-BE49-F238E27FC236}">
                  <a16:creationId xmlns:a16="http://schemas.microsoft.com/office/drawing/2014/main" id="{02E3109D-B50A-0288-833F-B61BD2D0FFC1}"/>
                </a:ext>
              </a:extLst>
            </p:cNvPr>
            <p:cNvSpPr/>
            <p:nvPr/>
          </p:nvSpPr>
          <p:spPr>
            <a:xfrm>
              <a:off x="787903" y="9088176"/>
              <a:ext cx="6043659" cy="1292586"/>
            </a:xfrm>
            <a:prstGeom prst="roundRect">
              <a:avLst>
                <a:gd name="adj" fmla="val 8334"/>
              </a:avLst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사각형: 둥근 모서리 186">
              <a:extLst>
                <a:ext uri="{FF2B5EF4-FFF2-40B4-BE49-F238E27FC236}">
                  <a16:creationId xmlns:a16="http://schemas.microsoft.com/office/drawing/2014/main" id="{8E317321-1E48-153E-C951-79C73F1A397D}"/>
                </a:ext>
              </a:extLst>
            </p:cNvPr>
            <p:cNvSpPr/>
            <p:nvPr/>
          </p:nvSpPr>
          <p:spPr>
            <a:xfrm>
              <a:off x="6535080" y="9291171"/>
              <a:ext cx="139536" cy="43281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8" name="그룹 187">
              <a:extLst>
                <a:ext uri="{FF2B5EF4-FFF2-40B4-BE49-F238E27FC236}">
                  <a16:creationId xmlns:a16="http://schemas.microsoft.com/office/drawing/2014/main" id="{A2EAA3C9-62FD-E876-EE4B-97C18B06674C}"/>
                </a:ext>
              </a:extLst>
            </p:cNvPr>
            <p:cNvGrpSpPr/>
            <p:nvPr/>
          </p:nvGrpSpPr>
          <p:grpSpPr>
            <a:xfrm>
              <a:off x="964388" y="9254226"/>
              <a:ext cx="933314" cy="261610"/>
              <a:chOff x="1168701" y="5655177"/>
              <a:chExt cx="933314" cy="261610"/>
            </a:xfrm>
          </p:grpSpPr>
          <p:sp>
            <p:nvSpPr>
              <p:cNvPr id="189" name="사각형: 둥근 모서리 188">
                <a:extLst>
                  <a:ext uri="{FF2B5EF4-FFF2-40B4-BE49-F238E27FC236}">
                    <a16:creationId xmlns:a16="http://schemas.microsoft.com/office/drawing/2014/main" id="{45C60E97-1AE4-3CF3-64DB-643E11434032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아몬드</a:t>
                </a:r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E8617D17-7B31-361B-984B-A396131F98C1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91" name="그룹 190">
              <a:extLst>
                <a:ext uri="{FF2B5EF4-FFF2-40B4-BE49-F238E27FC236}">
                  <a16:creationId xmlns:a16="http://schemas.microsoft.com/office/drawing/2014/main" id="{8F0E4A5F-8146-12B0-435A-E34574F1825F}"/>
                </a:ext>
              </a:extLst>
            </p:cNvPr>
            <p:cNvGrpSpPr/>
            <p:nvPr/>
          </p:nvGrpSpPr>
          <p:grpSpPr>
            <a:xfrm>
              <a:off x="1996459" y="9254226"/>
              <a:ext cx="933314" cy="261610"/>
              <a:chOff x="1168701" y="5655177"/>
              <a:chExt cx="933314" cy="261610"/>
            </a:xfrm>
          </p:grpSpPr>
          <p:sp>
            <p:nvSpPr>
              <p:cNvPr id="2048" name="사각형: 둥근 모서리 2047">
                <a:extLst>
                  <a:ext uri="{FF2B5EF4-FFF2-40B4-BE49-F238E27FC236}">
                    <a16:creationId xmlns:a16="http://schemas.microsoft.com/office/drawing/2014/main" id="{887F2E20-6C68-106C-5279-F44BCFD63F19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양파</a:t>
                </a:r>
              </a:p>
            </p:txBody>
          </p:sp>
          <p:sp>
            <p:nvSpPr>
              <p:cNvPr id="2049" name="TextBox 2048">
                <a:extLst>
                  <a:ext uri="{FF2B5EF4-FFF2-40B4-BE49-F238E27FC236}">
                    <a16:creationId xmlns:a16="http://schemas.microsoft.com/office/drawing/2014/main" id="{EB174FC3-1C8B-F35A-B7FC-27AC2AD4AAA9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sp>
          <p:nvSpPr>
            <p:cNvPr id="2053" name="TextBox 2052">
              <a:extLst>
                <a:ext uri="{FF2B5EF4-FFF2-40B4-BE49-F238E27FC236}">
                  <a16:creationId xmlns:a16="http://schemas.microsoft.com/office/drawing/2014/main" id="{A54D0D52-CA6B-4C56-CDC9-B807871117F3}"/>
                </a:ext>
              </a:extLst>
            </p:cNvPr>
            <p:cNvSpPr txBox="1"/>
            <p:nvPr/>
          </p:nvSpPr>
          <p:spPr>
            <a:xfrm>
              <a:off x="3750110" y="9254226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056" name="TextBox 2055">
              <a:extLst>
                <a:ext uri="{FF2B5EF4-FFF2-40B4-BE49-F238E27FC236}">
                  <a16:creationId xmlns:a16="http://schemas.microsoft.com/office/drawing/2014/main" id="{593B3838-C154-E41C-D52C-08B9859CA423}"/>
                </a:ext>
              </a:extLst>
            </p:cNvPr>
            <p:cNvSpPr txBox="1"/>
            <p:nvPr/>
          </p:nvSpPr>
          <p:spPr>
            <a:xfrm>
              <a:off x="4782181" y="9254226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059" name="TextBox 2058">
              <a:extLst>
                <a:ext uri="{FF2B5EF4-FFF2-40B4-BE49-F238E27FC236}">
                  <a16:creationId xmlns:a16="http://schemas.microsoft.com/office/drawing/2014/main" id="{3208C629-C138-2F96-7308-B8527843A56A}"/>
                </a:ext>
              </a:extLst>
            </p:cNvPr>
            <p:cNvSpPr txBox="1"/>
            <p:nvPr/>
          </p:nvSpPr>
          <p:spPr>
            <a:xfrm>
              <a:off x="5814251" y="9254226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062" name="TextBox 2061">
              <a:extLst>
                <a:ext uri="{FF2B5EF4-FFF2-40B4-BE49-F238E27FC236}">
                  <a16:creationId xmlns:a16="http://schemas.microsoft.com/office/drawing/2014/main" id="{B828B2CD-D850-B0F9-C864-269A6A1B0E15}"/>
                </a:ext>
              </a:extLst>
            </p:cNvPr>
            <p:cNvSpPr txBox="1"/>
            <p:nvPr/>
          </p:nvSpPr>
          <p:spPr>
            <a:xfrm>
              <a:off x="1685968" y="9584075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cxnSp>
        <p:nvCxnSpPr>
          <p:cNvPr id="2071" name="직선 연결선 2070">
            <a:extLst>
              <a:ext uri="{FF2B5EF4-FFF2-40B4-BE49-F238E27FC236}">
                <a16:creationId xmlns:a16="http://schemas.microsoft.com/office/drawing/2014/main" id="{F6469B26-C9F9-3418-A056-A422DE173744}"/>
              </a:ext>
            </a:extLst>
          </p:cNvPr>
          <p:cNvCxnSpPr>
            <a:cxnSpLocks/>
          </p:cNvCxnSpPr>
          <p:nvPr/>
        </p:nvCxnSpPr>
        <p:spPr>
          <a:xfrm>
            <a:off x="381000" y="4965700"/>
            <a:ext cx="6450562" cy="0"/>
          </a:xfrm>
          <a:prstGeom prst="line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73" name="사각형: 둥근 모서리 2072">
            <a:extLst>
              <a:ext uri="{FF2B5EF4-FFF2-40B4-BE49-F238E27FC236}">
                <a16:creationId xmlns:a16="http://schemas.microsoft.com/office/drawing/2014/main" id="{A2F6CD30-33D9-FC53-3C6C-3E8068B72BFA}"/>
              </a:ext>
            </a:extLst>
          </p:cNvPr>
          <p:cNvSpPr/>
          <p:nvPr/>
        </p:nvSpPr>
        <p:spPr>
          <a:xfrm>
            <a:off x="682423" y="10900454"/>
            <a:ext cx="6087321" cy="2805297"/>
          </a:xfrm>
          <a:prstGeom prst="roundRect">
            <a:avLst>
              <a:gd name="adj" fmla="val 8518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추후 광고 추가 할 자리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&gt;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6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indent="0" algn="ctr">
              <a:buNone/>
            </a:pP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새로 </a:t>
            </a:r>
            <a:r>
              <a:rPr lang="ko-KR" altLang="en-US" sz="16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사야하는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는 </a:t>
            </a:r>
            <a:r>
              <a:rPr lang="ko-KR" altLang="en-US" sz="16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쿠팡이나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6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마켓컬리로</a:t>
            </a:r>
            <a:endParaRPr lang="en-US" altLang="ko-KR" sz="16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indent="0" algn="ctr">
              <a:buNone/>
            </a:pP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바로 이동 가능하게 하여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광고 삽입하기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E7693C0-C17F-42BE-87E5-1DE65EF2E231}"/>
              </a:ext>
            </a:extLst>
          </p:cNvPr>
          <p:cNvGrpSpPr/>
          <p:nvPr/>
        </p:nvGrpSpPr>
        <p:grpSpPr>
          <a:xfrm>
            <a:off x="1077858" y="3366159"/>
            <a:ext cx="4713603" cy="3250828"/>
            <a:chOff x="1271167" y="3999760"/>
            <a:chExt cx="4713603" cy="3250828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4C5F1A85-B232-E715-0141-7530B16C2107}"/>
                </a:ext>
              </a:extLst>
            </p:cNvPr>
            <p:cNvSpPr/>
            <p:nvPr/>
          </p:nvSpPr>
          <p:spPr>
            <a:xfrm>
              <a:off x="1271167" y="3999760"/>
              <a:ext cx="4713603" cy="3250828"/>
            </a:xfrm>
            <a:prstGeom prst="roundRect">
              <a:avLst>
                <a:gd name="adj" fmla="val 2707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373FB23-EBDD-030C-3A1E-C60A4194E4C8}"/>
                </a:ext>
              </a:extLst>
            </p:cNvPr>
            <p:cNvSpPr txBox="1"/>
            <p:nvPr/>
          </p:nvSpPr>
          <p:spPr>
            <a:xfrm>
              <a:off x="1750407" y="4223888"/>
              <a:ext cx="372444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재료의 상세 정보를 입력해 주세요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8D008D7-71A9-568B-CF92-EBBE2E249C3A}"/>
                </a:ext>
              </a:extLst>
            </p:cNvPr>
            <p:cNvSpPr txBox="1"/>
            <p:nvPr/>
          </p:nvSpPr>
          <p:spPr>
            <a:xfrm>
              <a:off x="1425078" y="4600118"/>
              <a:ext cx="372444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유통기한은 언제까지 인가요</a:t>
              </a:r>
              <a:r>
                <a:rPr lang="en-US" altLang="ko-KR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?</a:t>
              </a:r>
              <a:endParaRPr lang="ko-KR" altLang="en-US" sz="105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pic>
          <p:nvPicPr>
            <p:cNvPr id="33" name="Picture 2" descr="Datepicker Jquery 다중달력 등 다양한 옵션 : 네이버 블로그">
              <a:extLst>
                <a:ext uri="{FF2B5EF4-FFF2-40B4-BE49-F238E27FC236}">
                  <a16:creationId xmlns:a16="http://schemas.microsoft.com/office/drawing/2014/main" id="{10E16EEC-7EDF-CC32-7656-8F6DC7A98F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t="1" r="3592" b="1883"/>
            <a:stretch/>
          </p:blipFill>
          <p:spPr bwMode="auto">
            <a:xfrm>
              <a:off x="1519298" y="4817188"/>
              <a:ext cx="2777718" cy="23054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700F241-C6D2-B8E6-4268-8624025565CD}"/>
                </a:ext>
              </a:extLst>
            </p:cNvPr>
            <p:cNvCxnSpPr/>
            <p:nvPr/>
          </p:nvCxnSpPr>
          <p:spPr>
            <a:xfrm>
              <a:off x="1557639" y="4544060"/>
              <a:ext cx="412182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89810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DE86E-EEFB-ABE0-1D08-1BBF51F8A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>
            <a:extLst>
              <a:ext uri="{FF2B5EF4-FFF2-40B4-BE49-F238E27FC236}">
                <a16:creationId xmlns:a16="http://schemas.microsoft.com/office/drawing/2014/main" id="{B6934D42-1C35-4044-66C0-82CB1D0C92EA}"/>
              </a:ext>
            </a:extLst>
          </p:cNvPr>
          <p:cNvSpPr/>
          <p:nvPr/>
        </p:nvSpPr>
        <p:spPr>
          <a:xfrm>
            <a:off x="-11741" y="14382044"/>
            <a:ext cx="7211054" cy="109766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E7F2D4-05F8-257E-5547-7447EB712265}"/>
              </a:ext>
            </a:extLst>
          </p:cNvPr>
          <p:cNvSpPr txBox="1"/>
          <p:nvPr/>
        </p:nvSpPr>
        <p:spPr>
          <a:xfrm>
            <a:off x="-11741" y="16572249"/>
            <a:ext cx="7199313" cy="424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로그인을 하고 나면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배경은 화이트로 바뀐다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</a:p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홈페이지 메뉴 네비게이션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홈페이지의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메뉴바이다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일단 크게는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나의 냉장고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이렇게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네가지의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메뉴가 있음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현재 페이지는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페이지의 첫 페이지에 해당한다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비로그인 상태 가능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</a:t>
            </a:r>
          </a:p>
          <a:p>
            <a:pPr marL="215976" indent="-215976">
              <a:buFontTx/>
              <a:buChar char="-"/>
            </a:pP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해당 아이콘은 클릭이 안된 경우엔 아래 경로의 이미지 아이콘을 쓰고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화이트계열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pPr marL="215976" indent="-215976">
              <a:buFontTx/>
              <a:buChar char="-"/>
            </a:pP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"C:\Users\user\Desktop\RefrigeratorCode\frontend\src\assets\navigator_myfridge_white.png“</a:t>
            </a:r>
          </a:p>
          <a:p>
            <a:pPr marL="215976" indent="-215976">
              <a:buFontTx/>
              <a:buChar char="-"/>
            </a:pP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"C:\Users\user\Desktop\RefrigeratorCode\frontend\src\assets\navigator_myfridgerecipe_white.png“</a:t>
            </a:r>
          </a:p>
          <a:p>
            <a:pPr marL="215976" indent="-215976">
              <a:buFontTx/>
              <a:buChar char="-"/>
            </a:pP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"C:\Users\user\Desktop\RefrigeratorCode\frontend\src\assets\navigator_popularity_white.png“</a:t>
            </a:r>
          </a:p>
          <a:p>
            <a:pPr marL="215976" indent="-215976">
              <a:buFontTx/>
              <a:buChar char="-"/>
            </a:pP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"C:\Users\user\Desktop\RefrigeratorCode\frontend\src\assets\navigator_mypage_white.png“</a:t>
            </a:r>
          </a:p>
          <a:p>
            <a:pPr marL="215976" indent="-215976">
              <a:buFontTx/>
              <a:buChar char="-"/>
            </a:pP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클릭이 된 경우엔 아래 경로의 이미지 아이콘을 쓴다 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블랙계열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pPr marL="215976" indent="-215976">
              <a:buFontTx/>
              <a:buChar char="-"/>
            </a:pP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"C:\Users\user\Desktop\RefrigeratorCode\frontend\src\assets\navigator_myfridge_black.png“</a:t>
            </a:r>
          </a:p>
          <a:p>
            <a:pPr marL="215976" indent="-215976">
              <a:buFontTx/>
              <a:buChar char="-"/>
            </a:pP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"C:\Users\user\Desktop\RefrigeratorCode\frontend\src\assets\navigator_myfridgerecipe_black.png“</a:t>
            </a:r>
          </a:p>
          <a:p>
            <a:pPr marL="215976" indent="-215976">
              <a:buFontTx/>
              <a:buChar char="-"/>
            </a:pP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"C:\Users\user\Desktop\RefrigeratorCode\frontend\src\assets\navigator_popularity_black.png“</a:t>
            </a:r>
          </a:p>
          <a:p>
            <a:pPr marL="215976" indent="-215976">
              <a:buFontTx/>
              <a:buChar char="-"/>
            </a:pP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"C:\Users\user\Desktop\RefrigeratorCode\frontend\src\assets\navigator_mypage_black.png“</a:t>
            </a:r>
          </a:p>
          <a:p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지금은 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내 냉장고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 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페이지에 해당하니 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내 냉장고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에 해당하는 아이콘만 블랙 계열의 파일을 씀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Ⓑ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냉동실 선택창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이미지상의 냉동실을 선택하게 되면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우리집 냉동실안에 있는 재료들을 업데이트 할 수 있는 창으로 이동된다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ⓒ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냉장실 선택창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이미지상의 냉장실을 선택하게 되면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우리집 냉장실안에 있는 재료들을 업데이트 할 수 있는 창으로 이동된다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Ⓓ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실온보관 선택창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이미지상의 실온보관 공간을 선택하게 되면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우리집 실온보관실에 있는 재료들을 업데이트 할 수 있는 창으로 이동된다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4CAD33-DA89-6A79-DDAF-E89E27375573}"/>
              </a:ext>
            </a:extLst>
          </p:cNvPr>
          <p:cNvSpPr txBox="1"/>
          <p:nvPr/>
        </p:nvSpPr>
        <p:spPr>
          <a:xfrm>
            <a:off x="2" y="15880383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2267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A7466DC3-291B-587C-62E0-3B82EA26F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744" y="14658116"/>
            <a:ext cx="555464" cy="346419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E3FF710B-4582-220A-1D7E-CE3F3D02E9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587" y="14579721"/>
            <a:ext cx="449449" cy="50320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99815F4E-6B51-EFB1-CA8B-BC92EC37AC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441" y="14594658"/>
            <a:ext cx="430038" cy="473339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04B333A8-29C9-A2AC-5A31-A0690800138B}"/>
              </a:ext>
            </a:extLst>
          </p:cNvPr>
          <p:cNvSpPr txBox="1"/>
          <p:nvPr/>
        </p:nvSpPr>
        <p:spPr>
          <a:xfrm>
            <a:off x="102413" y="15163112"/>
            <a:ext cx="195903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42E972D-7C1B-D2BE-ED60-065C83392615}"/>
              </a:ext>
            </a:extLst>
          </p:cNvPr>
          <p:cNvSpPr txBox="1"/>
          <p:nvPr/>
        </p:nvSpPr>
        <p:spPr>
          <a:xfrm>
            <a:off x="1733775" y="15163112"/>
            <a:ext cx="220340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919489A-7E0D-AC5D-0FE4-8FC800D17225}"/>
              </a:ext>
            </a:extLst>
          </p:cNvPr>
          <p:cNvSpPr txBox="1"/>
          <p:nvPr/>
        </p:nvSpPr>
        <p:spPr>
          <a:xfrm>
            <a:off x="5713176" y="15163112"/>
            <a:ext cx="105656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5F1D6FA-004D-3B11-5D54-44FC8A0ECF3F}"/>
              </a:ext>
            </a:extLst>
          </p:cNvPr>
          <p:cNvSpPr txBox="1"/>
          <p:nvPr/>
        </p:nvSpPr>
        <p:spPr>
          <a:xfrm>
            <a:off x="3711516" y="15163112"/>
            <a:ext cx="163959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198C485E-7522-0E60-204D-C6D9199D77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14" y="14567779"/>
            <a:ext cx="298637" cy="527094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CCE03D41-DC90-FCC1-6BFF-9E8DA783D422}"/>
              </a:ext>
            </a:extLst>
          </p:cNvPr>
          <p:cNvSpPr txBox="1"/>
          <p:nvPr/>
        </p:nvSpPr>
        <p:spPr>
          <a:xfrm>
            <a:off x="1168701" y="16103985"/>
            <a:ext cx="518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ko-KR" altLang="en-US" sz="2267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24B1064-D0F7-5C0D-1E3B-0430A60219E8}"/>
              </a:ext>
            </a:extLst>
          </p:cNvPr>
          <p:cNvSpPr txBox="1"/>
          <p:nvPr/>
        </p:nvSpPr>
        <p:spPr>
          <a:xfrm>
            <a:off x="381000" y="4662540"/>
            <a:ext cx="266654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재료 관리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32FD744-6C23-8E1E-22E4-367285CDA00B}"/>
              </a:ext>
            </a:extLst>
          </p:cNvPr>
          <p:cNvSpPr txBox="1"/>
          <p:nvPr/>
        </p:nvSpPr>
        <p:spPr>
          <a:xfrm>
            <a:off x="630070" y="5037669"/>
            <a:ext cx="34319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냉동보관</a:t>
            </a:r>
            <a:r>
              <a:rPr lang="en-US" altLang="ko-KR" sz="15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🧊</a:t>
            </a:r>
            <a:endParaRPr lang="ko-KR" altLang="en-US" sz="15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CB311B2-C0FD-103F-AAD1-DF05E5C3CDA3}"/>
              </a:ext>
            </a:extLst>
          </p:cNvPr>
          <p:cNvSpPr txBox="1"/>
          <p:nvPr/>
        </p:nvSpPr>
        <p:spPr>
          <a:xfrm>
            <a:off x="630070" y="6861247"/>
            <a:ext cx="34319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냉장보관</a:t>
            </a:r>
            <a:r>
              <a:rPr lang="en-US" altLang="ko-KR" sz="15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❄️</a:t>
            </a:r>
            <a:endParaRPr lang="ko-KR" altLang="en-US" sz="15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4F19201-942F-D269-781C-5B1D352285F0}"/>
              </a:ext>
            </a:extLst>
          </p:cNvPr>
          <p:cNvSpPr txBox="1"/>
          <p:nvPr/>
        </p:nvSpPr>
        <p:spPr>
          <a:xfrm>
            <a:off x="630070" y="8684824"/>
            <a:ext cx="34319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실온보관</a:t>
            </a:r>
            <a:r>
              <a:rPr lang="en-US" altLang="ko-KR" sz="1500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🌡️</a:t>
            </a:r>
          </a:p>
        </p:txBody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740167F5-0489-DD80-9781-3916C72F66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230" y="722289"/>
            <a:ext cx="324772" cy="333416"/>
          </a:xfrm>
          <a:prstGeom prst="rect">
            <a:avLst/>
          </a:prstGeom>
        </p:spPr>
      </p:pic>
      <p:pic>
        <p:nvPicPr>
          <p:cNvPr id="122" name="그림 121">
            <a:extLst>
              <a:ext uri="{FF2B5EF4-FFF2-40B4-BE49-F238E27FC236}">
                <a16:creationId xmlns:a16="http://schemas.microsoft.com/office/drawing/2014/main" id="{811CF1D9-1B65-2AC8-B312-6B9036CDB4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81" y="705298"/>
            <a:ext cx="1006249" cy="367398"/>
          </a:xfrm>
          <a:prstGeom prst="rect">
            <a:avLst/>
          </a:prstGeom>
        </p:spPr>
      </p:pic>
      <p:sp>
        <p:nvSpPr>
          <p:cNvPr id="123" name="TextBox 122">
            <a:extLst>
              <a:ext uri="{FF2B5EF4-FFF2-40B4-BE49-F238E27FC236}">
                <a16:creationId xmlns:a16="http://schemas.microsoft.com/office/drawing/2014/main" id="{8FFC382C-5224-6B08-F778-AE5CFADA032E}"/>
              </a:ext>
            </a:extLst>
          </p:cNvPr>
          <p:cNvSpPr txBox="1"/>
          <p:nvPr/>
        </p:nvSpPr>
        <p:spPr>
          <a:xfrm>
            <a:off x="2254643" y="2412867"/>
            <a:ext cx="2666544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재료 추가</a:t>
            </a: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098D9003-F981-49DD-EB0A-A9488D423CCD}"/>
              </a:ext>
            </a:extLst>
          </p:cNvPr>
          <p:cNvSpPr/>
          <p:nvPr/>
        </p:nvSpPr>
        <p:spPr>
          <a:xfrm>
            <a:off x="1727805" y="2936959"/>
            <a:ext cx="3720496" cy="310174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428D178-93D4-776E-D4C7-5AF0C1823F7A}"/>
              </a:ext>
            </a:extLst>
          </p:cNvPr>
          <p:cNvSpPr txBox="1"/>
          <p:nvPr/>
        </p:nvSpPr>
        <p:spPr>
          <a:xfrm>
            <a:off x="1775013" y="2968334"/>
            <a:ext cx="2981023" cy="24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추가 할 재료들을 입력해주세요</a:t>
            </a:r>
          </a:p>
        </p:txBody>
      </p:sp>
      <p:grpSp>
        <p:nvGrpSpPr>
          <p:cNvPr id="2069" name="그룹 2068">
            <a:extLst>
              <a:ext uri="{FF2B5EF4-FFF2-40B4-BE49-F238E27FC236}">
                <a16:creationId xmlns:a16="http://schemas.microsoft.com/office/drawing/2014/main" id="{DC6404B1-5CAB-3AD4-0456-9A42BF100F6E}"/>
              </a:ext>
            </a:extLst>
          </p:cNvPr>
          <p:cNvGrpSpPr/>
          <p:nvPr/>
        </p:nvGrpSpPr>
        <p:grpSpPr>
          <a:xfrm>
            <a:off x="793488" y="5403042"/>
            <a:ext cx="6043659" cy="1292586"/>
            <a:chOff x="793488" y="5403042"/>
            <a:chExt cx="6043659" cy="1292586"/>
          </a:xfrm>
        </p:grpSpPr>
        <p:sp>
          <p:nvSpPr>
            <p:cNvPr id="101" name="사각형: 둥근 모서리 100">
              <a:extLst>
                <a:ext uri="{FF2B5EF4-FFF2-40B4-BE49-F238E27FC236}">
                  <a16:creationId xmlns:a16="http://schemas.microsoft.com/office/drawing/2014/main" id="{AAF8E0F5-BAC4-2D5C-C71B-B0ECA0F05D4F}"/>
                </a:ext>
              </a:extLst>
            </p:cNvPr>
            <p:cNvSpPr/>
            <p:nvPr/>
          </p:nvSpPr>
          <p:spPr>
            <a:xfrm>
              <a:off x="793488" y="5403042"/>
              <a:ext cx="6043659" cy="1292586"/>
            </a:xfrm>
            <a:prstGeom prst="roundRect">
              <a:avLst>
                <a:gd name="adj" fmla="val 8334"/>
              </a:avLst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사각형: 둥근 모서리 125">
              <a:extLst>
                <a:ext uri="{FF2B5EF4-FFF2-40B4-BE49-F238E27FC236}">
                  <a16:creationId xmlns:a16="http://schemas.microsoft.com/office/drawing/2014/main" id="{2A7B6CB1-FA5C-C9F2-088E-8344DF0774DF}"/>
                </a:ext>
              </a:extLst>
            </p:cNvPr>
            <p:cNvSpPr/>
            <p:nvPr/>
          </p:nvSpPr>
          <p:spPr>
            <a:xfrm>
              <a:off x="6540665" y="5606037"/>
              <a:ext cx="139536" cy="43281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4" name="그룹 143">
              <a:extLst>
                <a:ext uri="{FF2B5EF4-FFF2-40B4-BE49-F238E27FC236}">
                  <a16:creationId xmlns:a16="http://schemas.microsoft.com/office/drawing/2014/main" id="{394A56F2-9A56-951B-F398-B903E8377C34}"/>
                </a:ext>
              </a:extLst>
            </p:cNvPr>
            <p:cNvGrpSpPr/>
            <p:nvPr/>
          </p:nvGrpSpPr>
          <p:grpSpPr>
            <a:xfrm>
              <a:off x="969973" y="5569092"/>
              <a:ext cx="933314" cy="261610"/>
              <a:chOff x="1168701" y="5655177"/>
              <a:chExt cx="933314" cy="261610"/>
            </a:xfrm>
          </p:grpSpPr>
          <p:sp>
            <p:nvSpPr>
              <p:cNvPr id="127" name="사각형: 둥근 모서리 126">
                <a:extLst>
                  <a:ext uri="{FF2B5EF4-FFF2-40B4-BE49-F238E27FC236}">
                    <a16:creationId xmlns:a16="http://schemas.microsoft.com/office/drawing/2014/main" id="{13051AF9-4416-9B18-12C1-AF987ADBB9A2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청양고추</a:t>
                </a: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F7FB26EA-C1F6-5479-7483-9CA959A71394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A170A9C0-F8EC-F416-02E3-2C6684D44B10}"/>
                </a:ext>
              </a:extLst>
            </p:cNvPr>
            <p:cNvGrpSpPr/>
            <p:nvPr/>
          </p:nvGrpSpPr>
          <p:grpSpPr>
            <a:xfrm>
              <a:off x="2002044" y="5569092"/>
              <a:ext cx="933314" cy="261610"/>
              <a:chOff x="1168701" y="5655177"/>
              <a:chExt cx="933314" cy="261610"/>
            </a:xfrm>
          </p:grpSpPr>
          <p:sp>
            <p:nvSpPr>
              <p:cNvPr id="146" name="사각형: 둥근 모서리 145">
                <a:extLst>
                  <a:ext uri="{FF2B5EF4-FFF2-40B4-BE49-F238E27FC236}">
                    <a16:creationId xmlns:a16="http://schemas.microsoft.com/office/drawing/2014/main" id="{6697D74B-58E4-0A0B-E27C-C610EFF146CD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만두</a:t>
                </a: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B8347695-351A-DDC6-E255-79C4A9DA2622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B48A09D1-CF28-AEA2-3C5C-00727A82912E}"/>
                </a:ext>
              </a:extLst>
            </p:cNvPr>
            <p:cNvGrpSpPr/>
            <p:nvPr/>
          </p:nvGrpSpPr>
          <p:grpSpPr>
            <a:xfrm>
              <a:off x="3034115" y="5569092"/>
              <a:ext cx="933314" cy="261610"/>
              <a:chOff x="1168701" y="5655177"/>
              <a:chExt cx="933314" cy="261610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0AFB9AB0-7252-8959-7733-1C4EB7D1F65E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대파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1E955180-2362-7743-4777-194B8DCDFFDA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C033EEEA-F0CF-BD71-A8B5-5552F4A556C6}"/>
                </a:ext>
              </a:extLst>
            </p:cNvPr>
            <p:cNvGrpSpPr/>
            <p:nvPr/>
          </p:nvGrpSpPr>
          <p:grpSpPr>
            <a:xfrm>
              <a:off x="4066186" y="5569092"/>
              <a:ext cx="933314" cy="261610"/>
              <a:chOff x="1168701" y="5655177"/>
              <a:chExt cx="933314" cy="261610"/>
            </a:xfrm>
          </p:grpSpPr>
          <p:sp>
            <p:nvSpPr>
              <p:cNvPr id="152" name="사각형: 둥근 모서리 151">
                <a:extLst>
                  <a:ext uri="{FF2B5EF4-FFF2-40B4-BE49-F238E27FC236}">
                    <a16:creationId xmlns:a16="http://schemas.microsoft.com/office/drawing/2014/main" id="{97CBA325-586A-4D02-9895-1D0B17773974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표고버섯</a:t>
                </a: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EF323567-3507-046F-63B0-C255F9F07E97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54" name="그룹 153">
              <a:extLst>
                <a:ext uri="{FF2B5EF4-FFF2-40B4-BE49-F238E27FC236}">
                  <a16:creationId xmlns:a16="http://schemas.microsoft.com/office/drawing/2014/main" id="{12B6C4DA-3002-B620-67B2-3AB43B12A497}"/>
                </a:ext>
              </a:extLst>
            </p:cNvPr>
            <p:cNvGrpSpPr/>
            <p:nvPr/>
          </p:nvGrpSpPr>
          <p:grpSpPr>
            <a:xfrm>
              <a:off x="5098256" y="5569092"/>
              <a:ext cx="933314" cy="261610"/>
              <a:chOff x="1168701" y="5655177"/>
              <a:chExt cx="933314" cy="261610"/>
            </a:xfrm>
          </p:grpSpPr>
          <p:sp>
            <p:nvSpPr>
              <p:cNvPr id="155" name="사각형: 둥근 모서리 154">
                <a:extLst>
                  <a:ext uri="{FF2B5EF4-FFF2-40B4-BE49-F238E27FC236}">
                    <a16:creationId xmlns:a16="http://schemas.microsoft.com/office/drawing/2014/main" id="{A11487B4-3417-4120-8DA0-52A6EBD9E01A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떡갈비</a:t>
                </a: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11BC7352-E78F-F0A3-B6AC-96F4390B01FC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57" name="그룹 156">
              <a:extLst>
                <a:ext uri="{FF2B5EF4-FFF2-40B4-BE49-F238E27FC236}">
                  <a16:creationId xmlns:a16="http://schemas.microsoft.com/office/drawing/2014/main" id="{C6C40946-0CB7-CF5A-6BDD-B439EAD5A89A}"/>
                </a:ext>
              </a:extLst>
            </p:cNvPr>
            <p:cNvGrpSpPr/>
            <p:nvPr/>
          </p:nvGrpSpPr>
          <p:grpSpPr>
            <a:xfrm>
              <a:off x="969973" y="5898941"/>
              <a:ext cx="933314" cy="261610"/>
              <a:chOff x="1168701" y="5655177"/>
              <a:chExt cx="933314" cy="261610"/>
            </a:xfrm>
          </p:grpSpPr>
          <p:sp>
            <p:nvSpPr>
              <p:cNvPr id="158" name="사각형: 둥근 모서리 157">
                <a:extLst>
                  <a:ext uri="{FF2B5EF4-FFF2-40B4-BE49-F238E27FC236}">
                    <a16:creationId xmlns:a16="http://schemas.microsoft.com/office/drawing/2014/main" id="{40E16017-4180-007F-B9BA-A77C3CDD5C6E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청양고추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2E51240A-A105-FD83-3535-C4657A8AD226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67D77E1A-9A51-F916-57ED-11BD3501E470}"/>
                </a:ext>
              </a:extLst>
            </p:cNvPr>
            <p:cNvGrpSpPr/>
            <p:nvPr/>
          </p:nvGrpSpPr>
          <p:grpSpPr>
            <a:xfrm>
              <a:off x="2002044" y="5898941"/>
              <a:ext cx="933314" cy="261610"/>
              <a:chOff x="1168701" y="5655177"/>
              <a:chExt cx="933314" cy="261610"/>
            </a:xfrm>
          </p:grpSpPr>
          <p:sp>
            <p:nvSpPr>
              <p:cNvPr id="161" name="사각형: 둥근 모서리 160">
                <a:extLst>
                  <a:ext uri="{FF2B5EF4-FFF2-40B4-BE49-F238E27FC236}">
                    <a16:creationId xmlns:a16="http://schemas.microsoft.com/office/drawing/2014/main" id="{40F7BFE9-F84D-90B5-9B9D-122F2C7E3590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고구마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FEF7DED1-BDFD-3C0A-2389-BF6338CA14EE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grpSp>
        <p:nvGrpSpPr>
          <p:cNvPr id="2068" name="그룹 2067">
            <a:extLst>
              <a:ext uri="{FF2B5EF4-FFF2-40B4-BE49-F238E27FC236}">
                <a16:creationId xmlns:a16="http://schemas.microsoft.com/office/drawing/2014/main" id="{6725313C-6A78-5AC3-1503-005E9BD9D8DC}"/>
              </a:ext>
            </a:extLst>
          </p:cNvPr>
          <p:cNvGrpSpPr/>
          <p:nvPr/>
        </p:nvGrpSpPr>
        <p:grpSpPr>
          <a:xfrm>
            <a:off x="793488" y="7245609"/>
            <a:ext cx="6043659" cy="1292586"/>
            <a:chOff x="793488" y="7226502"/>
            <a:chExt cx="6043659" cy="1292586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E7688313-7C96-9B9D-534F-1579003B9ACE}"/>
                </a:ext>
              </a:extLst>
            </p:cNvPr>
            <p:cNvSpPr/>
            <p:nvPr/>
          </p:nvSpPr>
          <p:spPr>
            <a:xfrm>
              <a:off x="793488" y="7226502"/>
              <a:ext cx="6043659" cy="1292586"/>
            </a:xfrm>
            <a:prstGeom prst="roundRect">
              <a:avLst>
                <a:gd name="adj" fmla="val 8334"/>
              </a:avLst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사각형: 둥근 모서리 163">
              <a:extLst>
                <a:ext uri="{FF2B5EF4-FFF2-40B4-BE49-F238E27FC236}">
                  <a16:creationId xmlns:a16="http://schemas.microsoft.com/office/drawing/2014/main" id="{4A2350E6-DC3B-2A9A-88BA-DEE9238305DC}"/>
                </a:ext>
              </a:extLst>
            </p:cNvPr>
            <p:cNvSpPr/>
            <p:nvPr/>
          </p:nvSpPr>
          <p:spPr>
            <a:xfrm>
              <a:off x="6540665" y="7429497"/>
              <a:ext cx="139536" cy="43281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5" name="그룹 164">
              <a:extLst>
                <a:ext uri="{FF2B5EF4-FFF2-40B4-BE49-F238E27FC236}">
                  <a16:creationId xmlns:a16="http://schemas.microsoft.com/office/drawing/2014/main" id="{6AA26666-57FD-008F-6C41-7F69D29E72CD}"/>
                </a:ext>
              </a:extLst>
            </p:cNvPr>
            <p:cNvGrpSpPr/>
            <p:nvPr/>
          </p:nvGrpSpPr>
          <p:grpSpPr>
            <a:xfrm>
              <a:off x="969973" y="7392552"/>
              <a:ext cx="933314" cy="261610"/>
              <a:chOff x="1168701" y="5655177"/>
              <a:chExt cx="933314" cy="261610"/>
            </a:xfrm>
          </p:grpSpPr>
          <p:sp>
            <p:nvSpPr>
              <p:cNvPr id="166" name="사각형: 둥근 모서리 165">
                <a:extLst>
                  <a:ext uri="{FF2B5EF4-FFF2-40B4-BE49-F238E27FC236}">
                    <a16:creationId xmlns:a16="http://schemas.microsoft.com/office/drawing/2014/main" id="{63AF4D3E-6DC3-85AC-AA93-BC885782734B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계란</a:t>
                </a:r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1E03CB19-186D-51C3-E198-33E26AFF54DA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68" name="그룹 167">
              <a:extLst>
                <a:ext uri="{FF2B5EF4-FFF2-40B4-BE49-F238E27FC236}">
                  <a16:creationId xmlns:a16="http://schemas.microsoft.com/office/drawing/2014/main" id="{00F70A09-CE4E-82EB-0569-4246A556C50C}"/>
                </a:ext>
              </a:extLst>
            </p:cNvPr>
            <p:cNvGrpSpPr/>
            <p:nvPr/>
          </p:nvGrpSpPr>
          <p:grpSpPr>
            <a:xfrm>
              <a:off x="2002044" y="7392552"/>
              <a:ext cx="933314" cy="261610"/>
              <a:chOff x="1168701" y="5655177"/>
              <a:chExt cx="933314" cy="261610"/>
            </a:xfrm>
          </p:grpSpPr>
          <p:sp>
            <p:nvSpPr>
              <p:cNvPr id="169" name="사각형: 둥근 모서리 168">
                <a:extLst>
                  <a:ext uri="{FF2B5EF4-FFF2-40B4-BE49-F238E27FC236}">
                    <a16:creationId xmlns:a16="http://schemas.microsoft.com/office/drawing/2014/main" id="{3F1DAD2C-B5F5-7DDB-D15D-4C6FEC5924BE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두부</a:t>
                </a: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F7B60963-7F66-F492-1726-F89C5BAA7076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71" name="그룹 170">
              <a:extLst>
                <a:ext uri="{FF2B5EF4-FFF2-40B4-BE49-F238E27FC236}">
                  <a16:creationId xmlns:a16="http://schemas.microsoft.com/office/drawing/2014/main" id="{4225B1F1-B8A7-17F7-44F4-595F313F5710}"/>
                </a:ext>
              </a:extLst>
            </p:cNvPr>
            <p:cNvGrpSpPr/>
            <p:nvPr/>
          </p:nvGrpSpPr>
          <p:grpSpPr>
            <a:xfrm>
              <a:off x="3034115" y="7392552"/>
              <a:ext cx="933314" cy="261610"/>
              <a:chOff x="1168701" y="5655177"/>
              <a:chExt cx="933314" cy="261610"/>
            </a:xfrm>
          </p:grpSpPr>
          <p:sp>
            <p:nvSpPr>
              <p:cNvPr id="172" name="사각형: 둥근 모서리 171">
                <a:extLst>
                  <a:ext uri="{FF2B5EF4-FFF2-40B4-BE49-F238E27FC236}">
                    <a16:creationId xmlns:a16="http://schemas.microsoft.com/office/drawing/2014/main" id="{4D3C8EB4-89D9-D5F4-3EAB-27399943956C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쌈장</a:t>
                </a: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897ED30B-A9B2-744C-61EC-529B24009686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74" name="그룹 173">
              <a:extLst>
                <a:ext uri="{FF2B5EF4-FFF2-40B4-BE49-F238E27FC236}">
                  <a16:creationId xmlns:a16="http://schemas.microsoft.com/office/drawing/2014/main" id="{3C720ED8-FBF9-81B0-D7B6-B7E07FE60D85}"/>
                </a:ext>
              </a:extLst>
            </p:cNvPr>
            <p:cNvGrpSpPr/>
            <p:nvPr/>
          </p:nvGrpSpPr>
          <p:grpSpPr>
            <a:xfrm>
              <a:off x="4066186" y="7392552"/>
              <a:ext cx="933314" cy="261610"/>
              <a:chOff x="1168701" y="5655177"/>
              <a:chExt cx="933314" cy="261610"/>
            </a:xfrm>
          </p:grpSpPr>
          <p:sp>
            <p:nvSpPr>
              <p:cNvPr id="175" name="사각형: 둥근 모서리 174">
                <a:extLst>
                  <a:ext uri="{FF2B5EF4-FFF2-40B4-BE49-F238E27FC236}">
                    <a16:creationId xmlns:a16="http://schemas.microsoft.com/office/drawing/2014/main" id="{50BB01A3-734C-F214-A68C-BD9E6D0C1A44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우유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7356AD16-6F79-59A5-0AA0-A32A608B1923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DDDE1716-51FF-90C3-1DF7-4EB27DB4250F}"/>
                </a:ext>
              </a:extLst>
            </p:cNvPr>
            <p:cNvGrpSpPr/>
            <p:nvPr/>
          </p:nvGrpSpPr>
          <p:grpSpPr>
            <a:xfrm>
              <a:off x="5098256" y="7392552"/>
              <a:ext cx="933314" cy="261610"/>
              <a:chOff x="1168701" y="5655177"/>
              <a:chExt cx="933314" cy="261610"/>
            </a:xfrm>
          </p:grpSpPr>
          <p:sp>
            <p:nvSpPr>
              <p:cNvPr id="178" name="사각형: 둥근 모서리 177">
                <a:extLst>
                  <a:ext uri="{FF2B5EF4-FFF2-40B4-BE49-F238E27FC236}">
                    <a16:creationId xmlns:a16="http://schemas.microsoft.com/office/drawing/2014/main" id="{26B24236-6475-FAE7-235D-DF0C5C3EEA98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파스타면</a:t>
                </a:r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2132FB9A-DC09-4E85-5498-4C6FD67A0150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3A87694D-D1B0-0D7C-8AD4-F7354413C745}"/>
                </a:ext>
              </a:extLst>
            </p:cNvPr>
            <p:cNvGrpSpPr/>
            <p:nvPr/>
          </p:nvGrpSpPr>
          <p:grpSpPr>
            <a:xfrm>
              <a:off x="969973" y="7722401"/>
              <a:ext cx="933314" cy="261610"/>
              <a:chOff x="1168701" y="5655177"/>
              <a:chExt cx="933314" cy="261610"/>
            </a:xfrm>
          </p:grpSpPr>
          <p:sp>
            <p:nvSpPr>
              <p:cNvPr id="181" name="사각형: 둥근 모서리 180">
                <a:extLst>
                  <a:ext uri="{FF2B5EF4-FFF2-40B4-BE49-F238E27FC236}">
                    <a16:creationId xmlns:a16="http://schemas.microsoft.com/office/drawing/2014/main" id="{EF36791B-1016-B4C5-40F3-95AB9C49C791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두부면</a:t>
                </a:r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56BB7E44-7085-56FC-5768-44D930BB537B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6F2D839A-F99B-209C-C4F5-809A216A7AFF}"/>
                </a:ext>
              </a:extLst>
            </p:cNvPr>
            <p:cNvSpPr txBox="1"/>
            <p:nvPr/>
          </p:nvSpPr>
          <p:spPr>
            <a:xfrm>
              <a:off x="2723624" y="7722401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2066" name="그룹 2065">
            <a:extLst>
              <a:ext uri="{FF2B5EF4-FFF2-40B4-BE49-F238E27FC236}">
                <a16:creationId xmlns:a16="http://schemas.microsoft.com/office/drawing/2014/main" id="{04564740-65DA-8376-04E9-BE619C6E3758}"/>
              </a:ext>
            </a:extLst>
          </p:cNvPr>
          <p:cNvGrpSpPr/>
          <p:nvPr/>
        </p:nvGrpSpPr>
        <p:grpSpPr>
          <a:xfrm>
            <a:off x="787903" y="9088176"/>
            <a:ext cx="6043659" cy="1292586"/>
            <a:chOff x="787903" y="9088176"/>
            <a:chExt cx="6043659" cy="1292586"/>
          </a:xfrm>
        </p:grpSpPr>
        <p:sp>
          <p:nvSpPr>
            <p:cNvPr id="186" name="사각형: 둥근 모서리 185">
              <a:extLst>
                <a:ext uri="{FF2B5EF4-FFF2-40B4-BE49-F238E27FC236}">
                  <a16:creationId xmlns:a16="http://schemas.microsoft.com/office/drawing/2014/main" id="{BC583856-F2AF-B401-45D2-5E06FA408B6C}"/>
                </a:ext>
              </a:extLst>
            </p:cNvPr>
            <p:cNvSpPr/>
            <p:nvPr/>
          </p:nvSpPr>
          <p:spPr>
            <a:xfrm>
              <a:off x="787903" y="9088176"/>
              <a:ext cx="6043659" cy="1292586"/>
            </a:xfrm>
            <a:prstGeom prst="roundRect">
              <a:avLst>
                <a:gd name="adj" fmla="val 8334"/>
              </a:avLst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사각형: 둥근 모서리 186">
              <a:extLst>
                <a:ext uri="{FF2B5EF4-FFF2-40B4-BE49-F238E27FC236}">
                  <a16:creationId xmlns:a16="http://schemas.microsoft.com/office/drawing/2014/main" id="{C3AD92EB-3FF1-6A89-8B57-7FBEB2C83AB4}"/>
                </a:ext>
              </a:extLst>
            </p:cNvPr>
            <p:cNvSpPr/>
            <p:nvPr/>
          </p:nvSpPr>
          <p:spPr>
            <a:xfrm>
              <a:off x="6535080" y="9291171"/>
              <a:ext cx="139536" cy="43281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8" name="그룹 187">
              <a:extLst>
                <a:ext uri="{FF2B5EF4-FFF2-40B4-BE49-F238E27FC236}">
                  <a16:creationId xmlns:a16="http://schemas.microsoft.com/office/drawing/2014/main" id="{DBA08305-5111-B7FB-284B-2806F87C871A}"/>
                </a:ext>
              </a:extLst>
            </p:cNvPr>
            <p:cNvGrpSpPr/>
            <p:nvPr/>
          </p:nvGrpSpPr>
          <p:grpSpPr>
            <a:xfrm>
              <a:off x="964388" y="9254226"/>
              <a:ext cx="933314" cy="261610"/>
              <a:chOff x="1168701" y="5655177"/>
              <a:chExt cx="933314" cy="261610"/>
            </a:xfrm>
          </p:grpSpPr>
          <p:sp>
            <p:nvSpPr>
              <p:cNvPr id="189" name="사각형: 둥근 모서리 188">
                <a:extLst>
                  <a:ext uri="{FF2B5EF4-FFF2-40B4-BE49-F238E27FC236}">
                    <a16:creationId xmlns:a16="http://schemas.microsoft.com/office/drawing/2014/main" id="{1F40403A-2273-4E49-AEDD-577D2C684F3E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아몬드</a:t>
                </a:r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877B5BF6-038D-1A6E-4D71-A839267A301C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91" name="그룹 190">
              <a:extLst>
                <a:ext uri="{FF2B5EF4-FFF2-40B4-BE49-F238E27FC236}">
                  <a16:creationId xmlns:a16="http://schemas.microsoft.com/office/drawing/2014/main" id="{8559F282-97BF-F575-16B4-BE7D070315C2}"/>
                </a:ext>
              </a:extLst>
            </p:cNvPr>
            <p:cNvGrpSpPr/>
            <p:nvPr/>
          </p:nvGrpSpPr>
          <p:grpSpPr>
            <a:xfrm>
              <a:off x="1996459" y="9254226"/>
              <a:ext cx="933314" cy="261610"/>
              <a:chOff x="1168701" y="5655177"/>
              <a:chExt cx="933314" cy="261610"/>
            </a:xfrm>
          </p:grpSpPr>
          <p:sp>
            <p:nvSpPr>
              <p:cNvPr id="2048" name="사각형: 둥근 모서리 2047">
                <a:extLst>
                  <a:ext uri="{FF2B5EF4-FFF2-40B4-BE49-F238E27FC236}">
                    <a16:creationId xmlns:a16="http://schemas.microsoft.com/office/drawing/2014/main" id="{42AC031A-D2D8-6977-D376-B4EDD5F908B5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양파</a:t>
                </a:r>
              </a:p>
            </p:txBody>
          </p:sp>
          <p:sp>
            <p:nvSpPr>
              <p:cNvPr id="2049" name="TextBox 2048">
                <a:extLst>
                  <a:ext uri="{FF2B5EF4-FFF2-40B4-BE49-F238E27FC236}">
                    <a16:creationId xmlns:a16="http://schemas.microsoft.com/office/drawing/2014/main" id="{9FEA8975-88C2-1580-3634-7DC100563590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sp>
          <p:nvSpPr>
            <p:cNvPr id="2053" name="TextBox 2052">
              <a:extLst>
                <a:ext uri="{FF2B5EF4-FFF2-40B4-BE49-F238E27FC236}">
                  <a16:creationId xmlns:a16="http://schemas.microsoft.com/office/drawing/2014/main" id="{56F32C40-F4B9-C38F-9D55-D6E0A04F3C9C}"/>
                </a:ext>
              </a:extLst>
            </p:cNvPr>
            <p:cNvSpPr txBox="1"/>
            <p:nvPr/>
          </p:nvSpPr>
          <p:spPr>
            <a:xfrm>
              <a:off x="3750110" y="9254226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056" name="TextBox 2055">
              <a:extLst>
                <a:ext uri="{FF2B5EF4-FFF2-40B4-BE49-F238E27FC236}">
                  <a16:creationId xmlns:a16="http://schemas.microsoft.com/office/drawing/2014/main" id="{D52AF290-633E-CE9C-8524-5F8E0275CED4}"/>
                </a:ext>
              </a:extLst>
            </p:cNvPr>
            <p:cNvSpPr txBox="1"/>
            <p:nvPr/>
          </p:nvSpPr>
          <p:spPr>
            <a:xfrm>
              <a:off x="4782181" y="9254226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059" name="TextBox 2058">
              <a:extLst>
                <a:ext uri="{FF2B5EF4-FFF2-40B4-BE49-F238E27FC236}">
                  <a16:creationId xmlns:a16="http://schemas.microsoft.com/office/drawing/2014/main" id="{B94D7495-D541-5012-5649-90B733941C47}"/>
                </a:ext>
              </a:extLst>
            </p:cNvPr>
            <p:cNvSpPr txBox="1"/>
            <p:nvPr/>
          </p:nvSpPr>
          <p:spPr>
            <a:xfrm>
              <a:off x="5814251" y="9254226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062" name="TextBox 2061">
              <a:extLst>
                <a:ext uri="{FF2B5EF4-FFF2-40B4-BE49-F238E27FC236}">
                  <a16:creationId xmlns:a16="http://schemas.microsoft.com/office/drawing/2014/main" id="{22074AA0-352C-5A2A-5CB4-842CE8B95E1C}"/>
                </a:ext>
              </a:extLst>
            </p:cNvPr>
            <p:cNvSpPr txBox="1"/>
            <p:nvPr/>
          </p:nvSpPr>
          <p:spPr>
            <a:xfrm>
              <a:off x="1685968" y="9584075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cxnSp>
        <p:nvCxnSpPr>
          <p:cNvPr id="2071" name="직선 연결선 2070">
            <a:extLst>
              <a:ext uri="{FF2B5EF4-FFF2-40B4-BE49-F238E27FC236}">
                <a16:creationId xmlns:a16="http://schemas.microsoft.com/office/drawing/2014/main" id="{DB05D3F3-E8EF-E0FD-188E-05941F42C2A0}"/>
              </a:ext>
            </a:extLst>
          </p:cNvPr>
          <p:cNvCxnSpPr>
            <a:cxnSpLocks/>
          </p:cNvCxnSpPr>
          <p:nvPr/>
        </p:nvCxnSpPr>
        <p:spPr>
          <a:xfrm>
            <a:off x="381000" y="4965700"/>
            <a:ext cx="6450562" cy="0"/>
          </a:xfrm>
          <a:prstGeom prst="line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73" name="사각형: 둥근 모서리 2072">
            <a:extLst>
              <a:ext uri="{FF2B5EF4-FFF2-40B4-BE49-F238E27FC236}">
                <a16:creationId xmlns:a16="http://schemas.microsoft.com/office/drawing/2014/main" id="{2D33D610-078A-6916-4546-D5B41033174B}"/>
              </a:ext>
            </a:extLst>
          </p:cNvPr>
          <p:cNvSpPr/>
          <p:nvPr/>
        </p:nvSpPr>
        <p:spPr>
          <a:xfrm>
            <a:off x="682423" y="10900454"/>
            <a:ext cx="6087321" cy="2805297"/>
          </a:xfrm>
          <a:prstGeom prst="roundRect">
            <a:avLst>
              <a:gd name="adj" fmla="val 8518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추후 광고 추가 할 자리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&gt;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6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indent="0" algn="ctr">
              <a:buNone/>
            </a:pP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새로 </a:t>
            </a:r>
            <a:r>
              <a:rPr lang="ko-KR" altLang="en-US" sz="16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사야하는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는 </a:t>
            </a:r>
            <a:r>
              <a:rPr lang="ko-KR" altLang="en-US" sz="16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쿠팡이나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6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마켓컬리로</a:t>
            </a:r>
            <a:endParaRPr lang="en-US" altLang="ko-KR" sz="16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indent="0" algn="ctr">
              <a:buNone/>
            </a:pP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바로 이동 가능하게 하여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광고 삽입하기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8C3C9AA4-EA65-468B-C75C-50AFEA698FA2}"/>
              </a:ext>
            </a:extLst>
          </p:cNvPr>
          <p:cNvGrpSpPr/>
          <p:nvPr/>
        </p:nvGrpSpPr>
        <p:grpSpPr>
          <a:xfrm>
            <a:off x="1077858" y="3366159"/>
            <a:ext cx="4713603" cy="3250828"/>
            <a:chOff x="1271167" y="3999760"/>
            <a:chExt cx="4713603" cy="3250828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559ADD64-EC68-0447-6ED2-06CD0123C5F0}"/>
                </a:ext>
              </a:extLst>
            </p:cNvPr>
            <p:cNvSpPr/>
            <p:nvPr/>
          </p:nvSpPr>
          <p:spPr>
            <a:xfrm>
              <a:off x="1271167" y="3999760"/>
              <a:ext cx="4713603" cy="3250828"/>
            </a:xfrm>
            <a:prstGeom prst="roundRect">
              <a:avLst>
                <a:gd name="adj" fmla="val 2707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2556E4F-75ED-C619-518E-BF45FEAC719C}"/>
                </a:ext>
              </a:extLst>
            </p:cNvPr>
            <p:cNvSpPr txBox="1"/>
            <p:nvPr/>
          </p:nvSpPr>
          <p:spPr>
            <a:xfrm>
              <a:off x="1750407" y="4223888"/>
              <a:ext cx="372444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재료의 상세 정보를 입력해 주세요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8E37EFB-AE54-7379-26CB-144DF9C9D43C}"/>
                </a:ext>
              </a:extLst>
            </p:cNvPr>
            <p:cNvSpPr txBox="1"/>
            <p:nvPr/>
          </p:nvSpPr>
          <p:spPr>
            <a:xfrm>
              <a:off x="1425078" y="4600118"/>
              <a:ext cx="372444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구매시점은 언제 인가요</a:t>
              </a:r>
              <a:r>
                <a:rPr lang="en-US" altLang="ko-KR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?</a:t>
              </a:r>
              <a:endParaRPr lang="ko-KR" altLang="en-US" sz="105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pic>
          <p:nvPicPr>
            <p:cNvPr id="33" name="Picture 2" descr="Datepicker Jquery 다중달력 등 다양한 옵션 : 네이버 블로그">
              <a:extLst>
                <a:ext uri="{FF2B5EF4-FFF2-40B4-BE49-F238E27FC236}">
                  <a16:creationId xmlns:a16="http://schemas.microsoft.com/office/drawing/2014/main" id="{88E9D3E8-CE5B-21BC-D5A2-F2B8E63434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t="1" r="3592" b="1883"/>
            <a:stretch/>
          </p:blipFill>
          <p:spPr bwMode="auto">
            <a:xfrm>
              <a:off x="1519298" y="4817188"/>
              <a:ext cx="2777718" cy="23054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0DD9FC73-2E63-14E7-CAAA-2A0A29CB1801}"/>
                </a:ext>
              </a:extLst>
            </p:cNvPr>
            <p:cNvCxnSpPr/>
            <p:nvPr/>
          </p:nvCxnSpPr>
          <p:spPr>
            <a:xfrm>
              <a:off x="1557639" y="4544060"/>
              <a:ext cx="412182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36994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DB44D-8F7A-F1C6-3FFA-BDBC33256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A6F9D57-24A3-7978-AF68-8F2AA5BD6616}"/>
              </a:ext>
            </a:extLst>
          </p:cNvPr>
          <p:cNvSpPr/>
          <p:nvPr/>
        </p:nvSpPr>
        <p:spPr>
          <a:xfrm>
            <a:off x="-1" y="2482340"/>
            <a:ext cx="7199313" cy="7853795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058804B9-6F91-071F-A068-DE229DDE26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8652" b="81055" l="4883" r="31934">
                        <a14:foregroundMark x1="14551" y1="28223" x2="18066" y2="38086"/>
                        <a14:foregroundMark x1="20313" y1="20898" x2="25391" y2="21387"/>
                        <a14:foregroundMark x1="9766" y1="31934" x2="11523" y2="40234"/>
                        <a14:foregroundMark x1="9375" y1="54199" x2="15527" y2="77148"/>
                        <a14:foregroundMark x1="15527" y1="77148" x2="17480" y2="80176"/>
                        <a14:foregroundMark x1="24414" y1="76172" x2="20313" y2="78711"/>
                        <a14:foregroundMark x1="29199" y1="75977" x2="29785" y2="77734"/>
                        <a14:foregroundMark x1="28711" y1="80664" x2="28125" y2="81055"/>
                        <a14:foregroundMark x1="7227" y1="19141" x2="9961" y2="19141"/>
                        <a14:foregroundMark x1="15820" y1="18945" x2="18164" y2="19141"/>
                        <a14:foregroundMark x1="9082" y1="19043" x2="10840" y2="19141"/>
                        <a14:foregroundMark x1="9277" y1="18652" x2="11328" y2="19043"/>
                      </a14:backgroundRemoval>
                    </a14:imgEffect>
                  </a14:imgLayer>
                </a14:imgProps>
              </a:ext>
            </a:extLst>
          </a:blip>
          <a:srcRect l="1638" t="16019" r="64572" b="18960"/>
          <a:stretch/>
        </p:blipFill>
        <p:spPr>
          <a:xfrm>
            <a:off x="851583" y="4184441"/>
            <a:ext cx="2965910" cy="5707213"/>
          </a:xfrm>
          <a:prstGeom prst="rect">
            <a:avLst/>
          </a:prstGeom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3B64FB3-BB06-921B-8FE8-57D7D3F9B894}"/>
              </a:ext>
            </a:extLst>
          </p:cNvPr>
          <p:cNvCxnSpPr>
            <a:cxnSpLocks/>
          </p:cNvCxnSpPr>
          <p:nvPr/>
        </p:nvCxnSpPr>
        <p:spPr>
          <a:xfrm>
            <a:off x="-1" y="2454233"/>
            <a:ext cx="7199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86752497-5BE3-A6B1-5255-87505E49BF5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" r="251"/>
          <a:stretch/>
        </p:blipFill>
        <p:spPr>
          <a:xfrm>
            <a:off x="-1" y="2480172"/>
            <a:ext cx="7199313" cy="3296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97EECAE-9474-58C2-9453-11DF3160EB8E}"/>
              </a:ext>
            </a:extLst>
          </p:cNvPr>
          <p:cNvSpPr txBox="1"/>
          <p:nvPr/>
        </p:nvSpPr>
        <p:spPr>
          <a:xfrm>
            <a:off x="-1" y="11080628"/>
            <a:ext cx="7199313" cy="2108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홈페이지 메뉴 네비게이션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홈페이지의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메뉴바이다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일단 크게는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나의 냉장고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레시피 추천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이렇게 세가지의 메뉴가 있음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현재 페이지는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페이지의 첫 페이지에 해당한다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비로그인 상태 가능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Ⓑ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냉동실 선택창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이미지상의 냉동실을 선택하게 되면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우리집 냉동실안에 있는 재료들을 업데이트 할 수 있는 창으로 이동된다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ⓒ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냉장실 선택창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이미지상의 냉장실을 선택하게 되면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우리집 냉장실안에 있는 재료들을 업데이트 할 수 있는 창으로 이동된다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Ⓓ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실온보관 선택창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이미지상의 실온보관 공간을 선택하게 되면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우리집 실온보관실에 있는 재료들을 업데이트 할 수 있는 창으로 이동된다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9B0D27-33DD-6559-F1E3-0182F9DA6CE7}"/>
              </a:ext>
            </a:extLst>
          </p:cNvPr>
          <p:cNvSpPr txBox="1"/>
          <p:nvPr/>
        </p:nvSpPr>
        <p:spPr>
          <a:xfrm>
            <a:off x="1373611" y="3917104"/>
            <a:ext cx="4452088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먼저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재료가 놓여진 공간을 선택해주세요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A6B085-6877-17D6-4CA1-E5B2381674F2}"/>
              </a:ext>
            </a:extLst>
          </p:cNvPr>
          <p:cNvSpPr txBox="1"/>
          <p:nvPr/>
        </p:nvSpPr>
        <p:spPr>
          <a:xfrm>
            <a:off x="957280" y="4443101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ⓑ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61533B-ABBC-8107-EE37-3A19A3D44CA1}"/>
              </a:ext>
            </a:extLst>
          </p:cNvPr>
          <p:cNvSpPr txBox="1"/>
          <p:nvPr/>
        </p:nvSpPr>
        <p:spPr>
          <a:xfrm>
            <a:off x="919919" y="6281448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ⓒ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6E97FC6-B76A-F138-F60A-6009566AD274}"/>
              </a:ext>
            </a:extLst>
          </p:cNvPr>
          <p:cNvSpPr txBox="1"/>
          <p:nvPr/>
        </p:nvSpPr>
        <p:spPr>
          <a:xfrm>
            <a:off x="2" y="1980409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UI 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구성</a:t>
            </a:r>
            <a:endParaRPr lang="ko-KR" altLang="en-US" sz="2267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8635AB-004E-BA17-919A-124F8D1DCB2D}"/>
              </a:ext>
            </a:extLst>
          </p:cNvPr>
          <p:cNvSpPr txBox="1"/>
          <p:nvPr/>
        </p:nvSpPr>
        <p:spPr>
          <a:xfrm>
            <a:off x="2" y="10388766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2267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3AAB1D-06AE-3973-4B10-5644EBD0ABA1}"/>
              </a:ext>
            </a:extLst>
          </p:cNvPr>
          <p:cNvSpPr txBox="1"/>
          <p:nvPr/>
        </p:nvSpPr>
        <p:spPr>
          <a:xfrm>
            <a:off x="450132" y="3360446"/>
            <a:ext cx="6275566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사용자 닉네임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]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님의 보관 중인 재료를 냉장실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냉동실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실온으로 나눠 입력해보세요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</a:p>
          <a:p>
            <a:pPr algn="ctr"/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내가 갖고 있는 재료를 입력하면 더 정확한 레시피 추천을 받을 수 있어요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  <a:endParaRPr lang="ko-KR" altLang="en-US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47B379B0-790A-0EE9-5C34-BF6E606556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5428" y="5054187"/>
            <a:ext cx="3700272" cy="5223436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E5811C77-D7AB-8934-6AA6-70F0F60F69D9}"/>
              </a:ext>
            </a:extLst>
          </p:cNvPr>
          <p:cNvSpPr txBox="1"/>
          <p:nvPr/>
        </p:nvSpPr>
        <p:spPr>
          <a:xfrm>
            <a:off x="3754423" y="5318218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Ⓓ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331B50-FFA3-F62F-B0FB-96D80C5E9909}"/>
              </a:ext>
            </a:extLst>
          </p:cNvPr>
          <p:cNvSpPr txBox="1"/>
          <p:nvPr/>
        </p:nvSpPr>
        <p:spPr>
          <a:xfrm>
            <a:off x="213617" y="3024667"/>
            <a:ext cx="1109824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CEFEADF-BA97-B8D0-6F1A-9DA7CD350921}"/>
              </a:ext>
            </a:extLst>
          </p:cNvPr>
          <p:cNvSpPr txBox="1"/>
          <p:nvPr/>
        </p:nvSpPr>
        <p:spPr>
          <a:xfrm>
            <a:off x="1476515" y="3026376"/>
            <a:ext cx="1248260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4ACBB9F-75D6-320B-DC88-E7816EE8DC0F}"/>
              </a:ext>
            </a:extLst>
          </p:cNvPr>
          <p:cNvSpPr txBox="1"/>
          <p:nvPr/>
        </p:nvSpPr>
        <p:spPr>
          <a:xfrm>
            <a:off x="3978103" y="3024667"/>
            <a:ext cx="598561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A4A85B-AE77-4087-08C9-2063FAD0702B}"/>
              </a:ext>
            </a:extLst>
          </p:cNvPr>
          <p:cNvSpPr txBox="1"/>
          <p:nvPr/>
        </p:nvSpPr>
        <p:spPr>
          <a:xfrm>
            <a:off x="4650690" y="2985634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ⓐ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99D81B-2841-E4BE-5F97-67B1E2136156}"/>
              </a:ext>
            </a:extLst>
          </p:cNvPr>
          <p:cNvSpPr txBox="1"/>
          <p:nvPr/>
        </p:nvSpPr>
        <p:spPr>
          <a:xfrm>
            <a:off x="2896176" y="3024667"/>
            <a:ext cx="928852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</p:spTree>
    <p:extLst>
      <p:ext uri="{BB962C8B-B14F-4D97-AF65-F5344CB8AC3E}">
        <p14:creationId xmlns:p14="http://schemas.microsoft.com/office/powerpoint/2010/main" val="3976485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A2789-A871-6E3C-3CBF-2235FA66E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54720F4-4DDA-5DCA-DF80-13FD2E1F3C05}"/>
              </a:ext>
            </a:extLst>
          </p:cNvPr>
          <p:cNvSpPr/>
          <p:nvPr/>
        </p:nvSpPr>
        <p:spPr>
          <a:xfrm>
            <a:off x="-1" y="2447830"/>
            <a:ext cx="7199313" cy="8272664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4464032-2261-8FFB-F968-EB8039570A91}"/>
              </a:ext>
            </a:extLst>
          </p:cNvPr>
          <p:cNvCxnSpPr>
            <a:cxnSpLocks/>
          </p:cNvCxnSpPr>
          <p:nvPr/>
        </p:nvCxnSpPr>
        <p:spPr>
          <a:xfrm>
            <a:off x="-1" y="2419727"/>
            <a:ext cx="7199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D8AFB1B4-FCA0-9F15-9548-4D1F983A5D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251"/>
          <a:stretch/>
        </p:blipFill>
        <p:spPr>
          <a:xfrm>
            <a:off x="-1" y="2445666"/>
            <a:ext cx="7199313" cy="329625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44D92F6-ADD4-8FA2-F4F4-12B95E7724DA}"/>
              </a:ext>
            </a:extLst>
          </p:cNvPr>
          <p:cNvSpPr/>
          <p:nvPr/>
        </p:nvSpPr>
        <p:spPr>
          <a:xfrm>
            <a:off x="1255829" y="3584587"/>
            <a:ext cx="4713603" cy="31017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89C72E-730B-8AA5-7CEC-C97D0A53681F}"/>
              </a:ext>
            </a:extLst>
          </p:cNvPr>
          <p:cNvSpPr txBox="1"/>
          <p:nvPr/>
        </p:nvSpPr>
        <p:spPr>
          <a:xfrm>
            <a:off x="1281772" y="3613875"/>
            <a:ext cx="5305688" cy="24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[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사용자 닉네임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]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님이 갖고 있는 냉동실 속 재료를 입력해주세요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51DA11-931E-AE4F-EC3F-41A6DEDE75DD}"/>
              </a:ext>
            </a:extLst>
          </p:cNvPr>
          <p:cNvSpPr txBox="1"/>
          <p:nvPr/>
        </p:nvSpPr>
        <p:spPr>
          <a:xfrm>
            <a:off x="-1" y="11422446"/>
            <a:ext cx="7199313" cy="127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ⓐ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냉동실 재료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입력창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비로그인 상태 가능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)</a:t>
            </a: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냉동고의 재료를 입력하는 공간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내가 갖고 있는 재료를 입력하면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“ingredient_profile_dict_v1”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사전파일의 </a:t>
            </a:r>
            <a:b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</a:b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“</a:t>
            </a:r>
            <a:r>
              <a:rPr lang="en-US" altLang="ko-KR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ingredient_name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”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열에 해당하는 값들을 기반으로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검색어 자동완성 리스트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’ 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혹은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search dropdown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라고함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)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가 아래에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뜨게되고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소비자들은 그 안에서 내가 갖고 있는 재료를 선택하는 형식임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그 외의 것 들은 입력불가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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해당 입력 데이터들은 사용자 단위별로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로그인 기준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)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재료 현황이 저장됨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현재 나의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백엔드와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 연결 필요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)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 비로그인 유저들도 재료를 저장할 순 있으나 쿠키로만 저장됨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340C9B-9F9F-4B50-0EF7-E36E6AD06CA7}"/>
              </a:ext>
            </a:extLst>
          </p:cNvPr>
          <p:cNvSpPr txBox="1"/>
          <p:nvPr/>
        </p:nvSpPr>
        <p:spPr>
          <a:xfrm>
            <a:off x="1079944" y="3388452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ⓐ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674E6C3-8C10-7241-1045-882B9C93D348}"/>
              </a:ext>
            </a:extLst>
          </p:cNvPr>
          <p:cNvSpPr/>
          <p:nvPr/>
        </p:nvSpPr>
        <p:spPr>
          <a:xfrm>
            <a:off x="3829062" y="4741585"/>
            <a:ext cx="2758400" cy="4536277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85BBECE-7F7B-7653-DC3C-697E3CB5CE6D}"/>
              </a:ext>
            </a:extLst>
          </p:cNvPr>
          <p:cNvGrpSpPr/>
          <p:nvPr/>
        </p:nvGrpSpPr>
        <p:grpSpPr>
          <a:xfrm>
            <a:off x="-171770" y="4105211"/>
            <a:ext cx="3829060" cy="6021177"/>
            <a:chOff x="-673872" y="2269680"/>
            <a:chExt cx="3039607" cy="4779766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B1138841-1D22-8EF1-6A0B-BAEB67156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>
                          <a14:foregroundMark x1="41211" y1="81445" x2="54980" y2="81055"/>
                          <a14:foregroundMark x1="54980" y1="81055" x2="58105" y2="81055"/>
                        </a14:backgroundRemoval>
                      </a14:imgEffect>
                      <a14:imgEffect>
                        <a14:brightnessContrast contrast="40000"/>
                      </a14:imgEffect>
                    </a14:imgLayer>
                  </a14:imgProps>
                </a:ext>
              </a:extLst>
            </a:blip>
            <a:srcRect l="30789" t="16019" r="30463" b="57286"/>
            <a:stretch/>
          </p:blipFill>
          <p:spPr>
            <a:xfrm>
              <a:off x="-673872" y="2269680"/>
              <a:ext cx="3039607" cy="1927428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5E80CD50-3793-43B9-9F03-83DB52411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8652" b="81055" l="4883" r="31934">
                          <a14:foregroundMark x1="14551" y1="28223" x2="18066" y2="38086"/>
                          <a14:foregroundMark x1="20313" y1="20898" x2="25391" y2="21387"/>
                          <a14:foregroundMark x1="9766" y1="31934" x2="11523" y2="40234"/>
                          <a14:foregroundMark x1="9375" y1="54199" x2="15527" y2="77148"/>
                          <a14:foregroundMark x1="15527" y1="77148" x2="17480" y2="80176"/>
                          <a14:foregroundMark x1="24414" y1="76172" x2="20313" y2="78711"/>
                          <a14:foregroundMark x1="29199" y1="75977" x2="29785" y2="77734"/>
                          <a14:foregroundMark x1="28711" y1="80664" x2="28125" y2="81055"/>
                          <a14:foregroundMark x1="7227" y1="19141" x2="9961" y2="19141"/>
                          <a14:foregroundMark x1="15820" y1="18945" x2="18164" y2="19141"/>
                          <a14:foregroundMark x1="9082" y1="19043" x2="10840" y2="19141"/>
                          <a14:foregroundMark x1="9277" y1="18652" x2="11328" y2="19043"/>
                        </a14:backgroundRemoval>
                      </a14:imgEffect>
                    </a14:imgLayer>
                  </a14:imgProps>
                </a:ext>
              </a:extLst>
            </a:blip>
            <a:srcRect l="1638" t="42354" r="64572" b="16020"/>
            <a:stretch/>
          </p:blipFill>
          <p:spPr>
            <a:xfrm>
              <a:off x="-353234" y="4157515"/>
              <a:ext cx="2347494" cy="2891931"/>
            </a:xfrm>
            <a:prstGeom prst="rect">
              <a:avLst/>
            </a:prstGeom>
          </p:spPr>
        </p:pic>
      </p:grp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0DA7A59-F6BF-B0AF-F3BC-51683A47BEAA}"/>
              </a:ext>
            </a:extLst>
          </p:cNvPr>
          <p:cNvSpPr/>
          <p:nvPr/>
        </p:nvSpPr>
        <p:spPr>
          <a:xfrm>
            <a:off x="4031615" y="4889661"/>
            <a:ext cx="695934" cy="229500"/>
          </a:xfrm>
          <a:prstGeom prst="roundRect">
            <a:avLst>
              <a:gd name="adj" fmla="val 38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청양고추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2A679E4-A261-787B-6FA8-157A55AD2409}"/>
              </a:ext>
            </a:extLst>
          </p:cNvPr>
          <p:cNvSpPr/>
          <p:nvPr/>
        </p:nvSpPr>
        <p:spPr>
          <a:xfrm>
            <a:off x="4826540" y="4889661"/>
            <a:ext cx="695934" cy="229500"/>
          </a:xfrm>
          <a:prstGeom prst="roundRect">
            <a:avLst>
              <a:gd name="adj" fmla="val 38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만두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7BA027F-891F-DF4D-5EBD-284F7E4784F8}"/>
              </a:ext>
            </a:extLst>
          </p:cNvPr>
          <p:cNvSpPr/>
          <p:nvPr/>
        </p:nvSpPr>
        <p:spPr>
          <a:xfrm>
            <a:off x="5621463" y="4889661"/>
            <a:ext cx="695934" cy="229500"/>
          </a:xfrm>
          <a:prstGeom prst="roundRect">
            <a:avLst>
              <a:gd name="adj" fmla="val 38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대파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CF67DB-2B78-2A54-E4E6-B54422D0089E}"/>
              </a:ext>
            </a:extLst>
          </p:cNvPr>
          <p:cNvSpPr txBox="1"/>
          <p:nvPr/>
        </p:nvSpPr>
        <p:spPr>
          <a:xfrm>
            <a:off x="2" y="1980409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UI 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구성</a:t>
            </a:r>
            <a:endParaRPr lang="ko-KR" altLang="en-US" sz="2267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27ACD8-78DC-46F2-A8FB-A3F7300CCEA1}"/>
              </a:ext>
            </a:extLst>
          </p:cNvPr>
          <p:cNvSpPr txBox="1"/>
          <p:nvPr/>
        </p:nvSpPr>
        <p:spPr>
          <a:xfrm>
            <a:off x="2" y="10799768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2267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C887A2-60A5-BA94-773D-75BF2DB2FEF1}"/>
              </a:ext>
            </a:extLst>
          </p:cNvPr>
          <p:cNvSpPr txBox="1"/>
          <p:nvPr/>
        </p:nvSpPr>
        <p:spPr>
          <a:xfrm>
            <a:off x="213617" y="3024667"/>
            <a:ext cx="1109824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F7E660-B2EB-E230-FF27-A34C38927AA6}"/>
              </a:ext>
            </a:extLst>
          </p:cNvPr>
          <p:cNvSpPr txBox="1"/>
          <p:nvPr/>
        </p:nvSpPr>
        <p:spPr>
          <a:xfrm>
            <a:off x="1476515" y="3026376"/>
            <a:ext cx="1248260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FAAB7B-2B75-CDF5-816B-461C9719996F}"/>
              </a:ext>
            </a:extLst>
          </p:cNvPr>
          <p:cNvSpPr txBox="1"/>
          <p:nvPr/>
        </p:nvSpPr>
        <p:spPr>
          <a:xfrm>
            <a:off x="3978101" y="3024667"/>
            <a:ext cx="749449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C3B422-BE2B-7BE0-C165-F5B66162A416}"/>
              </a:ext>
            </a:extLst>
          </p:cNvPr>
          <p:cNvSpPr txBox="1"/>
          <p:nvPr/>
        </p:nvSpPr>
        <p:spPr>
          <a:xfrm>
            <a:off x="2896176" y="3024667"/>
            <a:ext cx="928852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</p:spTree>
    <p:extLst>
      <p:ext uri="{BB962C8B-B14F-4D97-AF65-F5344CB8AC3E}">
        <p14:creationId xmlns:p14="http://schemas.microsoft.com/office/powerpoint/2010/main" val="3589979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39980-F907-134E-900C-AB49F44B9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1301404-43A7-DFCE-57E0-1BDB38BDA71D}"/>
              </a:ext>
            </a:extLst>
          </p:cNvPr>
          <p:cNvSpPr/>
          <p:nvPr/>
        </p:nvSpPr>
        <p:spPr>
          <a:xfrm>
            <a:off x="-1" y="2447830"/>
            <a:ext cx="7199313" cy="8272664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07963B57-24F8-DC5E-2E6F-EFEDC3CC2580}"/>
              </a:ext>
            </a:extLst>
          </p:cNvPr>
          <p:cNvCxnSpPr>
            <a:cxnSpLocks/>
          </p:cNvCxnSpPr>
          <p:nvPr/>
        </p:nvCxnSpPr>
        <p:spPr>
          <a:xfrm>
            <a:off x="-1" y="2419727"/>
            <a:ext cx="7199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7D1DB21C-DBCC-1CC8-4A7D-78AD93A77A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251"/>
          <a:stretch/>
        </p:blipFill>
        <p:spPr>
          <a:xfrm>
            <a:off x="-1" y="2445666"/>
            <a:ext cx="7199313" cy="329625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0C8A57C-84D8-1599-5FC7-0EE2B1E0EC3E}"/>
              </a:ext>
            </a:extLst>
          </p:cNvPr>
          <p:cNvSpPr/>
          <p:nvPr/>
        </p:nvSpPr>
        <p:spPr>
          <a:xfrm>
            <a:off x="1255829" y="3584587"/>
            <a:ext cx="4713603" cy="31017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92A05A-7028-EACE-BB5A-1CF9DD71210C}"/>
              </a:ext>
            </a:extLst>
          </p:cNvPr>
          <p:cNvSpPr txBox="1"/>
          <p:nvPr/>
        </p:nvSpPr>
        <p:spPr>
          <a:xfrm>
            <a:off x="1281774" y="3613875"/>
            <a:ext cx="4713603" cy="24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[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사용자 닉네임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]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님이 갖고 있는 냉장실 속 재료들을 입력해주세요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91F31F-4970-DA30-9D55-03B9D3AFFEB3}"/>
              </a:ext>
            </a:extLst>
          </p:cNvPr>
          <p:cNvSpPr txBox="1"/>
          <p:nvPr/>
        </p:nvSpPr>
        <p:spPr>
          <a:xfrm>
            <a:off x="-1" y="11291620"/>
            <a:ext cx="7199313" cy="127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ⓐ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냉장고 재료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입력창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비로그인 상태 가능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)</a:t>
            </a: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냉장고의 재료를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검색어 자동완성 리스트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혹은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search dropdown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라고함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가 아래에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뜨게되고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소비자들은 그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안입력하는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공간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갖고 있는 재료를 입력하면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“ingredient_profile_dict_v1”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사전파일의 </a:t>
            </a:r>
            <a:b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“</a:t>
            </a:r>
            <a:r>
              <a:rPr lang="en-US" altLang="ko-KR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ingredient_name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”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열에 해당하는 값들을 기반으로 에서 내가 갖고 있는 재료를 선택하는 형식임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 외의 것 들은 입력불가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 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해당 입력 데이터들은 사용자 단위별로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로그인 기준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)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재료 현황이 저장됨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현재 나의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백엔드와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 연결 필요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)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비로그인 유저들도 재료를 저장할 순 있으나 쿠키로만 저장됨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B4BC6A-A803-BF97-CE2A-C8170677BDAB}"/>
              </a:ext>
            </a:extLst>
          </p:cNvPr>
          <p:cNvSpPr txBox="1"/>
          <p:nvPr/>
        </p:nvSpPr>
        <p:spPr>
          <a:xfrm>
            <a:off x="1079944" y="3388452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ⓐ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320C460-9EC9-C0A6-2D69-FD5508D76398}"/>
              </a:ext>
            </a:extLst>
          </p:cNvPr>
          <p:cNvSpPr/>
          <p:nvPr/>
        </p:nvSpPr>
        <p:spPr>
          <a:xfrm>
            <a:off x="3829062" y="4741585"/>
            <a:ext cx="2758400" cy="4536277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76BBD4D-A923-416C-0ACF-48D197540CF2}"/>
              </a:ext>
            </a:extLst>
          </p:cNvPr>
          <p:cNvSpPr/>
          <p:nvPr/>
        </p:nvSpPr>
        <p:spPr>
          <a:xfrm>
            <a:off x="4031615" y="4889661"/>
            <a:ext cx="695934" cy="229500"/>
          </a:xfrm>
          <a:prstGeom prst="roundRect">
            <a:avLst>
              <a:gd name="adj" fmla="val 38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파프리카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25A0DC2-F4E4-1AC7-5539-C6E201D0E336}"/>
              </a:ext>
            </a:extLst>
          </p:cNvPr>
          <p:cNvSpPr/>
          <p:nvPr/>
        </p:nvSpPr>
        <p:spPr>
          <a:xfrm>
            <a:off x="4826540" y="4889661"/>
            <a:ext cx="695934" cy="229500"/>
          </a:xfrm>
          <a:prstGeom prst="roundRect">
            <a:avLst>
              <a:gd name="adj" fmla="val 38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애호박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3F78604-CFBA-3377-F0B0-5D2A4AD8B371}"/>
              </a:ext>
            </a:extLst>
          </p:cNvPr>
          <p:cNvSpPr/>
          <p:nvPr/>
        </p:nvSpPr>
        <p:spPr>
          <a:xfrm>
            <a:off x="5621463" y="4889661"/>
            <a:ext cx="695934" cy="229500"/>
          </a:xfrm>
          <a:prstGeom prst="roundRect">
            <a:avLst>
              <a:gd name="adj" fmla="val 38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쌈장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D2133A2-F7BE-196D-45BC-8E8CE8830D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0313" b="81250" l="71094" r="99219">
                        <a14:foregroundMark x1="83203" y1="28711" x2="87598" y2="54395"/>
                        <a14:foregroundMark x1="92383" y1="28320" x2="86621" y2="49414"/>
                        <a14:foregroundMark x1="79297" y1="21973" x2="89355" y2="23242"/>
                        <a14:foregroundMark x1="90527" y1="20410" x2="74707" y2="22266"/>
                        <a14:foregroundMark x1="98242" y1="50684" x2="96973" y2="61133"/>
                        <a14:foregroundMark x1="85059" y1="79785" x2="88477" y2="79688"/>
                        <a14:foregroundMark x1="93848" y1="81055" x2="93848" y2="78809"/>
                        <a14:foregroundMark x1="75391" y1="81250" x2="75684" y2="78711"/>
                        <a14:foregroundMark x1="85449" y1="22266" x2="84277" y2="22266"/>
                        <a14:foregroundMark x1="86621" y1="21289" x2="83008" y2="21875"/>
                        <a14:foregroundMark x1="73730" y1="51855" x2="73730" y2="51855"/>
                        <a14:foregroundMark x1="98145" y1="52246" x2="98145" y2="52246"/>
                        <a14:foregroundMark x1="99121" y1="46289" x2="99121" y2="46289"/>
                        <a14:foregroundMark x1="99219" y1="45410" x2="99219" y2="45410"/>
                        <a14:foregroundMark x1="99219" y1="45020" x2="99219" y2="45020"/>
                        <a14:foregroundMark x1="79004" y1="80957" x2="79004" y2="80957"/>
                        <a14:backgroundMark x1="99805" y1="46387" x2="99805" y2="47461"/>
                      </a14:backgroundRemoval>
                    </a14:imgEffect>
                  </a14:imgLayer>
                </a14:imgProps>
              </a:ext>
            </a:extLst>
          </a:blip>
          <a:srcRect l="68081" t="16019" r="-6829" b="16019"/>
          <a:stretch/>
        </p:blipFill>
        <p:spPr>
          <a:xfrm>
            <a:off x="246017" y="4127171"/>
            <a:ext cx="3411275" cy="5983159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83A85F8-1094-98E9-AEF4-77E485888207}"/>
              </a:ext>
            </a:extLst>
          </p:cNvPr>
          <p:cNvSpPr/>
          <p:nvPr/>
        </p:nvSpPr>
        <p:spPr>
          <a:xfrm>
            <a:off x="4031616" y="5222665"/>
            <a:ext cx="695934" cy="229500"/>
          </a:xfrm>
          <a:prstGeom prst="roundRect">
            <a:avLst>
              <a:gd name="adj" fmla="val 38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당근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E4D1F8A-A1A1-3118-BD67-9B623D9757E7}"/>
              </a:ext>
            </a:extLst>
          </p:cNvPr>
          <p:cNvSpPr/>
          <p:nvPr/>
        </p:nvSpPr>
        <p:spPr>
          <a:xfrm>
            <a:off x="4826540" y="5222665"/>
            <a:ext cx="695934" cy="229500"/>
          </a:xfrm>
          <a:prstGeom prst="roundRect">
            <a:avLst>
              <a:gd name="adj" fmla="val 38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브로콜리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0DA93E-35B3-73FE-A6AC-455E3CE5540D}"/>
              </a:ext>
            </a:extLst>
          </p:cNvPr>
          <p:cNvSpPr txBox="1"/>
          <p:nvPr/>
        </p:nvSpPr>
        <p:spPr>
          <a:xfrm>
            <a:off x="2" y="1980409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UI 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구성</a:t>
            </a:r>
            <a:endParaRPr lang="ko-KR" altLang="en-US" sz="2267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41A8A7-9E0B-0494-BF2B-1FAA3F7362BE}"/>
              </a:ext>
            </a:extLst>
          </p:cNvPr>
          <p:cNvSpPr txBox="1"/>
          <p:nvPr/>
        </p:nvSpPr>
        <p:spPr>
          <a:xfrm>
            <a:off x="2" y="10799768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2267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606EED-E62C-D3B7-8749-F7DBFD2A3976}"/>
              </a:ext>
            </a:extLst>
          </p:cNvPr>
          <p:cNvSpPr txBox="1"/>
          <p:nvPr/>
        </p:nvSpPr>
        <p:spPr>
          <a:xfrm>
            <a:off x="213617" y="3024667"/>
            <a:ext cx="1109824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5DACC3-B41E-4EC3-18C2-5A18B29EEDE9}"/>
              </a:ext>
            </a:extLst>
          </p:cNvPr>
          <p:cNvSpPr txBox="1"/>
          <p:nvPr/>
        </p:nvSpPr>
        <p:spPr>
          <a:xfrm>
            <a:off x="1476515" y="3026376"/>
            <a:ext cx="1248260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A660F1-7230-AF36-1418-49C911645726}"/>
              </a:ext>
            </a:extLst>
          </p:cNvPr>
          <p:cNvSpPr txBox="1"/>
          <p:nvPr/>
        </p:nvSpPr>
        <p:spPr>
          <a:xfrm>
            <a:off x="3978099" y="3024667"/>
            <a:ext cx="589464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043504-0E1B-3343-9286-B44B51AA11E8}"/>
              </a:ext>
            </a:extLst>
          </p:cNvPr>
          <p:cNvSpPr txBox="1"/>
          <p:nvPr/>
        </p:nvSpPr>
        <p:spPr>
          <a:xfrm>
            <a:off x="2896176" y="3024667"/>
            <a:ext cx="928852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</p:spTree>
    <p:extLst>
      <p:ext uri="{BB962C8B-B14F-4D97-AF65-F5344CB8AC3E}">
        <p14:creationId xmlns:p14="http://schemas.microsoft.com/office/powerpoint/2010/main" val="1134504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C00D1-904B-3ACF-8763-56165C0E5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27DC96B-8B0C-ED53-5AC5-3F8AA43503E9}"/>
              </a:ext>
            </a:extLst>
          </p:cNvPr>
          <p:cNvSpPr/>
          <p:nvPr/>
        </p:nvSpPr>
        <p:spPr>
          <a:xfrm>
            <a:off x="-1" y="2447830"/>
            <a:ext cx="7199313" cy="8272664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97BAA79-7A7D-695D-1515-82E0488C9914}"/>
              </a:ext>
            </a:extLst>
          </p:cNvPr>
          <p:cNvCxnSpPr>
            <a:cxnSpLocks/>
          </p:cNvCxnSpPr>
          <p:nvPr/>
        </p:nvCxnSpPr>
        <p:spPr>
          <a:xfrm>
            <a:off x="-1" y="2419727"/>
            <a:ext cx="7199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3C94D5A7-1738-C14E-A539-3B60116597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251"/>
          <a:stretch/>
        </p:blipFill>
        <p:spPr>
          <a:xfrm>
            <a:off x="-1" y="2445666"/>
            <a:ext cx="7199313" cy="329625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E423B1A-3AFF-A1FD-5A0C-CDA7FEA32809}"/>
              </a:ext>
            </a:extLst>
          </p:cNvPr>
          <p:cNvSpPr/>
          <p:nvPr/>
        </p:nvSpPr>
        <p:spPr>
          <a:xfrm>
            <a:off x="1255829" y="3584587"/>
            <a:ext cx="4713603" cy="31017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C14D0F-F911-0FF7-A662-CF1EB2C98082}"/>
              </a:ext>
            </a:extLst>
          </p:cNvPr>
          <p:cNvSpPr txBox="1"/>
          <p:nvPr/>
        </p:nvSpPr>
        <p:spPr>
          <a:xfrm>
            <a:off x="1281774" y="3613875"/>
            <a:ext cx="4713603" cy="24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[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사용자 닉네임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]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님이 갖고 있는 실온보관 된 재료들을 입력해주세요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BE4DF6-5E50-239B-65FB-B15C19356339}"/>
              </a:ext>
            </a:extLst>
          </p:cNvPr>
          <p:cNvSpPr txBox="1"/>
          <p:nvPr/>
        </p:nvSpPr>
        <p:spPr>
          <a:xfrm>
            <a:off x="-36464" y="11291620"/>
            <a:ext cx="7343299" cy="127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ⓐ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실온보관 재료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입력창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비로그인 상태 가능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)</a:t>
            </a: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실온보관 재료를 입력하는 공간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내가 갖고 있는 재료를 입력하면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“ingredient_profile_dict_v1”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사전파일의 </a:t>
            </a:r>
            <a:b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</a:b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“</a:t>
            </a:r>
            <a:r>
              <a:rPr lang="en-US" altLang="ko-KR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ingredient_name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”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열에 해당하는 값들을 기반으로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검색어 자동완성 리스트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’ 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혹은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search dropdown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라고함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)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가 아래에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뜨게되고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소비자들은 그 안에서 내가 갖고 있는 재료를 선택하는 형식임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그 외의 것 들은 입력불가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 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해당 입력 데이터들은 사용자 단위별로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로그인 기준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)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재료 현황이 저장됨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현재 나의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백엔드와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 연결 필요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)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비로그인 유저들도 재료를 저장할 순 있으나 쿠키로만 저장됨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094447-9B19-939D-D09D-F680626CC283}"/>
              </a:ext>
            </a:extLst>
          </p:cNvPr>
          <p:cNvSpPr txBox="1"/>
          <p:nvPr/>
        </p:nvSpPr>
        <p:spPr>
          <a:xfrm>
            <a:off x="1079944" y="3388452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ⓐ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7578BA-E95F-CC97-7474-797DB2CE75F5}"/>
              </a:ext>
            </a:extLst>
          </p:cNvPr>
          <p:cNvSpPr/>
          <p:nvPr/>
        </p:nvSpPr>
        <p:spPr>
          <a:xfrm>
            <a:off x="3829062" y="4741585"/>
            <a:ext cx="2758400" cy="4536277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A3F2CC6-39BF-DD9D-4110-81ED917DAA28}"/>
              </a:ext>
            </a:extLst>
          </p:cNvPr>
          <p:cNvSpPr/>
          <p:nvPr/>
        </p:nvSpPr>
        <p:spPr>
          <a:xfrm>
            <a:off x="4031615" y="4889661"/>
            <a:ext cx="695934" cy="229500"/>
          </a:xfrm>
          <a:prstGeom prst="roundRect">
            <a:avLst>
              <a:gd name="adj" fmla="val 38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양파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543D8F3-7FC9-5A16-6870-EBD370E7949C}"/>
              </a:ext>
            </a:extLst>
          </p:cNvPr>
          <p:cNvSpPr/>
          <p:nvPr/>
        </p:nvSpPr>
        <p:spPr>
          <a:xfrm>
            <a:off x="4826540" y="4889661"/>
            <a:ext cx="695934" cy="229500"/>
          </a:xfrm>
          <a:prstGeom prst="roundRect">
            <a:avLst>
              <a:gd name="adj" fmla="val 38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바나나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2C8A1B6-2A35-264E-A052-F45837948054}"/>
              </a:ext>
            </a:extLst>
          </p:cNvPr>
          <p:cNvSpPr/>
          <p:nvPr/>
        </p:nvSpPr>
        <p:spPr>
          <a:xfrm>
            <a:off x="5621463" y="4889661"/>
            <a:ext cx="695934" cy="229500"/>
          </a:xfrm>
          <a:prstGeom prst="roundRect">
            <a:avLst>
              <a:gd name="adj" fmla="val 38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감자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99A3ED6-B5C2-7577-04BD-497F6D04B73E}"/>
              </a:ext>
            </a:extLst>
          </p:cNvPr>
          <p:cNvSpPr/>
          <p:nvPr/>
        </p:nvSpPr>
        <p:spPr>
          <a:xfrm>
            <a:off x="4031616" y="5222665"/>
            <a:ext cx="695934" cy="229500"/>
          </a:xfrm>
          <a:prstGeom prst="roundRect">
            <a:avLst>
              <a:gd name="adj" fmla="val 38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아몬드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9A2931A-704F-DD7F-811A-28A4CAF471A6}"/>
              </a:ext>
            </a:extLst>
          </p:cNvPr>
          <p:cNvSpPr/>
          <p:nvPr/>
        </p:nvSpPr>
        <p:spPr>
          <a:xfrm>
            <a:off x="4826540" y="5222665"/>
            <a:ext cx="695934" cy="229500"/>
          </a:xfrm>
          <a:prstGeom prst="roundRect">
            <a:avLst>
              <a:gd name="adj" fmla="val 38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김자반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FAA75C-2FD4-B1FE-4F51-CD02819AC27A}"/>
              </a:ext>
            </a:extLst>
          </p:cNvPr>
          <p:cNvSpPr txBox="1"/>
          <p:nvPr/>
        </p:nvSpPr>
        <p:spPr>
          <a:xfrm>
            <a:off x="2" y="1980409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UI 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구성</a:t>
            </a:r>
            <a:endParaRPr lang="ko-KR" altLang="en-US" sz="2267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87ABCF-7BC8-4FFB-FF76-8F17A0457251}"/>
              </a:ext>
            </a:extLst>
          </p:cNvPr>
          <p:cNvSpPr txBox="1"/>
          <p:nvPr/>
        </p:nvSpPr>
        <p:spPr>
          <a:xfrm>
            <a:off x="2" y="10799768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2267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63768E5-2E9A-F952-3836-D406E1C6B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9723" y="4488533"/>
            <a:ext cx="3700272" cy="52234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893A908-CE75-FAAB-D051-65EB7706AE93}"/>
              </a:ext>
            </a:extLst>
          </p:cNvPr>
          <p:cNvSpPr txBox="1"/>
          <p:nvPr/>
        </p:nvSpPr>
        <p:spPr>
          <a:xfrm>
            <a:off x="213617" y="3024667"/>
            <a:ext cx="1109824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85A336-2AAA-54C0-1271-D44A56FD76FF}"/>
              </a:ext>
            </a:extLst>
          </p:cNvPr>
          <p:cNvSpPr txBox="1"/>
          <p:nvPr/>
        </p:nvSpPr>
        <p:spPr>
          <a:xfrm>
            <a:off x="1476515" y="3026376"/>
            <a:ext cx="1248260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35539E-4C3F-7FEA-BA3B-092E12A4116A}"/>
              </a:ext>
            </a:extLst>
          </p:cNvPr>
          <p:cNvSpPr txBox="1"/>
          <p:nvPr/>
        </p:nvSpPr>
        <p:spPr>
          <a:xfrm>
            <a:off x="3978101" y="3024667"/>
            <a:ext cx="685455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56C796-1ACC-24ED-8A89-3769229099C7}"/>
              </a:ext>
            </a:extLst>
          </p:cNvPr>
          <p:cNvSpPr txBox="1"/>
          <p:nvPr/>
        </p:nvSpPr>
        <p:spPr>
          <a:xfrm>
            <a:off x="2896176" y="3024667"/>
            <a:ext cx="928852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</p:spTree>
    <p:extLst>
      <p:ext uri="{BB962C8B-B14F-4D97-AF65-F5344CB8AC3E}">
        <p14:creationId xmlns:p14="http://schemas.microsoft.com/office/powerpoint/2010/main" val="2356923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AA2B7-70C0-908C-9C8E-C66782200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A2EAA53-138E-611D-30D7-BE542497E70E}"/>
              </a:ext>
            </a:extLst>
          </p:cNvPr>
          <p:cNvSpPr/>
          <p:nvPr/>
        </p:nvSpPr>
        <p:spPr>
          <a:xfrm>
            <a:off x="-1" y="2447830"/>
            <a:ext cx="7199313" cy="8272664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22767B3-4CB8-CB65-2925-0D79FFA9345B}"/>
              </a:ext>
            </a:extLst>
          </p:cNvPr>
          <p:cNvCxnSpPr>
            <a:cxnSpLocks/>
          </p:cNvCxnSpPr>
          <p:nvPr/>
        </p:nvCxnSpPr>
        <p:spPr>
          <a:xfrm>
            <a:off x="-1" y="2419727"/>
            <a:ext cx="7199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33D2C335-A096-137D-42F2-ED51FBB19F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r="251"/>
          <a:stretch/>
        </p:blipFill>
        <p:spPr>
          <a:xfrm>
            <a:off x="-1" y="2445666"/>
            <a:ext cx="7199313" cy="329625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AA44FA7-E777-C530-6E4E-013833D2AB5B}"/>
              </a:ext>
            </a:extLst>
          </p:cNvPr>
          <p:cNvSpPr/>
          <p:nvPr/>
        </p:nvSpPr>
        <p:spPr>
          <a:xfrm>
            <a:off x="1255829" y="3584587"/>
            <a:ext cx="4713603" cy="31017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767A63-EF68-D6D0-1F26-6403E0617083}"/>
              </a:ext>
            </a:extLst>
          </p:cNvPr>
          <p:cNvSpPr txBox="1"/>
          <p:nvPr/>
        </p:nvSpPr>
        <p:spPr>
          <a:xfrm>
            <a:off x="1281772" y="3613875"/>
            <a:ext cx="5305688" cy="24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[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사용자 닉네임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]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님이 갖고 있는 냉동실 속 재료를 입력해주세요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1EE0E7-94DC-C6F8-08E6-BCEBA77F4AFA}"/>
              </a:ext>
            </a:extLst>
          </p:cNvPr>
          <p:cNvSpPr txBox="1"/>
          <p:nvPr/>
        </p:nvSpPr>
        <p:spPr>
          <a:xfrm>
            <a:off x="-1" y="11422446"/>
            <a:ext cx="7199313" cy="693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ⓐ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재료 상세 정보 입력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팝업창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냉동고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냉장고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실온보관 모두 재료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입력시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동일 로직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)</a:t>
            </a: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재료를 입력하고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엔터를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치는 순간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팝업창이 뜨며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재료에 유통기한이 있어요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’,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재료에 유통기한은 따로 없어요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‘,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입력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안할래요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라는 걸 선택할 수 있도록 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9B57B58-3B3F-B40F-C32D-822DA71A7256}"/>
              </a:ext>
            </a:extLst>
          </p:cNvPr>
          <p:cNvSpPr/>
          <p:nvPr/>
        </p:nvSpPr>
        <p:spPr>
          <a:xfrm>
            <a:off x="3829062" y="4741585"/>
            <a:ext cx="2758400" cy="4536277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DF6175D-4709-D344-B113-B44CA8AEB797}"/>
              </a:ext>
            </a:extLst>
          </p:cNvPr>
          <p:cNvGrpSpPr/>
          <p:nvPr/>
        </p:nvGrpSpPr>
        <p:grpSpPr>
          <a:xfrm>
            <a:off x="-171770" y="4105211"/>
            <a:ext cx="3829060" cy="6021177"/>
            <a:chOff x="-673872" y="2269680"/>
            <a:chExt cx="3039607" cy="4779766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285FFAA5-09BF-826A-AD3B-8521A933CC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41211" y1="81445" x2="54980" y2="81055"/>
                          <a14:foregroundMark x1="54980" y1="81055" x2="58105" y2="81055"/>
                        </a14:backgroundRemoval>
                      </a14:imgEffect>
                      <a14:imgEffect>
                        <a14:brightnessContrast contrast="40000"/>
                      </a14:imgEffect>
                    </a14:imgLayer>
                  </a14:imgProps>
                </a:ext>
              </a:extLst>
            </a:blip>
            <a:srcRect l="30789" t="16019" r="30463" b="57286"/>
            <a:stretch/>
          </p:blipFill>
          <p:spPr>
            <a:xfrm>
              <a:off x="-673872" y="2269680"/>
              <a:ext cx="3039607" cy="1927428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0B7C469C-48C8-5FF0-74A0-A7D32DD78A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8652" b="81055" l="4883" r="31934">
                          <a14:foregroundMark x1="14551" y1="28223" x2="18066" y2="38086"/>
                          <a14:foregroundMark x1="20313" y1="20898" x2="25391" y2="21387"/>
                          <a14:foregroundMark x1="9766" y1="31934" x2="11523" y2="40234"/>
                          <a14:foregroundMark x1="9375" y1="54199" x2="15527" y2="77148"/>
                          <a14:foregroundMark x1="15527" y1="77148" x2="17480" y2="80176"/>
                          <a14:foregroundMark x1="24414" y1="76172" x2="20313" y2="78711"/>
                          <a14:foregroundMark x1="29199" y1="75977" x2="29785" y2="77734"/>
                          <a14:foregroundMark x1="28711" y1="80664" x2="28125" y2="81055"/>
                          <a14:foregroundMark x1="7227" y1="19141" x2="9961" y2="19141"/>
                          <a14:foregroundMark x1="15820" y1="18945" x2="18164" y2="19141"/>
                          <a14:foregroundMark x1="9082" y1="19043" x2="10840" y2="19141"/>
                          <a14:foregroundMark x1="9277" y1="18652" x2="11328" y2="19043"/>
                        </a14:backgroundRemoval>
                      </a14:imgEffect>
                    </a14:imgLayer>
                  </a14:imgProps>
                </a:ext>
              </a:extLst>
            </a:blip>
            <a:srcRect l="1638" t="42354" r="64572" b="16020"/>
            <a:stretch/>
          </p:blipFill>
          <p:spPr>
            <a:xfrm>
              <a:off x="-353234" y="4157515"/>
              <a:ext cx="2347494" cy="2891931"/>
            </a:xfrm>
            <a:prstGeom prst="rect">
              <a:avLst/>
            </a:prstGeom>
          </p:spPr>
        </p:pic>
      </p:grp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1F4BA82-A024-5853-B5E0-891785475CC3}"/>
              </a:ext>
            </a:extLst>
          </p:cNvPr>
          <p:cNvSpPr/>
          <p:nvPr/>
        </p:nvSpPr>
        <p:spPr>
          <a:xfrm>
            <a:off x="4031615" y="4889661"/>
            <a:ext cx="695934" cy="229500"/>
          </a:xfrm>
          <a:prstGeom prst="roundRect">
            <a:avLst>
              <a:gd name="adj" fmla="val 38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청양고추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F9FAAA7-0877-895C-6BA5-0725029FADB0}"/>
              </a:ext>
            </a:extLst>
          </p:cNvPr>
          <p:cNvSpPr/>
          <p:nvPr/>
        </p:nvSpPr>
        <p:spPr>
          <a:xfrm>
            <a:off x="4826540" y="4889661"/>
            <a:ext cx="695934" cy="229500"/>
          </a:xfrm>
          <a:prstGeom prst="roundRect">
            <a:avLst>
              <a:gd name="adj" fmla="val 38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만두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FA68037-4AC1-289E-7AA5-525B36850D62}"/>
              </a:ext>
            </a:extLst>
          </p:cNvPr>
          <p:cNvSpPr/>
          <p:nvPr/>
        </p:nvSpPr>
        <p:spPr>
          <a:xfrm>
            <a:off x="5621463" y="4889661"/>
            <a:ext cx="695934" cy="229500"/>
          </a:xfrm>
          <a:prstGeom prst="roundRect">
            <a:avLst>
              <a:gd name="adj" fmla="val 38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대파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43355-9F31-9C04-8EC0-EC3936F1D0CE}"/>
              </a:ext>
            </a:extLst>
          </p:cNvPr>
          <p:cNvSpPr txBox="1"/>
          <p:nvPr/>
        </p:nvSpPr>
        <p:spPr>
          <a:xfrm>
            <a:off x="2" y="1980409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UI 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구성</a:t>
            </a:r>
            <a:endParaRPr lang="ko-KR" altLang="en-US" sz="2267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6E33D8-CB4A-41B6-F4A4-FB445C223E88}"/>
              </a:ext>
            </a:extLst>
          </p:cNvPr>
          <p:cNvSpPr txBox="1"/>
          <p:nvPr/>
        </p:nvSpPr>
        <p:spPr>
          <a:xfrm>
            <a:off x="2" y="10799768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2267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0EB8CB-85C4-115B-3FD5-F4C49CC0AE80}"/>
              </a:ext>
            </a:extLst>
          </p:cNvPr>
          <p:cNvSpPr txBox="1"/>
          <p:nvPr/>
        </p:nvSpPr>
        <p:spPr>
          <a:xfrm>
            <a:off x="213617" y="3024667"/>
            <a:ext cx="1109824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51C456-F3B9-59C6-7BC6-FC5E0EE4142A}"/>
              </a:ext>
            </a:extLst>
          </p:cNvPr>
          <p:cNvSpPr txBox="1"/>
          <p:nvPr/>
        </p:nvSpPr>
        <p:spPr>
          <a:xfrm>
            <a:off x="1476515" y="3026376"/>
            <a:ext cx="1248260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563875-B50B-89D5-F7B5-243D8771CD97}"/>
              </a:ext>
            </a:extLst>
          </p:cNvPr>
          <p:cNvSpPr txBox="1"/>
          <p:nvPr/>
        </p:nvSpPr>
        <p:spPr>
          <a:xfrm>
            <a:off x="3978101" y="3024667"/>
            <a:ext cx="629461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BEE82A-3932-7CF6-7B9D-A9352C148414}"/>
              </a:ext>
            </a:extLst>
          </p:cNvPr>
          <p:cNvSpPr txBox="1"/>
          <p:nvPr/>
        </p:nvSpPr>
        <p:spPr>
          <a:xfrm>
            <a:off x="2896176" y="3024667"/>
            <a:ext cx="928852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C940109-FE85-8D34-46E1-989E89B617BC}"/>
              </a:ext>
            </a:extLst>
          </p:cNvPr>
          <p:cNvSpPr/>
          <p:nvPr/>
        </p:nvSpPr>
        <p:spPr>
          <a:xfrm>
            <a:off x="1271167" y="4061069"/>
            <a:ext cx="4713603" cy="1782968"/>
          </a:xfrm>
          <a:prstGeom prst="roundRect">
            <a:avLst>
              <a:gd name="adj" fmla="val 2707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4E41D0-C51E-6AC3-AF13-708A2A13B78C}"/>
              </a:ext>
            </a:extLst>
          </p:cNvPr>
          <p:cNvSpPr txBox="1"/>
          <p:nvPr/>
        </p:nvSpPr>
        <p:spPr>
          <a:xfrm>
            <a:off x="1750407" y="4285199"/>
            <a:ext cx="3724444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재료의 상세정보를 입력해 주세요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F23920-02D9-881E-BC6B-C3F59AAD5E42}"/>
              </a:ext>
            </a:extLst>
          </p:cNvPr>
          <p:cNvSpPr txBox="1"/>
          <p:nvPr/>
        </p:nvSpPr>
        <p:spPr>
          <a:xfrm>
            <a:off x="5627693" y="4035344"/>
            <a:ext cx="285061" cy="363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76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x</a:t>
            </a:r>
            <a:endParaRPr lang="ko-KR" altLang="en-US" sz="176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8A08406F-9333-B76B-C7A0-F0B765857439}"/>
              </a:ext>
            </a:extLst>
          </p:cNvPr>
          <p:cNvCxnSpPr/>
          <p:nvPr/>
        </p:nvCxnSpPr>
        <p:spPr>
          <a:xfrm>
            <a:off x="1557639" y="4605371"/>
            <a:ext cx="412182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72B44B5-6178-C624-B849-3718CA673DCE}"/>
              </a:ext>
            </a:extLst>
          </p:cNvPr>
          <p:cNvSpPr/>
          <p:nvPr/>
        </p:nvSpPr>
        <p:spPr>
          <a:xfrm>
            <a:off x="1620321" y="4822767"/>
            <a:ext cx="1174083" cy="721298"/>
          </a:xfrm>
          <a:prstGeom prst="roundRect">
            <a:avLst>
              <a:gd name="adj" fmla="val 50000"/>
            </a:avLst>
          </a:prstGeom>
          <a:solidFill>
            <a:srgbClr val="FF8A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재료에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유통기한이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있어요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9B83EE06-3754-C6FF-5CE2-C99C6E281A5E}"/>
              </a:ext>
            </a:extLst>
          </p:cNvPr>
          <p:cNvSpPr/>
          <p:nvPr/>
        </p:nvSpPr>
        <p:spPr>
          <a:xfrm>
            <a:off x="3003316" y="4822767"/>
            <a:ext cx="1174083" cy="721298"/>
          </a:xfrm>
          <a:prstGeom prst="roundRect">
            <a:avLst>
              <a:gd name="adj" fmla="val 50000"/>
            </a:avLst>
          </a:prstGeom>
          <a:solidFill>
            <a:srgbClr val="4BC8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재료에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유통기한은 따로 없어요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D2666C66-78D5-9C31-114D-95F1BDE9DCB1}"/>
              </a:ext>
            </a:extLst>
          </p:cNvPr>
          <p:cNvSpPr/>
          <p:nvPr/>
        </p:nvSpPr>
        <p:spPr>
          <a:xfrm>
            <a:off x="4386311" y="4856895"/>
            <a:ext cx="1174083" cy="721298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입력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안할래요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23D12E-7BC9-2D7F-40E0-F01A8A4B51B0}"/>
              </a:ext>
            </a:extLst>
          </p:cNvPr>
          <p:cNvSpPr txBox="1"/>
          <p:nvPr/>
        </p:nvSpPr>
        <p:spPr>
          <a:xfrm>
            <a:off x="1173501" y="4087630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ⓐ</a:t>
            </a:r>
          </a:p>
        </p:txBody>
      </p:sp>
    </p:spTree>
    <p:extLst>
      <p:ext uri="{BB962C8B-B14F-4D97-AF65-F5344CB8AC3E}">
        <p14:creationId xmlns:p14="http://schemas.microsoft.com/office/powerpoint/2010/main" val="3299528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32036-235F-22D8-BEE0-9C5E8BB3A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7E5D8A0-6EAD-8853-3F33-D077D6DF1F22}"/>
              </a:ext>
            </a:extLst>
          </p:cNvPr>
          <p:cNvSpPr/>
          <p:nvPr/>
        </p:nvSpPr>
        <p:spPr>
          <a:xfrm>
            <a:off x="-1" y="2447830"/>
            <a:ext cx="7199313" cy="8272664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FAA5B37B-2AC4-4913-219E-4706313166FA}"/>
              </a:ext>
            </a:extLst>
          </p:cNvPr>
          <p:cNvCxnSpPr>
            <a:cxnSpLocks/>
          </p:cNvCxnSpPr>
          <p:nvPr/>
        </p:nvCxnSpPr>
        <p:spPr>
          <a:xfrm>
            <a:off x="-1" y="2419727"/>
            <a:ext cx="7199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6EAA8C06-49D1-AF7E-9EB9-195B9D6E6A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251"/>
          <a:stretch/>
        </p:blipFill>
        <p:spPr>
          <a:xfrm>
            <a:off x="-1" y="2445666"/>
            <a:ext cx="7199313" cy="329625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356FBB6-AB95-B5AA-588C-BC474E20F0DC}"/>
              </a:ext>
            </a:extLst>
          </p:cNvPr>
          <p:cNvSpPr/>
          <p:nvPr/>
        </p:nvSpPr>
        <p:spPr>
          <a:xfrm>
            <a:off x="1255829" y="3584587"/>
            <a:ext cx="4713603" cy="31017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BDA93D-781F-4D54-2E5D-CA98C4393FAE}"/>
              </a:ext>
            </a:extLst>
          </p:cNvPr>
          <p:cNvSpPr txBox="1"/>
          <p:nvPr/>
        </p:nvSpPr>
        <p:spPr>
          <a:xfrm>
            <a:off x="1281772" y="3613875"/>
            <a:ext cx="3738548" cy="24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[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사용자 닉네임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]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님이 갖고 있는 냉동실 속 재료를 입력해주세요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EA5A70-51CE-514E-FC91-9998C11A00D8}"/>
              </a:ext>
            </a:extLst>
          </p:cNvPr>
          <p:cNvSpPr txBox="1"/>
          <p:nvPr/>
        </p:nvSpPr>
        <p:spPr>
          <a:xfrm>
            <a:off x="-1" y="11422446"/>
            <a:ext cx="7199313" cy="94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76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ⓐ</a:t>
            </a: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상세 정보 입력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팝업창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냉동고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실온보관 모두 재료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입력시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동일 로직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앞에서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재료에 유통기한이 있어요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를 선택한 소비자의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팝업창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화면은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유통기한은 언제까지 인가요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?’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를 입력하는 창으로 전환된다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사용자가 유통기한을 입력하면 나의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백엔드에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저장이 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해당 일자는 달력형태로도 선택 가능하지만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직접 입력도 가능하게 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7C14A69-D20E-3BF1-4EB2-94D8FCF6D51F}"/>
              </a:ext>
            </a:extLst>
          </p:cNvPr>
          <p:cNvSpPr/>
          <p:nvPr/>
        </p:nvSpPr>
        <p:spPr>
          <a:xfrm>
            <a:off x="3829062" y="4741585"/>
            <a:ext cx="2758400" cy="4536277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F96A37D-CF6D-0AEC-E8A2-C2083F9DA055}"/>
              </a:ext>
            </a:extLst>
          </p:cNvPr>
          <p:cNvGrpSpPr/>
          <p:nvPr/>
        </p:nvGrpSpPr>
        <p:grpSpPr>
          <a:xfrm>
            <a:off x="-171770" y="4105211"/>
            <a:ext cx="3829060" cy="6021177"/>
            <a:chOff x="-673872" y="2269680"/>
            <a:chExt cx="3039607" cy="4779766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3A43B6F2-DE5F-9D5D-8576-EABDB4B6CC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>
                          <a14:foregroundMark x1="41211" y1="81445" x2="54980" y2="81055"/>
                          <a14:foregroundMark x1="54980" y1="81055" x2="58105" y2="81055"/>
                        </a14:backgroundRemoval>
                      </a14:imgEffect>
                      <a14:imgEffect>
                        <a14:brightnessContrast contrast="40000"/>
                      </a14:imgEffect>
                    </a14:imgLayer>
                  </a14:imgProps>
                </a:ext>
              </a:extLst>
            </a:blip>
            <a:srcRect l="30789" t="16019" r="30463" b="57286"/>
            <a:stretch/>
          </p:blipFill>
          <p:spPr>
            <a:xfrm>
              <a:off x="-673872" y="2269680"/>
              <a:ext cx="3039607" cy="1927428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2B058568-14ED-3117-B116-F0440CE39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8652" b="81055" l="4883" r="31934">
                          <a14:foregroundMark x1="14551" y1="28223" x2="18066" y2="38086"/>
                          <a14:foregroundMark x1="20313" y1="20898" x2="25391" y2="21387"/>
                          <a14:foregroundMark x1="9766" y1="31934" x2="11523" y2="40234"/>
                          <a14:foregroundMark x1="9375" y1="54199" x2="15527" y2="77148"/>
                          <a14:foregroundMark x1="15527" y1="77148" x2="17480" y2="80176"/>
                          <a14:foregroundMark x1="24414" y1="76172" x2="20313" y2="78711"/>
                          <a14:foregroundMark x1="29199" y1="75977" x2="29785" y2="77734"/>
                          <a14:foregroundMark x1="28711" y1="80664" x2="28125" y2="81055"/>
                          <a14:foregroundMark x1="7227" y1="19141" x2="9961" y2="19141"/>
                          <a14:foregroundMark x1="15820" y1="18945" x2="18164" y2="19141"/>
                          <a14:foregroundMark x1="9082" y1="19043" x2="10840" y2="19141"/>
                          <a14:foregroundMark x1="9277" y1="18652" x2="11328" y2="19043"/>
                        </a14:backgroundRemoval>
                      </a14:imgEffect>
                    </a14:imgLayer>
                  </a14:imgProps>
                </a:ext>
              </a:extLst>
            </a:blip>
            <a:srcRect l="1638" t="42354" r="64572" b="16020"/>
            <a:stretch/>
          </p:blipFill>
          <p:spPr>
            <a:xfrm>
              <a:off x="-353234" y="4157515"/>
              <a:ext cx="2347494" cy="2891931"/>
            </a:xfrm>
            <a:prstGeom prst="rect">
              <a:avLst/>
            </a:prstGeom>
          </p:spPr>
        </p:pic>
      </p:grp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0AF1F7D-21CA-77CF-2DEA-CAB85A16164E}"/>
              </a:ext>
            </a:extLst>
          </p:cNvPr>
          <p:cNvSpPr/>
          <p:nvPr/>
        </p:nvSpPr>
        <p:spPr>
          <a:xfrm>
            <a:off x="4031615" y="4889661"/>
            <a:ext cx="695934" cy="229500"/>
          </a:xfrm>
          <a:prstGeom prst="roundRect">
            <a:avLst>
              <a:gd name="adj" fmla="val 38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청양고추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A92993D-33A1-49DE-3372-8D5F3FA6865E}"/>
              </a:ext>
            </a:extLst>
          </p:cNvPr>
          <p:cNvSpPr/>
          <p:nvPr/>
        </p:nvSpPr>
        <p:spPr>
          <a:xfrm>
            <a:off x="4826540" y="4889661"/>
            <a:ext cx="695934" cy="229500"/>
          </a:xfrm>
          <a:prstGeom prst="roundRect">
            <a:avLst>
              <a:gd name="adj" fmla="val 38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만두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F77C9E2-240A-7D9F-263D-B8461B7C6EAA}"/>
              </a:ext>
            </a:extLst>
          </p:cNvPr>
          <p:cNvSpPr/>
          <p:nvPr/>
        </p:nvSpPr>
        <p:spPr>
          <a:xfrm>
            <a:off x="5621463" y="4889661"/>
            <a:ext cx="695934" cy="229500"/>
          </a:xfrm>
          <a:prstGeom prst="roundRect">
            <a:avLst>
              <a:gd name="adj" fmla="val 38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대파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E2CEE0-C8E5-0FFE-F233-142F75E73249}"/>
              </a:ext>
            </a:extLst>
          </p:cNvPr>
          <p:cNvSpPr txBox="1"/>
          <p:nvPr/>
        </p:nvSpPr>
        <p:spPr>
          <a:xfrm>
            <a:off x="2" y="1980409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UI 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구성</a:t>
            </a:r>
            <a:endParaRPr lang="ko-KR" altLang="en-US" sz="2267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2956E1-741F-71A5-4BD2-CF329F7C506D}"/>
              </a:ext>
            </a:extLst>
          </p:cNvPr>
          <p:cNvSpPr txBox="1"/>
          <p:nvPr/>
        </p:nvSpPr>
        <p:spPr>
          <a:xfrm>
            <a:off x="2" y="10799768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2267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9B9EFB-5C8D-3A92-CC5A-F62C4FD69EC4}"/>
              </a:ext>
            </a:extLst>
          </p:cNvPr>
          <p:cNvSpPr txBox="1"/>
          <p:nvPr/>
        </p:nvSpPr>
        <p:spPr>
          <a:xfrm>
            <a:off x="213617" y="3024667"/>
            <a:ext cx="1109824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202194-F1BF-2F6B-FE48-53F4740949A9}"/>
              </a:ext>
            </a:extLst>
          </p:cNvPr>
          <p:cNvSpPr txBox="1"/>
          <p:nvPr/>
        </p:nvSpPr>
        <p:spPr>
          <a:xfrm>
            <a:off x="1476515" y="3026376"/>
            <a:ext cx="1248260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EB2BE6-11F3-8E68-E452-2BEE21EFB1D3}"/>
              </a:ext>
            </a:extLst>
          </p:cNvPr>
          <p:cNvSpPr txBox="1"/>
          <p:nvPr/>
        </p:nvSpPr>
        <p:spPr>
          <a:xfrm>
            <a:off x="3978099" y="3024667"/>
            <a:ext cx="589464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A0A1A3-EB37-0F56-B461-03B16E6C178D}"/>
              </a:ext>
            </a:extLst>
          </p:cNvPr>
          <p:cNvSpPr txBox="1"/>
          <p:nvPr/>
        </p:nvSpPr>
        <p:spPr>
          <a:xfrm>
            <a:off x="2896176" y="3024667"/>
            <a:ext cx="928852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B81523F-A1E6-9E24-E72F-08124B5A61CE}"/>
              </a:ext>
            </a:extLst>
          </p:cNvPr>
          <p:cNvSpPr/>
          <p:nvPr/>
        </p:nvSpPr>
        <p:spPr>
          <a:xfrm>
            <a:off x="1271167" y="3999760"/>
            <a:ext cx="4713603" cy="3250828"/>
          </a:xfrm>
          <a:prstGeom prst="roundRect">
            <a:avLst>
              <a:gd name="adj" fmla="val 2707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6922B1-49D3-829C-B847-BBC0992D48D9}"/>
              </a:ext>
            </a:extLst>
          </p:cNvPr>
          <p:cNvSpPr txBox="1"/>
          <p:nvPr/>
        </p:nvSpPr>
        <p:spPr>
          <a:xfrm>
            <a:off x="1750407" y="4223888"/>
            <a:ext cx="3724444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재료의 상세 정보를 입력해 주세요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45C1E5-56F2-A30B-F1F4-9975E25F445C}"/>
              </a:ext>
            </a:extLst>
          </p:cNvPr>
          <p:cNvSpPr txBox="1"/>
          <p:nvPr/>
        </p:nvSpPr>
        <p:spPr>
          <a:xfrm>
            <a:off x="5627693" y="3974033"/>
            <a:ext cx="285061" cy="363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76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x</a:t>
            </a:r>
            <a:endParaRPr lang="ko-KR" altLang="en-US" sz="176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606C84-7621-95B7-B560-358D1D7EA2B3}"/>
              </a:ext>
            </a:extLst>
          </p:cNvPr>
          <p:cNvSpPr txBox="1"/>
          <p:nvPr/>
        </p:nvSpPr>
        <p:spPr>
          <a:xfrm>
            <a:off x="1425078" y="4600118"/>
            <a:ext cx="3724444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유통기한은 언제까지 인가요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?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9218" name="Picture 2" descr="Datepicker Jquery 다중달력 등 다양한 옵션 : 네이버 블로그">
            <a:extLst>
              <a:ext uri="{FF2B5EF4-FFF2-40B4-BE49-F238E27FC236}">
                <a16:creationId xmlns:a16="http://schemas.microsoft.com/office/drawing/2014/main" id="{9FC8CDE5-D0E3-4A5F-EB84-0EFEC225D5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" r="3592" b="1883"/>
          <a:stretch/>
        </p:blipFill>
        <p:spPr bwMode="auto">
          <a:xfrm>
            <a:off x="1519298" y="4817188"/>
            <a:ext cx="2777718" cy="2305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14FF8DE5-977A-9C0C-F38F-E28CB8B026CA}"/>
              </a:ext>
            </a:extLst>
          </p:cNvPr>
          <p:cNvCxnSpPr/>
          <p:nvPr/>
        </p:nvCxnSpPr>
        <p:spPr>
          <a:xfrm>
            <a:off x="1557639" y="4544060"/>
            <a:ext cx="412182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F7B8351-8CD5-3096-B965-582AD079D23D}"/>
              </a:ext>
            </a:extLst>
          </p:cNvPr>
          <p:cNvSpPr txBox="1"/>
          <p:nvPr/>
        </p:nvSpPr>
        <p:spPr>
          <a:xfrm>
            <a:off x="1841826" y="4860168"/>
            <a:ext cx="3719645" cy="208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직접입력 가능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(ex.2025.05.02)</a:t>
            </a:r>
            <a:endParaRPr lang="ko-KR" altLang="en-US" sz="756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31890A-3CF8-67BC-5BD6-F6D4D0615077}"/>
              </a:ext>
            </a:extLst>
          </p:cNvPr>
          <p:cNvSpPr txBox="1"/>
          <p:nvPr/>
        </p:nvSpPr>
        <p:spPr>
          <a:xfrm>
            <a:off x="1173501" y="4087630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ⓐ</a:t>
            </a:r>
          </a:p>
        </p:txBody>
      </p:sp>
    </p:spTree>
    <p:extLst>
      <p:ext uri="{BB962C8B-B14F-4D97-AF65-F5344CB8AC3E}">
        <p14:creationId xmlns:p14="http://schemas.microsoft.com/office/powerpoint/2010/main" val="3538158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82014-71F0-2C10-6701-D45FE34B9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7A11DE0-4616-248D-87F3-781A2C61E7E4}"/>
              </a:ext>
            </a:extLst>
          </p:cNvPr>
          <p:cNvSpPr/>
          <p:nvPr/>
        </p:nvSpPr>
        <p:spPr>
          <a:xfrm>
            <a:off x="-1" y="2447830"/>
            <a:ext cx="7199313" cy="8272664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DFDCE92-D105-97CD-E588-234561D9B82C}"/>
              </a:ext>
            </a:extLst>
          </p:cNvPr>
          <p:cNvCxnSpPr>
            <a:cxnSpLocks/>
          </p:cNvCxnSpPr>
          <p:nvPr/>
        </p:nvCxnSpPr>
        <p:spPr>
          <a:xfrm>
            <a:off x="-1" y="2419727"/>
            <a:ext cx="7199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8FD2D5BE-2E35-D66D-DAA5-62744DAF19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251"/>
          <a:stretch/>
        </p:blipFill>
        <p:spPr>
          <a:xfrm>
            <a:off x="-1" y="2445666"/>
            <a:ext cx="7199313" cy="329625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029D078-4B56-EDE1-64DF-6C9422C60422}"/>
              </a:ext>
            </a:extLst>
          </p:cNvPr>
          <p:cNvSpPr/>
          <p:nvPr/>
        </p:nvSpPr>
        <p:spPr>
          <a:xfrm>
            <a:off x="1255829" y="3584587"/>
            <a:ext cx="4713603" cy="31017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0A7BF3-8020-A4E5-15AF-128CDFB3BDE9}"/>
              </a:ext>
            </a:extLst>
          </p:cNvPr>
          <p:cNvSpPr txBox="1"/>
          <p:nvPr/>
        </p:nvSpPr>
        <p:spPr>
          <a:xfrm>
            <a:off x="1281772" y="3613875"/>
            <a:ext cx="5305688" cy="24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[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사용자 닉네임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]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님이 갖고 있는 냉동실 속 재료를 입력해주세요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EEDABC2-5AC1-34DE-3E31-98105A70E946}"/>
              </a:ext>
            </a:extLst>
          </p:cNvPr>
          <p:cNvSpPr/>
          <p:nvPr/>
        </p:nvSpPr>
        <p:spPr>
          <a:xfrm>
            <a:off x="3829062" y="4741585"/>
            <a:ext cx="2758400" cy="4536277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1D4549A-AED5-6843-91E7-61FA54E3EBFE}"/>
              </a:ext>
            </a:extLst>
          </p:cNvPr>
          <p:cNvGrpSpPr/>
          <p:nvPr/>
        </p:nvGrpSpPr>
        <p:grpSpPr>
          <a:xfrm>
            <a:off x="-171770" y="4105211"/>
            <a:ext cx="3829060" cy="6021177"/>
            <a:chOff x="-673872" y="2269680"/>
            <a:chExt cx="3039607" cy="4779766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7291649-5AAA-5D7A-96C7-865032F94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>
                          <a14:foregroundMark x1="41211" y1="81445" x2="54980" y2="81055"/>
                          <a14:foregroundMark x1="54980" y1="81055" x2="58105" y2="81055"/>
                        </a14:backgroundRemoval>
                      </a14:imgEffect>
                      <a14:imgEffect>
                        <a14:brightnessContrast contrast="40000"/>
                      </a14:imgEffect>
                    </a14:imgLayer>
                  </a14:imgProps>
                </a:ext>
              </a:extLst>
            </a:blip>
            <a:srcRect l="30789" t="16019" r="30463" b="57286"/>
            <a:stretch/>
          </p:blipFill>
          <p:spPr>
            <a:xfrm>
              <a:off x="-673872" y="2269680"/>
              <a:ext cx="3039607" cy="1927428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825ACA6A-504E-128B-E3D3-5EB07CF6E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8652" b="81055" l="4883" r="31934">
                          <a14:foregroundMark x1="14551" y1="28223" x2="18066" y2="38086"/>
                          <a14:foregroundMark x1="20313" y1="20898" x2="25391" y2="21387"/>
                          <a14:foregroundMark x1="9766" y1="31934" x2="11523" y2="40234"/>
                          <a14:foregroundMark x1="9375" y1="54199" x2="15527" y2="77148"/>
                          <a14:foregroundMark x1="15527" y1="77148" x2="17480" y2="80176"/>
                          <a14:foregroundMark x1="24414" y1="76172" x2="20313" y2="78711"/>
                          <a14:foregroundMark x1="29199" y1="75977" x2="29785" y2="77734"/>
                          <a14:foregroundMark x1="28711" y1="80664" x2="28125" y2="81055"/>
                          <a14:foregroundMark x1="7227" y1="19141" x2="9961" y2="19141"/>
                          <a14:foregroundMark x1="15820" y1="18945" x2="18164" y2="19141"/>
                          <a14:foregroundMark x1="9082" y1="19043" x2="10840" y2="19141"/>
                          <a14:foregroundMark x1="9277" y1="18652" x2="11328" y2="19043"/>
                        </a14:backgroundRemoval>
                      </a14:imgEffect>
                    </a14:imgLayer>
                  </a14:imgProps>
                </a:ext>
              </a:extLst>
            </a:blip>
            <a:srcRect l="1638" t="42354" r="64572" b="16020"/>
            <a:stretch/>
          </p:blipFill>
          <p:spPr>
            <a:xfrm>
              <a:off x="-353234" y="4157515"/>
              <a:ext cx="2347494" cy="2891931"/>
            </a:xfrm>
            <a:prstGeom prst="rect">
              <a:avLst/>
            </a:prstGeom>
          </p:spPr>
        </p:pic>
      </p:grp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571F5ED-40A6-EBB2-BF5C-B3C5237F7E55}"/>
              </a:ext>
            </a:extLst>
          </p:cNvPr>
          <p:cNvSpPr/>
          <p:nvPr/>
        </p:nvSpPr>
        <p:spPr>
          <a:xfrm>
            <a:off x="4031615" y="4889661"/>
            <a:ext cx="695934" cy="229500"/>
          </a:xfrm>
          <a:prstGeom prst="roundRect">
            <a:avLst>
              <a:gd name="adj" fmla="val 38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청양고추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111F97C-E608-1EB8-CF2A-93887C76CF88}"/>
              </a:ext>
            </a:extLst>
          </p:cNvPr>
          <p:cNvSpPr/>
          <p:nvPr/>
        </p:nvSpPr>
        <p:spPr>
          <a:xfrm>
            <a:off x="4826540" y="4889661"/>
            <a:ext cx="695934" cy="229500"/>
          </a:xfrm>
          <a:prstGeom prst="roundRect">
            <a:avLst>
              <a:gd name="adj" fmla="val 38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만두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2E135F2-D545-5011-0E60-B586CBDDBEB6}"/>
              </a:ext>
            </a:extLst>
          </p:cNvPr>
          <p:cNvSpPr/>
          <p:nvPr/>
        </p:nvSpPr>
        <p:spPr>
          <a:xfrm>
            <a:off x="5621463" y="4889661"/>
            <a:ext cx="695934" cy="229500"/>
          </a:xfrm>
          <a:prstGeom prst="roundRect">
            <a:avLst>
              <a:gd name="adj" fmla="val 38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대파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C74D1A-83BA-28CC-6C32-D01729A18ADA}"/>
              </a:ext>
            </a:extLst>
          </p:cNvPr>
          <p:cNvSpPr txBox="1"/>
          <p:nvPr/>
        </p:nvSpPr>
        <p:spPr>
          <a:xfrm>
            <a:off x="2" y="1980409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UI 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구성</a:t>
            </a:r>
            <a:endParaRPr lang="ko-KR" altLang="en-US" sz="2267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B03EDE-0F27-7195-1E48-BDEC840AF441}"/>
              </a:ext>
            </a:extLst>
          </p:cNvPr>
          <p:cNvSpPr txBox="1"/>
          <p:nvPr/>
        </p:nvSpPr>
        <p:spPr>
          <a:xfrm>
            <a:off x="2" y="10799768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2267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F87EC6-1A24-EA8E-3693-2251EBF762D7}"/>
              </a:ext>
            </a:extLst>
          </p:cNvPr>
          <p:cNvSpPr txBox="1"/>
          <p:nvPr/>
        </p:nvSpPr>
        <p:spPr>
          <a:xfrm>
            <a:off x="213617" y="3024667"/>
            <a:ext cx="1109824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91073B-27B7-7D3E-7FCC-CF2A23959955}"/>
              </a:ext>
            </a:extLst>
          </p:cNvPr>
          <p:cNvSpPr txBox="1"/>
          <p:nvPr/>
        </p:nvSpPr>
        <p:spPr>
          <a:xfrm>
            <a:off x="1476515" y="3026376"/>
            <a:ext cx="1248260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9CF0FA-0598-5A77-1011-6C06E8EAEC07}"/>
              </a:ext>
            </a:extLst>
          </p:cNvPr>
          <p:cNvSpPr txBox="1"/>
          <p:nvPr/>
        </p:nvSpPr>
        <p:spPr>
          <a:xfrm>
            <a:off x="3978101" y="3024667"/>
            <a:ext cx="749449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84175F-905A-5C67-5BB5-71F485C949BF}"/>
              </a:ext>
            </a:extLst>
          </p:cNvPr>
          <p:cNvSpPr txBox="1"/>
          <p:nvPr/>
        </p:nvSpPr>
        <p:spPr>
          <a:xfrm>
            <a:off x="2896176" y="3024667"/>
            <a:ext cx="928852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C562B05-137B-2F64-68E7-4259D4DED834}"/>
              </a:ext>
            </a:extLst>
          </p:cNvPr>
          <p:cNvSpPr/>
          <p:nvPr/>
        </p:nvSpPr>
        <p:spPr>
          <a:xfrm>
            <a:off x="1271167" y="3999760"/>
            <a:ext cx="4713603" cy="3250828"/>
          </a:xfrm>
          <a:prstGeom prst="roundRect">
            <a:avLst>
              <a:gd name="adj" fmla="val 2707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176045-F9C0-296A-C17A-835C1D5E0FC6}"/>
              </a:ext>
            </a:extLst>
          </p:cNvPr>
          <p:cNvSpPr txBox="1"/>
          <p:nvPr/>
        </p:nvSpPr>
        <p:spPr>
          <a:xfrm>
            <a:off x="1750407" y="4223888"/>
            <a:ext cx="3724444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재료의 상세 정보를 입력해 주세요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4D7956-D83C-ACB5-AF8C-2D865174FD99}"/>
              </a:ext>
            </a:extLst>
          </p:cNvPr>
          <p:cNvSpPr txBox="1"/>
          <p:nvPr/>
        </p:nvSpPr>
        <p:spPr>
          <a:xfrm>
            <a:off x="5627693" y="3974033"/>
            <a:ext cx="285061" cy="363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76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x</a:t>
            </a:r>
            <a:endParaRPr lang="ko-KR" altLang="en-US" sz="176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11B144-D8A7-A41C-BC69-45BF414EFED4}"/>
              </a:ext>
            </a:extLst>
          </p:cNvPr>
          <p:cNvSpPr txBox="1"/>
          <p:nvPr/>
        </p:nvSpPr>
        <p:spPr>
          <a:xfrm>
            <a:off x="1425078" y="4600118"/>
            <a:ext cx="3724444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구매 시점은 언제 인가요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?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9218" name="Picture 2" descr="Datepicker Jquery 다중달력 등 다양한 옵션 : 네이버 블로그">
            <a:extLst>
              <a:ext uri="{FF2B5EF4-FFF2-40B4-BE49-F238E27FC236}">
                <a16:creationId xmlns:a16="http://schemas.microsoft.com/office/drawing/2014/main" id="{D34A5858-7FAD-E9E7-A577-135B352342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" r="3592" b="1883"/>
          <a:stretch/>
        </p:blipFill>
        <p:spPr bwMode="auto">
          <a:xfrm>
            <a:off x="1519298" y="4817188"/>
            <a:ext cx="2777718" cy="2305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048748E2-8654-1D99-C271-EF4513C30EFD}"/>
              </a:ext>
            </a:extLst>
          </p:cNvPr>
          <p:cNvCxnSpPr/>
          <p:nvPr/>
        </p:nvCxnSpPr>
        <p:spPr>
          <a:xfrm>
            <a:off x="1557639" y="4544060"/>
            <a:ext cx="412182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0705AF0-1DC0-810B-90A7-3FDDF5897FC3}"/>
              </a:ext>
            </a:extLst>
          </p:cNvPr>
          <p:cNvSpPr txBox="1"/>
          <p:nvPr/>
        </p:nvSpPr>
        <p:spPr>
          <a:xfrm>
            <a:off x="1841826" y="4860168"/>
            <a:ext cx="3719645" cy="208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직접입력 가능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(ex.2025.05.02)</a:t>
            </a:r>
            <a:endParaRPr lang="ko-KR" altLang="en-US" sz="756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147AD8-B6A3-3014-90C9-9029B010AA94}"/>
              </a:ext>
            </a:extLst>
          </p:cNvPr>
          <p:cNvSpPr txBox="1"/>
          <p:nvPr/>
        </p:nvSpPr>
        <p:spPr>
          <a:xfrm>
            <a:off x="1173501" y="4087630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071745-9230-6691-177D-1F2ED5DEAA1D}"/>
              </a:ext>
            </a:extLst>
          </p:cNvPr>
          <p:cNvSpPr txBox="1"/>
          <p:nvPr/>
        </p:nvSpPr>
        <p:spPr>
          <a:xfrm>
            <a:off x="-1" y="11422446"/>
            <a:ext cx="7199313" cy="94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76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ⓐ</a:t>
            </a: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상세 정보 입력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팝업창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냉동고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실온보관 모두 재료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입력시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동일 로직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앞에서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재료에 유통기한은 따로 없어요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를 선택한 소비자의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팝업창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화면은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구매시점은 언제까지 인가요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?’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를 입력하는 창으로 전환된다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사용자가 유통기한을 입력하면 나의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백엔드에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저장이 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해당 일자는 달력형태로도 선택 가능하지만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직접 입력도 가능하게 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45504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82256-27E8-6FC8-FFE6-56A76637B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DCE4D308-9080-8989-3472-72CD5C239947}"/>
              </a:ext>
            </a:extLst>
          </p:cNvPr>
          <p:cNvSpPr/>
          <p:nvPr/>
        </p:nvSpPr>
        <p:spPr>
          <a:xfrm>
            <a:off x="-42146" y="2940034"/>
            <a:ext cx="7241459" cy="12404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sp>
        <p:nvSpPr>
          <p:cNvPr id="4168" name="직사각형 4167">
            <a:extLst>
              <a:ext uri="{FF2B5EF4-FFF2-40B4-BE49-F238E27FC236}">
                <a16:creationId xmlns:a16="http://schemas.microsoft.com/office/drawing/2014/main" id="{0519D71F-C408-A490-D7D1-662E2C618815}"/>
              </a:ext>
            </a:extLst>
          </p:cNvPr>
          <p:cNvSpPr/>
          <p:nvPr/>
        </p:nvSpPr>
        <p:spPr>
          <a:xfrm>
            <a:off x="-2" y="2363911"/>
            <a:ext cx="7199313" cy="11808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sp>
        <p:nvSpPr>
          <p:cNvPr id="4153" name="직사각형 4152">
            <a:extLst>
              <a:ext uri="{FF2B5EF4-FFF2-40B4-BE49-F238E27FC236}">
                <a16:creationId xmlns:a16="http://schemas.microsoft.com/office/drawing/2014/main" id="{E7191555-CF5D-4541-5033-EFEDBE58C034}"/>
              </a:ext>
            </a:extLst>
          </p:cNvPr>
          <p:cNvSpPr/>
          <p:nvPr/>
        </p:nvSpPr>
        <p:spPr>
          <a:xfrm>
            <a:off x="-1" y="1980406"/>
            <a:ext cx="7199313" cy="146029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8D67EE-CA92-E752-D250-974F30190C49}"/>
              </a:ext>
            </a:extLst>
          </p:cNvPr>
          <p:cNvSpPr/>
          <p:nvPr/>
        </p:nvSpPr>
        <p:spPr>
          <a:xfrm>
            <a:off x="-42146" y="2593751"/>
            <a:ext cx="7241459" cy="8969742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2EA8F8D4-EE44-27A6-5B2C-A5D696F0C70C}"/>
              </a:ext>
            </a:extLst>
          </p:cNvPr>
          <p:cNvCxnSpPr>
            <a:cxnSpLocks/>
          </p:cNvCxnSpPr>
          <p:nvPr/>
        </p:nvCxnSpPr>
        <p:spPr>
          <a:xfrm>
            <a:off x="-1" y="2565646"/>
            <a:ext cx="7199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B9C1532A-6B61-5E1F-4023-8E558CCBA3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251"/>
          <a:stretch/>
        </p:blipFill>
        <p:spPr>
          <a:xfrm>
            <a:off x="-1" y="2591586"/>
            <a:ext cx="7199313" cy="32962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33BD338-CFF4-C862-B425-C63CA66C9628}"/>
              </a:ext>
            </a:extLst>
          </p:cNvPr>
          <p:cNvSpPr txBox="1"/>
          <p:nvPr/>
        </p:nvSpPr>
        <p:spPr>
          <a:xfrm>
            <a:off x="873514" y="3524269"/>
            <a:ext cx="5452282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[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사용자 닉네임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]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님이 입력한 재료 기반으로 레시피 추천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FB7E114-B970-71F0-32C4-517D06A98663}"/>
              </a:ext>
            </a:extLst>
          </p:cNvPr>
          <p:cNvSpPr/>
          <p:nvPr/>
        </p:nvSpPr>
        <p:spPr>
          <a:xfrm>
            <a:off x="263353" y="4950552"/>
            <a:ext cx="6707827" cy="2087464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4F66CA8-5915-184E-98F1-4CBA666CF2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57" b="4397"/>
          <a:stretch/>
        </p:blipFill>
        <p:spPr>
          <a:xfrm>
            <a:off x="471863" y="5102137"/>
            <a:ext cx="830748" cy="7950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1B505D4-66DE-840A-32C5-57DAC0BD33B5}"/>
              </a:ext>
            </a:extLst>
          </p:cNvPr>
          <p:cNvSpPr txBox="1"/>
          <p:nvPr/>
        </p:nvSpPr>
        <p:spPr>
          <a:xfrm>
            <a:off x="1424025" y="5064894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오징어볶음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만드는법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간단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16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306AB27A-68C4-DFC5-C525-9CFEC8107E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5836876" y="5133093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F4FAF90D-13EB-D71E-83AF-AFF3F3510F83}"/>
              </a:ext>
            </a:extLst>
          </p:cNvPr>
          <p:cNvGrpSpPr/>
          <p:nvPr/>
        </p:nvGrpSpPr>
        <p:grpSpPr>
          <a:xfrm>
            <a:off x="1251185" y="3898761"/>
            <a:ext cx="4220929" cy="329624"/>
            <a:chOff x="5907972" y="5212399"/>
            <a:chExt cx="1164752" cy="116154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AE0CCE4B-480F-FC68-0132-92FEEC54B301}"/>
                </a:ext>
              </a:extLst>
            </p:cNvPr>
            <p:cNvSpPr/>
            <p:nvPr/>
          </p:nvSpPr>
          <p:spPr>
            <a:xfrm>
              <a:off x="5907972" y="5212399"/>
              <a:ext cx="1164752" cy="116154"/>
            </a:xfrm>
            <a:prstGeom prst="roundRect">
              <a:avLst/>
            </a:prstGeom>
            <a:solidFill>
              <a:srgbClr val="4644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519"/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DD05B116-3EDC-32A5-80B8-F9CE01E1A54D}"/>
                </a:ext>
              </a:extLst>
            </p:cNvPr>
            <p:cNvSpPr/>
            <p:nvPr/>
          </p:nvSpPr>
          <p:spPr>
            <a:xfrm>
              <a:off x="6640069" y="5231921"/>
              <a:ext cx="190610" cy="7191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b="1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댓글순</a:t>
              </a:r>
              <a:endPara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09BE35AC-A795-74B6-319D-5C64993EAD24}"/>
                </a:ext>
              </a:extLst>
            </p:cNvPr>
            <p:cNvSpPr/>
            <p:nvPr/>
          </p:nvSpPr>
          <p:spPr>
            <a:xfrm>
              <a:off x="6839597" y="5231921"/>
              <a:ext cx="214801" cy="7191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최신순</a:t>
              </a: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9FFA8BCA-23AD-1E1C-B2BE-A10081034E4A}"/>
                </a:ext>
              </a:extLst>
            </p:cNvPr>
            <p:cNvSpPr/>
            <p:nvPr/>
          </p:nvSpPr>
          <p:spPr>
            <a:xfrm>
              <a:off x="6441200" y="5231921"/>
              <a:ext cx="190610" cy="7191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b="1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좋아요순</a:t>
              </a:r>
              <a:endPara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403E6DDC-A42C-D1E6-00DF-481E66D45C9A}"/>
                </a:ext>
              </a:extLst>
            </p:cNvPr>
            <p:cNvSpPr/>
            <p:nvPr/>
          </p:nvSpPr>
          <p:spPr>
            <a:xfrm>
              <a:off x="5920297" y="5231921"/>
              <a:ext cx="217424" cy="71912"/>
            </a:xfrm>
            <a:prstGeom prst="roundRect">
              <a:avLst/>
            </a:prstGeom>
            <a:solidFill>
              <a:srgbClr val="1F1F22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b="1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재료매칭률순</a:t>
              </a:r>
              <a:endPara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</p:grp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970DC6C-3E85-CC87-377D-43EB8C80A017}"/>
              </a:ext>
            </a:extLst>
          </p:cNvPr>
          <p:cNvSpPr/>
          <p:nvPr/>
        </p:nvSpPr>
        <p:spPr>
          <a:xfrm>
            <a:off x="430719" y="6038759"/>
            <a:ext cx="871892" cy="79505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99%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87EB2E-426D-7FF7-842B-CBFCB9D9754C}"/>
              </a:ext>
            </a:extLst>
          </p:cNvPr>
          <p:cNvSpPr txBox="1"/>
          <p:nvPr/>
        </p:nvSpPr>
        <p:spPr>
          <a:xfrm>
            <a:off x="5918780" y="5064894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777ls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25-03-08</a:t>
            </a:r>
            <a:endParaRPr lang="en-US" altLang="ko-KR" sz="126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CBDDCB-C987-CC66-3683-8CC96339B8B3}"/>
              </a:ext>
            </a:extLst>
          </p:cNvPr>
          <p:cNvSpPr txBox="1"/>
          <p:nvPr/>
        </p:nvSpPr>
        <p:spPr>
          <a:xfrm>
            <a:off x="1405927" y="5409292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저는 평소 찬거리 고를 때 마트에 가서 한 번 쭉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~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둘러 본 다음에 오늘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세일하는거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뭔가 보고 결정을 해요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지난주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어느날에는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마트에 갔는데 오징어 세일이라 집어 왔어요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ㅎ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그래서 이걸로 오징어요리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뭐할까하다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그냥 제일 간단한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물기없는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오징어볶음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레시피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2F34342-7E63-DB1D-A881-2012CA1FE764}"/>
              </a:ext>
            </a:extLst>
          </p:cNvPr>
          <p:cNvSpPr/>
          <p:nvPr/>
        </p:nvSpPr>
        <p:spPr>
          <a:xfrm>
            <a:off x="1443258" y="6034701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22D1E4C-A1DF-20C9-7620-D6C29EA2DC0A}"/>
              </a:ext>
            </a:extLst>
          </p:cNvPr>
          <p:cNvSpPr/>
          <p:nvPr/>
        </p:nvSpPr>
        <p:spPr>
          <a:xfrm>
            <a:off x="1443258" y="6330708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215F9982-E59C-6E20-1D9F-FA502D0AC53E}"/>
              </a:ext>
            </a:extLst>
          </p:cNvPr>
          <p:cNvSpPr/>
          <p:nvPr/>
        </p:nvSpPr>
        <p:spPr>
          <a:xfrm>
            <a:off x="2496990" y="632788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24ECC97-EC0B-7810-76F4-26D7A59A14E8}"/>
              </a:ext>
            </a:extLst>
          </p:cNvPr>
          <p:cNvSpPr/>
          <p:nvPr/>
        </p:nvSpPr>
        <p:spPr>
          <a:xfrm>
            <a:off x="2496990" y="603647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양파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793D9E6-971B-A9DC-DCE7-1F93814DF5AE}"/>
              </a:ext>
            </a:extLst>
          </p:cNvPr>
          <p:cNvSpPr/>
          <p:nvPr/>
        </p:nvSpPr>
        <p:spPr>
          <a:xfrm>
            <a:off x="2999339" y="603647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대파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64F4921C-5461-228C-4CA5-23BF00C4822E}"/>
              </a:ext>
            </a:extLst>
          </p:cNvPr>
          <p:cNvSpPr/>
          <p:nvPr/>
        </p:nvSpPr>
        <p:spPr>
          <a:xfrm>
            <a:off x="3501689" y="603647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통깨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670AD15-3EAB-AB3D-711A-68DCE8B3F5D3}"/>
              </a:ext>
            </a:extLst>
          </p:cNvPr>
          <p:cNvSpPr/>
          <p:nvPr/>
        </p:nvSpPr>
        <p:spPr>
          <a:xfrm>
            <a:off x="4004038" y="603647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참기름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009FAFC-B930-D56D-82D2-639263D0ADD9}"/>
              </a:ext>
            </a:extLst>
          </p:cNvPr>
          <p:cNvSpPr/>
          <p:nvPr/>
        </p:nvSpPr>
        <p:spPr>
          <a:xfrm>
            <a:off x="4506388" y="603647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고춧가루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6A09615A-D260-3F17-D31F-078A4B9CF975}"/>
              </a:ext>
            </a:extLst>
          </p:cNvPr>
          <p:cNvSpPr/>
          <p:nvPr/>
        </p:nvSpPr>
        <p:spPr>
          <a:xfrm>
            <a:off x="5008737" y="603647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올리고당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183F9441-E937-AD69-F32D-B73CEB85E5BE}"/>
              </a:ext>
            </a:extLst>
          </p:cNvPr>
          <p:cNvSpPr/>
          <p:nvPr/>
        </p:nvSpPr>
        <p:spPr>
          <a:xfrm>
            <a:off x="5511087" y="603647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설탕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B711F697-EABC-D156-42B9-F5C52CD3B9B7}"/>
              </a:ext>
            </a:extLst>
          </p:cNvPr>
          <p:cNvSpPr/>
          <p:nvPr/>
        </p:nvSpPr>
        <p:spPr>
          <a:xfrm>
            <a:off x="6013436" y="603647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다진마늘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1E9F6D3-91D7-CE8E-A5BC-F1A2562B8482}"/>
              </a:ext>
            </a:extLst>
          </p:cNvPr>
          <p:cNvSpPr txBox="1"/>
          <p:nvPr/>
        </p:nvSpPr>
        <p:spPr>
          <a:xfrm>
            <a:off x="6504328" y="5990858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93D73614-2DAD-3984-8DBD-1913644322F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1920"/>
          <a:stretch/>
        </p:blipFill>
        <p:spPr>
          <a:xfrm flipH="1">
            <a:off x="6669029" y="5426469"/>
            <a:ext cx="116844" cy="547211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C8BE0A5-3B60-5A05-C870-67FD480DC69D}"/>
              </a:ext>
            </a:extLst>
          </p:cNvPr>
          <p:cNvSpPr txBox="1"/>
          <p:nvPr/>
        </p:nvSpPr>
        <p:spPr>
          <a:xfrm>
            <a:off x="228136" y="4428973"/>
            <a:ext cx="5687457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해당 레시피는 네이버 요리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인플루언서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및 상위 요리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유튜버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레시피를 엄선한 내용입니다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게시글을 클릭하면 해당 게시글로 이동합니다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5FA25A00-D846-0649-3E2D-87734BDBACC4}"/>
              </a:ext>
            </a:extLst>
          </p:cNvPr>
          <p:cNvSpPr/>
          <p:nvPr/>
        </p:nvSpPr>
        <p:spPr>
          <a:xfrm>
            <a:off x="263353" y="7146327"/>
            <a:ext cx="6707827" cy="2054821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8C13936-D507-279E-BCFF-0F237A7A7970}"/>
              </a:ext>
            </a:extLst>
          </p:cNvPr>
          <p:cNvSpPr txBox="1"/>
          <p:nvPr/>
        </p:nvSpPr>
        <p:spPr>
          <a:xfrm>
            <a:off x="1424025" y="7260669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대패삼겹살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제육볶음 레시피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54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9D0074C5-8652-8437-EA08-78DA21EC64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5836876" y="7328868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8761EADF-BBF9-36DE-CB58-6891DA591A21}"/>
              </a:ext>
            </a:extLst>
          </p:cNvPr>
          <p:cNvSpPr/>
          <p:nvPr/>
        </p:nvSpPr>
        <p:spPr>
          <a:xfrm>
            <a:off x="430719" y="8234535"/>
            <a:ext cx="871892" cy="82696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90%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E8B5647-D5B6-0B86-91FF-89A07BDE2FF0}"/>
              </a:ext>
            </a:extLst>
          </p:cNvPr>
          <p:cNvSpPr txBox="1"/>
          <p:nvPr/>
        </p:nvSpPr>
        <p:spPr>
          <a:xfrm>
            <a:off x="5918780" y="7260669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꼬마츄츄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25-04-09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667B2FA-5068-228E-5CCB-75BABA831F44}"/>
              </a:ext>
            </a:extLst>
          </p:cNvPr>
          <p:cNvSpPr txBox="1"/>
          <p:nvPr/>
        </p:nvSpPr>
        <p:spPr>
          <a:xfrm>
            <a:off x="1405927" y="7605067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미리 양념장을 만들어서 볶으셔도 좋고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저처럼 그냥 바로 재료에 다 때려 넣고 볶아도 맛있는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대패삼겹살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제육볶음 레시피 만들 수 있답니다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개인적으로 아주 좋아하는 메뉴이기 때문에 앞다리살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목살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삼겹살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뒷다리살 등 구입을 해오면 볶아먹게 되는 것 같습니다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… 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C8E9440C-F630-C6A9-5D0F-93C993431B74}"/>
              </a:ext>
            </a:extLst>
          </p:cNvPr>
          <p:cNvSpPr/>
          <p:nvPr/>
        </p:nvSpPr>
        <p:spPr>
          <a:xfrm>
            <a:off x="1443258" y="8230476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360628F3-07EE-8F5E-7AFA-00108E518538}"/>
              </a:ext>
            </a:extLst>
          </p:cNvPr>
          <p:cNvSpPr/>
          <p:nvPr/>
        </p:nvSpPr>
        <p:spPr>
          <a:xfrm>
            <a:off x="1443258" y="8526483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0565322C-A19C-39CC-621F-E54276C59F94}"/>
              </a:ext>
            </a:extLst>
          </p:cNvPr>
          <p:cNvSpPr/>
          <p:nvPr/>
        </p:nvSpPr>
        <p:spPr>
          <a:xfrm>
            <a:off x="2496990" y="852365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531395C2-7032-7434-0000-DE9C89B86D96}"/>
              </a:ext>
            </a:extLst>
          </p:cNvPr>
          <p:cNvSpPr/>
          <p:nvPr/>
        </p:nvSpPr>
        <p:spPr>
          <a:xfrm>
            <a:off x="2992029" y="852365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1637C1DD-2642-698A-4A7F-3764DB3A5CB5}"/>
              </a:ext>
            </a:extLst>
          </p:cNvPr>
          <p:cNvSpPr/>
          <p:nvPr/>
        </p:nvSpPr>
        <p:spPr>
          <a:xfrm>
            <a:off x="2496990" y="823224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삽겹살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BD0735D7-6FA4-44A9-27FB-CE880D48645A}"/>
              </a:ext>
            </a:extLst>
          </p:cNvPr>
          <p:cNvSpPr/>
          <p:nvPr/>
        </p:nvSpPr>
        <p:spPr>
          <a:xfrm>
            <a:off x="2999339" y="823224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후추</a:t>
            </a:r>
          </a:p>
        </p:txBody>
      </p:sp>
      <p:sp>
        <p:nvSpPr>
          <p:cNvPr id="4096" name="사각형: 둥근 모서리 4095">
            <a:extLst>
              <a:ext uri="{FF2B5EF4-FFF2-40B4-BE49-F238E27FC236}">
                <a16:creationId xmlns:a16="http://schemas.microsoft.com/office/drawing/2014/main" id="{61E865AD-0CF8-8495-26C9-7C7CCD83EAAC}"/>
              </a:ext>
            </a:extLst>
          </p:cNvPr>
          <p:cNvSpPr/>
          <p:nvPr/>
        </p:nvSpPr>
        <p:spPr>
          <a:xfrm>
            <a:off x="3501689" y="823224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양파</a:t>
            </a:r>
          </a:p>
        </p:txBody>
      </p:sp>
      <p:sp>
        <p:nvSpPr>
          <p:cNvPr id="4097" name="사각형: 둥근 모서리 4096">
            <a:extLst>
              <a:ext uri="{FF2B5EF4-FFF2-40B4-BE49-F238E27FC236}">
                <a16:creationId xmlns:a16="http://schemas.microsoft.com/office/drawing/2014/main" id="{8EEDCC1D-1924-B3FC-0274-9D1A9A4C4884}"/>
              </a:ext>
            </a:extLst>
          </p:cNvPr>
          <p:cNvSpPr/>
          <p:nvPr/>
        </p:nvSpPr>
        <p:spPr>
          <a:xfrm>
            <a:off x="4004038" y="823224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대파</a:t>
            </a:r>
          </a:p>
        </p:txBody>
      </p:sp>
      <p:sp>
        <p:nvSpPr>
          <p:cNvPr id="4099" name="사각형: 둥근 모서리 4098">
            <a:extLst>
              <a:ext uri="{FF2B5EF4-FFF2-40B4-BE49-F238E27FC236}">
                <a16:creationId xmlns:a16="http://schemas.microsoft.com/office/drawing/2014/main" id="{033C5CA9-A1C3-83FA-1377-EE4BB9F3D8C2}"/>
              </a:ext>
            </a:extLst>
          </p:cNvPr>
          <p:cNvSpPr/>
          <p:nvPr/>
        </p:nvSpPr>
        <p:spPr>
          <a:xfrm>
            <a:off x="4506388" y="823224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고추</a:t>
            </a:r>
          </a:p>
        </p:txBody>
      </p:sp>
      <p:sp>
        <p:nvSpPr>
          <p:cNvPr id="4101" name="사각형: 둥근 모서리 4100">
            <a:extLst>
              <a:ext uri="{FF2B5EF4-FFF2-40B4-BE49-F238E27FC236}">
                <a16:creationId xmlns:a16="http://schemas.microsoft.com/office/drawing/2014/main" id="{D436BDF8-32DC-4B9B-D552-D01BE1B98F7A}"/>
              </a:ext>
            </a:extLst>
          </p:cNvPr>
          <p:cNvSpPr/>
          <p:nvPr/>
        </p:nvSpPr>
        <p:spPr>
          <a:xfrm>
            <a:off x="5008737" y="823224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간장</a:t>
            </a:r>
          </a:p>
        </p:txBody>
      </p:sp>
      <p:sp>
        <p:nvSpPr>
          <p:cNvPr id="4102" name="사각형: 둥근 모서리 4101">
            <a:extLst>
              <a:ext uri="{FF2B5EF4-FFF2-40B4-BE49-F238E27FC236}">
                <a16:creationId xmlns:a16="http://schemas.microsoft.com/office/drawing/2014/main" id="{1906B908-8147-D7DC-9F2A-AEF00C32A31B}"/>
              </a:ext>
            </a:extLst>
          </p:cNvPr>
          <p:cNvSpPr/>
          <p:nvPr/>
        </p:nvSpPr>
        <p:spPr>
          <a:xfrm>
            <a:off x="5511087" y="823224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다진마늘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03" name="사각형: 둥근 모서리 4102">
            <a:extLst>
              <a:ext uri="{FF2B5EF4-FFF2-40B4-BE49-F238E27FC236}">
                <a16:creationId xmlns:a16="http://schemas.microsoft.com/office/drawing/2014/main" id="{2B5FFB69-5308-249C-9C56-08F15B153CB6}"/>
              </a:ext>
            </a:extLst>
          </p:cNvPr>
          <p:cNvSpPr/>
          <p:nvPr/>
        </p:nvSpPr>
        <p:spPr>
          <a:xfrm>
            <a:off x="6013436" y="823224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설탕 </a:t>
            </a:r>
          </a:p>
        </p:txBody>
      </p:sp>
      <p:sp>
        <p:nvSpPr>
          <p:cNvPr id="4104" name="TextBox 4103">
            <a:extLst>
              <a:ext uri="{FF2B5EF4-FFF2-40B4-BE49-F238E27FC236}">
                <a16:creationId xmlns:a16="http://schemas.microsoft.com/office/drawing/2014/main" id="{4550524B-C04F-8C17-EC71-23C00A69BF37}"/>
              </a:ext>
            </a:extLst>
          </p:cNvPr>
          <p:cNvSpPr txBox="1"/>
          <p:nvPr/>
        </p:nvSpPr>
        <p:spPr>
          <a:xfrm>
            <a:off x="6504328" y="8186633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105" name="그림 4104">
            <a:extLst>
              <a:ext uri="{FF2B5EF4-FFF2-40B4-BE49-F238E27FC236}">
                <a16:creationId xmlns:a16="http://schemas.microsoft.com/office/drawing/2014/main" id="{5020720A-B423-A0C7-C313-C3D51C9AF91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1920"/>
          <a:stretch/>
        </p:blipFill>
        <p:spPr>
          <a:xfrm flipH="1">
            <a:off x="6669029" y="7622244"/>
            <a:ext cx="116844" cy="547211"/>
          </a:xfrm>
          <a:prstGeom prst="rect">
            <a:avLst/>
          </a:prstGeom>
        </p:spPr>
      </p:pic>
      <p:sp>
        <p:nvSpPr>
          <p:cNvPr id="4106" name="사각형: 둥근 모서리 4105">
            <a:extLst>
              <a:ext uri="{FF2B5EF4-FFF2-40B4-BE49-F238E27FC236}">
                <a16:creationId xmlns:a16="http://schemas.microsoft.com/office/drawing/2014/main" id="{AB040F0D-5220-E784-0511-FA52B633371B}"/>
              </a:ext>
            </a:extLst>
          </p:cNvPr>
          <p:cNvSpPr/>
          <p:nvPr/>
        </p:nvSpPr>
        <p:spPr>
          <a:xfrm>
            <a:off x="263353" y="9307026"/>
            <a:ext cx="6707827" cy="1992490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4108" name="TextBox 4107">
            <a:extLst>
              <a:ext uri="{FF2B5EF4-FFF2-40B4-BE49-F238E27FC236}">
                <a16:creationId xmlns:a16="http://schemas.microsoft.com/office/drawing/2014/main" id="{900FDF2B-9AD9-5941-BBCC-97FBEE545AFE}"/>
              </a:ext>
            </a:extLst>
          </p:cNvPr>
          <p:cNvSpPr txBox="1"/>
          <p:nvPr/>
        </p:nvSpPr>
        <p:spPr>
          <a:xfrm>
            <a:off x="1424025" y="9421370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미나리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오삼불고기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술안주로 좋지요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~~</a:t>
            </a:r>
          </a:p>
        </p:txBody>
      </p:sp>
      <p:pic>
        <p:nvPicPr>
          <p:cNvPr id="4109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0F3881FA-7253-256F-C324-C8A19F7C78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5836876" y="9489569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0" name="사각형: 둥근 모서리 4109">
            <a:extLst>
              <a:ext uri="{FF2B5EF4-FFF2-40B4-BE49-F238E27FC236}">
                <a16:creationId xmlns:a16="http://schemas.microsoft.com/office/drawing/2014/main" id="{B7D3C394-892A-C587-229F-C0459F1DCA80}"/>
              </a:ext>
            </a:extLst>
          </p:cNvPr>
          <p:cNvSpPr/>
          <p:nvPr/>
        </p:nvSpPr>
        <p:spPr>
          <a:xfrm>
            <a:off x="430719" y="10395237"/>
            <a:ext cx="871892" cy="80776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80%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11" name="TextBox 4110">
            <a:extLst>
              <a:ext uri="{FF2B5EF4-FFF2-40B4-BE49-F238E27FC236}">
                <a16:creationId xmlns:a16="http://schemas.microsoft.com/office/drawing/2014/main" id="{F9B6121D-317C-1BF7-90F7-2C29647D1AE9}"/>
              </a:ext>
            </a:extLst>
          </p:cNvPr>
          <p:cNvSpPr txBox="1"/>
          <p:nvPr/>
        </p:nvSpPr>
        <p:spPr>
          <a:xfrm>
            <a:off x="5918780" y="9421370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껌딱지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25-04-06</a:t>
            </a:r>
          </a:p>
        </p:txBody>
      </p:sp>
      <p:sp>
        <p:nvSpPr>
          <p:cNvPr id="4112" name="TextBox 4111">
            <a:extLst>
              <a:ext uri="{FF2B5EF4-FFF2-40B4-BE49-F238E27FC236}">
                <a16:creationId xmlns:a16="http://schemas.microsoft.com/office/drawing/2014/main" id="{0AEA777A-84AE-2565-F7FD-7B6D2E11BA31}"/>
              </a:ext>
            </a:extLst>
          </p:cNvPr>
          <p:cNvSpPr txBox="1"/>
          <p:nvPr/>
        </p:nvSpPr>
        <p:spPr>
          <a:xfrm>
            <a:off x="1405927" y="9765768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언제 먹어도 맛있죠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누구나 다 좋아하죠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오징어 볶음도 맛있고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제육볶음도 맛있고 고민될 땐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오삼불고기죠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^^.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밥한그릇 뚝딱하게 만드는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애정하는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메뉴입니다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자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먼저 통오징어를 먼저 손질해 줍니다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오징어 몸통안으로 손가락을 넣어 오징어 몸통과 내장이 연결되어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113" name="사각형: 둥근 모서리 4112">
            <a:extLst>
              <a:ext uri="{FF2B5EF4-FFF2-40B4-BE49-F238E27FC236}">
                <a16:creationId xmlns:a16="http://schemas.microsoft.com/office/drawing/2014/main" id="{10860CFA-0186-77BD-C7FF-6AAE367F4E9C}"/>
              </a:ext>
            </a:extLst>
          </p:cNvPr>
          <p:cNvSpPr/>
          <p:nvPr/>
        </p:nvSpPr>
        <p:spPr>
          <a:xfrm>
            <a:off x="1443258" y="10391176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4114" name="사각형: 둥근 모서리 4113">
            <a:extLst>
              <a:ext uri="{FF2B5EF4-FFF2-40B4-BE49-F238E27FC236}">
                <a16:creationId xmlns:a16="http://schemas.microsoft.com/office/drawing/2014/main" id="{1774452E-9DF4-7E71-A1B5-4E40DD21C542}"/>
              </a:ext>
            </a:extLst>
          </p:cNvPr>
          <p:cNvSpPr/>
          <p:nvPr/>
        </p:nvSpPr>
        <p:spPr>
          <a:xfrm>
            <a:off x="1443258" y="10687183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4115" name="사각형: 둥근 모서리 4114">
            <a:extLst>
              <a:ext uri="{FF2B5EF4-FFF2-40B4-BE49-F238E27FC236}">
                <a16:creationId xmlns:a16="http://schemas.microsoft.com/office/drawing/2014/main" id="{F6465554-A7B1-6219-D321-C80B9BDBB118}"/>
              </a:ext>
            </a:extLst>
          </p:cNvPr>
          <p:cNvSpPr/>
          <p:nvPr/>
        </p:nvSpPr>
        <p:spPr>
          <a:xfrm>
            <a:off x="2496990" y="1068435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16" name="사각형: 둥근 모서리 4115">
            <a:extLst>
              <a:ext uri="{FF2B5EF4-FFF2-40B4-BE49-F238E27FC236}">
                <a16:creationId xmlns:a16="http://schemas.microsoft.com/office/drawing/2014/main" id="{EFCAC4A6-1DC9-C107-4BE9-988F9A9CABAA}"/>
              </a:ext>
            </a:extLst>
          </p:cNvPr>
          <p:cNvSpPr/>
          <p:nvPr/>
        </p:nvSpPr>
        <p:spPr>
          <a:xfrm>
            <a:off x="2992029" y="1068435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미나리</a:t>
            </a:r>
          </a:p>
        </p:txBody>
      </p:sp>
      <p:sp>
        <p:nvSpPr>
          <p:cNvPr id="4117" name="사각형: 둥근 모서리 4116">
            <a:extLst>
              <a:ext uri="{FF2B5EF4-FFF2-40B4-BE49-F238E27FC236}">
                <a16:creationId xmlns:a16="http://schemas.microsoft.com/office/drawing/2014/main" id="{5A8ABE06-7082-B8CE-870E-03D57534CBF0}"/>
              </a:ext>
            </a:extLst>
          </p:cNvPr>
          <p:cNvSpPr/>
          <p:nvPr/>
        </p:nvSpPr>
        <p:spPr>
          <a:xfrm>
            <a:off x="2496990" y="1039294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</a:t>
            </a:r>
          </a:p>
        </p:txBody>
      </p:sp>
      <p:sp>
        <p:nvSpPr>
          <p:cNvPr id="4118" name="사각형: 둥근 모서리 4117">
            <a:extLst>
              <a:ext uri="{FF2B5EF4-FFF2-40B4-BE49-F238E27FC236}">
                <a16:creationId xmlns:a16="http://schemas.microsoft.com/office/drawing/2014/main" id="{914F4EBC-9E23-9B31-0452-B5A8ADA58B90}"/>
              </a:ext>
            </a:extLst>
          </p:cNvPr>
          <p:cNvSpPr/>
          <p:nvPr/>
        </p:nvSpPr>
        <p:spPr>
          <a:xfrm>
            <a:off x="2999339" y="1039294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고추장 </a:t>
            </a:r>
          </a:p>
        </p:txBody>
      </p:sp>
      <p:sp>
        <p:nvSpPr>
          <p:cNvPr id="4119" name="사각형: 둥근 모서리 4118">
            <a:extLst>
              <a:ext uri="{FF2B5EF4-FFF2-40B4-BE49-F238E27FC236}">
                <a16:creationId xmlns:a16="http://schemas.microsoft.com/office/drawing/2014/main" id="{B295C6AD-CFF3-15F2-CB0C-CF9F7AD9AA3B}"/>
              </a:ext>
            </a:extLst>
          </p:cNvPr>
          <p:cNvSpPr/>
          <p:nvPr/>
        </p:nvSpPr>
        <p:spPr>
          <a:xfrm>
            <a:off x="3501689" y="1039294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고춧가루</a:t>
            </a:r>
          </a:p>
        </p:txBody>
      </p:sp>
      <p:sp>
        <p:nvSpPr>
          <p:cNvPr id="4120" name="사각형: 둥근 모서리 4119">
            <a:extLst>
              <a:ext uri="{FF2B5EF4-FFF2-40B4-BE49-F238E27FC236}">
                <a16:creationId xmlns:a16="http://schemas.microsoft.com/office/drawing/2014/main" id="{C6EAAAFA-BC54-A17C-B038-F595C77EA0DE}"/>
              </a:ext>
            </a:extLst>
          </p:cNvPr>
          <p:cNvSpPr/>
          <p:nvPr/>
        </p:nvSpPr>
        <p:spPr>
          <a:xfrm>
            <a:off x="4004038" y="1039294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간장</a:t>
            </a:r>
          </a:p>
        </p:txBody>
      </p:sp>
      <p:sp>
        <p:nvSpPr>
          <p:cNvPr id="4121" name="사각형: 둥근 모서리 4120">
            <a:extLst>
              <a:ext uri="{FF2B5EF4-FFF2-40B4-BE49-F238E27FC236}">
                <a16:creationId xmlns:a16="http://schemas.microsoft.com/office/drawing/2014/main" id="{4443A0CC-CC21-2533-112F-0ADF6F1FCE2D}"/>
              </a:ext>
            </a:extLst>
          </p:cNvPr>
          <p:cNvSpPr/>
          <p:nvPr/>
        </p:nvSpPr>
        <p:spPr>
          <a:xfrm>
            <a:off x="4506388" y="1039294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된장</a:t>
            </a:r>
          </a:p>
        </p:txBody>
      </p:sp>
      <p:sp>
        <p:nvSpPr>
          <p:cNvPr id="4122" name="사각형: 둥근 모서리 4121">
            <a:extLst>
              <a:ext uri="{FF2B5EF4-FFF2-40B4-BE49-F238E27FC236}">
                <a16:creationId xmlns:a16="http://schemas.microsoft.com/office/drawing/2014/main" id="{BCCEDF65-369D-F8D8-9FBF-24C45E13A34E}"/>
              </a:ext>
            </a:extLst>
          </p:cNvPr>
          <p:cNvSpPr/>
          <p:nvPr/>
        </p:nvSpPr>
        <p:spPr>
          <a:xfrm>
            <a:off x="5008737" y="1039294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다진마늘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23" name="사각형: 둥근 모서리 4122">
            <a:extLst>
              <a:ext uri="{FF2B5EF4-FFF2-40B4-BE49-F238E27FC236}">
                <a16:creationId xmlns:a16="http://schemas.microsoft.com/office/drawing/2014/main" id="{A80DB1E5-11BC-6C99-1B7E-51732D4A4758}"/>
              </a:ext>
            </a:extLst>
          </p:cNvPr>
          <p:cNvSpPr/>
          <p:nvPr/>
        </p:nvSpPr>
        <p:spPr>
          <a:xfrm>
            <a:off x="5511087" y="1039294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후춧가루</a:t>
            </a:r>
          </a:p>
        </p:txBody>
      </p:sp>
      <p:sp>
        <p:nvSpPr>
          <p:cNvPr id="4124" name="사각형: 둥근 모서리 4123">
            <a:extLst>
              <a:ext uri="{FF2B5EF4-FFF2-40B4-BE49-F238E27FC236}">
                <a16:creationId xmlns:a16="http://schemas.microsoft.com/office/drawing/2014/main" id="{E529DE50-2EE4-119A-4D3E-47CE565AD5B7}"/>
              </a:ext>
            </a:extLst>
          </p:cNvPr>
          <p:cNvSpPr/>
          <p:nvPr/>
        </p:nvSpPr>
        <p:spPr>
          <a:xfrm>
            <a:off x="6013436" y="1039294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설탕</a:t>
            </a:r>
          </a:p>
        </p:txBody>
      </p:sp>
      <p:sp>
        <p:nvSpPr>
          <p:cNvPr id="4125" name="TextBox 4124">
            <a:extLst>
              <a:ext uri="{FF2B5EF4-FFF2-40B4-BE49-F238E27FC236}">
                <a16:creationId xmlns:a16="http://schemas.microsoft.com/office/drawing/2014/main" id="{73A0FD8A-0E28-8629-450F-EC2191B34E61}"/>
              </a:ext>
            </a:extLst>
          </p:cNvPr>
          <p:cNvSpPr txBox="1"/>
          <p:nvPr/>
        </p:nvSpPr>
        <p:spPr>
          <a:xfrm>
            <a:off x="6504328" y="10347334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126" name="그림 4125">
            <a:extLst>
              <a:ext uri="{FF2B5EF4-FFF2-40B4-BE49-F238E27FC236}">
                <a16:creationId xmlns:a16="http://schemas.microsoft.com/office/drawing/2014/main" id="{0C4EAD87-4A18-53D4-0555-17F00AA067D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1920"/>
          <a:stretch/>
        </p:blipFill>
        <p:spPr>
          <a:xfrm flipH="1">
            <a:off x="6669029" y="9782945"/>
            <a:ext cx="116844" cy="547211"/>
          </a:xfrm>
          <a:prstGeom prst="rect">
            <a:avLst/>
          </a:prstGeom>
        </p:spPr>
      </p:pic>
      <p:pic>
        <p:nvPicPr>
          <p:cNvPr id="4129" name="그림 4128">
            <a:extLst>
              <a:ext uri="{FF2B5EF4-FFF2-40B4-BE49-F238E27FC236}">
                <a16:creationId xmlns:a16="http://schemas.microsoft.com/office/drawing/2014/main" id="{8C8A8482-FB2E-7534-707E-6076B6B65E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76" y="7291382"/>
            <a:ext cx="826571" cy="795050"/>
          </a:xfrm>
          <a:prstGeom prst="rect">
            <a:avLst/>
          </a:prstGeom>
        </p:spPr>
      </p:pic>
      <p:pic>
        <p:nvPicPr>
          <p:cNvPr id="4132" name="그림 4131">
            <a:extLst>
              <a:ext uri="{FF2B5EF4-FFF2-40B4-BE49-F238E27FC236}">
                <a16:creationId xmlns:a16="http://schemas.microsoft.com/office/drawing/2014/main" id="{B0FC3E7B-C51B-B589-3AE9-15780AFDC2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198" y="9454353"/>
            <a:ext cx="847972" cy="807765"/>
          </a:xfrm>
          <a:prstGeom prst="rect">
            <a:avLst/>
          </a:prstGeom>
        </p:spPr>
      </p:pic>
      <p:sp>
        <p:nvSpPr>
          <p:cNvPr id="4133" name="TextBox 4132">
            <a:extLst>
              <a:ext uri="{FF2B5EF4-FFF2-40B4-BE49-F238E27FC236}">
                <a16:creationId xmlns:a16="http://schemas.microsoft.com/office/drawing/2014/main" id="{470EA7DD-9F0D-D379-5F4F-45F39C22A5F1}"/>
              </a:ext>
            </a:extLst>
          </p:cNvPr>
          <p:cNvSpPr txBox="1"/>
          <p:nvPr/>
        </p:nvSpPr>
        <p:spPr>
          <a:xfrm>
            <a:off x="951305" y="3822167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Ⓑ</a:t>
            </a:r>
          </a:p>
        </p:txBody>
      </p:sp>
      <p:sp>
        <p:nvSpPr>
          <p:cNvPr id="4134" name="사각형: 둥근 모서리 4133">
            <a:extLst>
              <a:ext uri="{FF2B5EF4-FFF2-40B4-BE49-F238E27FC236}">
                <a16:creationId xmlns:a16="http://schemas.microsoft.com/office/drawing/2014/main" id="{FE45AD62-C520-080A-85A5-99A40EAB0255}"/>
              </a:ext>
            </a:extLst>
          </p:cNvPr>
          <p:cNvSpPr/>
          <p:nvPr/>
        </p:nvSpPr>
        <p:spPr>
          <a:xfrm>
            <a:off x="5823134" y="3888874"/>
            <a:ext cx="1029421" cy="329624"/>
          </a:xfrm>
          <a:prstGeom prst="roundRect">
            <a:avLst/>
          </a:prstGeom>
          <a:solidFill>
            <a:srgbClr val="464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519"/>
          </a:p>
        </p:txBody>
      </p:sp>
      <p:sp>
        <p:nvSpPr>
          <p:cNvPr id="4135" name="사각형: 둥근 모서리 4134">
            <a:extLst>
              <a:ext uri="{FF2B5EF4-FFF2-40B4-BE49-F238E27FC236}">
                <a16:creationId xmlns:a16="http://schemas.microsoft.com/office/drawing/2014/main" id="{D6E98D3F-CB4A-5862-B631-3570C09BA48B}"/>
              </a:ext>
            </a:extLst>
          </p:cNvPr>
          <p:cNvSpPr/>
          <p:nvPr/>
        </p:nvSpPr>
        <p:spPr>
          <a:xfrm>
            <a:off x="5990182" y="3951650"/>
            <a:ext cx="695316" cy="20407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    필터</a:t>
            </a:r>
          </a:p>
        </p:txBody>
      </p:sp>
      <p:sp>
        <p:nvSpPr>
          <p:cNvPr id="4136" name="TextBox 4135">
            <a:extLst>
              <a:ext uri="{FF2B5EF4-FFF2-40B4-BE49-F238E27FC236}">
                <a16:creationId xmlns:a16="http://schemas.microsoft.com/office/drawing/2014/main" id="{70825AD8-DA72-2AD3-C311-EE30E557A848}"/>
              </a:ext>
            </a:extLst>
          </p:cNvPr>
          <p:cNvSpPr txBox="1"/>
          <p:nvPr/>
        </p:nvSpPr>
        <p:spPr>
          <a:xfrm>
            <a:off x="2" y="1980409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UI 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구성</a:t>
            </a:r>
            <a:endParaRPr lang="ko-KR" altLang="en-US" sz="2267" dirty="0"/>
          </a:p>
        </p:txBody>
      </p:sp>
      <p:sp>
        <p:nvSpPr>
          <p:cNvPr id="4137" name="TextBox 4136">
            <a:extLst>
              <a:ext uri="{FF2B5EF4-FFF2-40B4-BE49-F238E27FC236}">
                <a16:creationId xmlns:a16="http://schemas.microsoft.com/office/drawing/2014/main" id="{8F771A76-AFF2-4B41-F06B-0B1F3DCF5CE0}"/>
              </a:ext>
            </a:extLst>
          </p:cNvPr>
          <p:cNvSpPr txBox="1"/>
          <p:nvPr/>
        </p:nvSpPr>
        <p:spPr>
          <a:xfrm>
            <a:off x="2" y="11787040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2267" dirty="0"/>
          </a:p>
        </p:txBody>
      </p:sp>
      <p:sp>
        <p:nvSpPr>
          <p:cNvPr id="4139" name="TextBox 4138">
            <a:extLst>
              <a:ext uri="{FF2B5EF4-FFF2-40B4-BE49-F238E27FC236}">
                <a16:creationId xmlns:a16="http://schemas.microsoft.com/office/drawing/2014/main" id="{CB6251A5-985D-0BA0-37F6-7F6B3696F876}"/>
              </a:ext>
            </a:extLst>
          </p:cNvPr>
          <p:cNvSpPr txBox="1"/>
          <p:nvPr/>
        </p:nvSpPr>
        <p:spPr>
          <a:xfrm>
            <a:off x="5536995" y="3917557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Ⓒ</a:t>
            </a:r>
          </a:p>
        </p:txBody>
      </p:sp>
      <p:grpSp>
        <p:nvGrpSpPr>
          <p:cNvPr id="4147" name="그룹 4146">
            <a:extLst>
              <a:ext uri="{FF2B5EF4-FFF2-40B4-BE49-F238E27FC236}">
                <a16:creationId xmlns:a16="http://schemas.microsoft.com/office/drawing/2014/main" id="{3ACA2488-01B4-16EB-68B5-EF7B47633AF1}"/>
              </a:ext>
            </a:extLst>
          </p:cNvPr>
          <p:cNvGrpSpPr/>
          <p:nvPr/>
        </p:nvGrpSpPr>
        <p:grpSpPr>
          <a:xfrm>
            <a:off x="6125942" y="4020882"/>
            <a:ext cx="117978" cy="65609"/>
            <a:chOff x="4773621" y="1614488"/>
            <a:chExt cx="128101" cy="80962"/>
          </a:xfrm>
        </p:grpSpPr>
        <p:cxnSp>
          <p:nvCxnSpPr>
            <p:cNvPr id="4143" name="직선 연결선 4142">
              <a:extLst>
                <a:ext uri="{FF2B5EF4-FFF2-40B4-BE49-F238E27FC236}">
                  <a16:creationId xmlns:a16="http://schemas.microsoft.com/office/drawing/2014/main" id="{61F2D26D-2298-7E18-AE43-E8D33F8146E3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14488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5" name="직선 연결선 4144">
              <a:extLst>
                <a:ext uri="{FF2B5EF4-FFF2-40B4-BE49-F238E27FC236}">
                  <a16:creationId xmlns:a16="http://schemas.microsoft.com/office/drawing/2014/main" id="{29585FE8-54F1-6BC8-5ACF-A453A994F2BB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56289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6" name="직선 연결선 4145">
              <a:extLst>
                <a:ext uri="{FF2B5EF4-FFF2-40B4-BE49-F238E27FC236}">
                  <a16:creationId xmlns:a16="http://schemas.microsoft.com/office/drawing/2014/main" id="{5FF7F89F-9D4E-8F57-F2C5-344684B8F674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95450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48" name="TextBox 4147">
            <a:extLst>
              <a:ext uri="{FF2B5EF4-FFF2-40B4-BE49-F238E27FC236}">
                <a16:creationId xmlns:a16="http://schemas.microsoft.com/office/drawing/2014/main" id="{097CC6F0-EC78-5C10-9D83-EB03219D82F3}"/>
              </a:ext>
            </a:extLst>
          </p:cNvPr>
          <p:cNvSpPr txBox="1"/>
          <p:nvPr/>
        </p:nvSpPr>
        <p:spPr>
          <a:xfrm>
            <a:off x="148087" y="4918741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Ⓓ</a:t>
            </a:r>
          </a:p>
        </p:txBody>
      </p:sp>
      <p:sp>
        <p:nvSpPr>
          <p:cNvPr id="4149" name="사각형: 둥근 모서리 4148">
            <a:extLst>
              <a:ext uri="{FF2B5EF4-FFF2-40B4-BE49-F238E27FC236}">
                <a16:creationId xmlns:a16="http://schemas.microsoft.com/office/drawing/2014/main" id="{969A54FF-9436-90D5-43A6-51CA2794CFA9}"/>
              </a:ext>
            </a:extLst>
          </p:cNvPr>
          <p:cNvSpPr/>
          <p:nvPr/>
        </p:nvSpPr>
        <p:spPr>
          <a:xfrm>
            <a:off x="3490981" y="1068435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치킨스톡</a:t>
            </a:r>
          </a:p>
        </p:txBody>
      </p:sp>
      <p:sp>
        <p:nvSpPr>
          <p:cNvPr id="4150" name="사각형: 둥근 모서리 4149">
            <a:extLst>
              <a:ext uri="{FF2B5EF4-FFF2-40B4-BE49-F238E27FC236}">
                <a16:creationId xmlns:a16="http://schemas.microsoft.com/office/drawing/2014/main" id="{43A01655-E1E7-28E4-23EE-F6FA7FA33198}"/>
              </a:ext>
            </a:extLst>
          </p:cNvPr>
          <p:cNvSpPr/>
          <p:nvPr/>
        </p:nvSpPr>
        <p:spPr>
          <a:xfrm>
            <a:off x="4004038" y="1068435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코인육수</a:t>
            </a:r>
          </a:p>
        </p:txBody>
      </p:sp>
      <p:sp>
        <p:nvSpPr>
          <p:cNvPr id="4151" name="사각형: 둥근 모서리 4150">
            <a:extLst>
              <a:ext uri="{FF2B5EF4-FFF2-40B4-BE49-F238E27FC236}">
                <a16:creationId xmlns:a16="http://schemas.microsoft.com/office/drawing/2014/main" id="{F99A49D1-90F0-1AAD-6CDE-106ED57A1CE0}"/>
              </a:ext>
            </a:extLst>
          </p:cNvPr>
          <p:cNvSpPr/>
          <p:nvPr/>
        </p:nvSpPr>
        <p:spPr>
          <a:xfrm>
            <a:off x="3501689" y="852648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</a:t>
            </a:r>
          </a:p>
        </p:txBody>
      </p:sp>
      <p:sp>
        <p:nvSpPr>
          <p:cNvPr id="4152" name="사각형: 둥근 모서리 4151">
            <a:extLst>
              <a:ext uri="{FF2B5EF4-FFF2-40B4-BE49-F238E27FC236}">
                <a16:creationId xmlns:a16="http://schemas.microsoft.com/office/drawing/2014/main" id="{8408C701-B4BC-CA0E-D913-BD2C684C7660}"/>
              </a:ext>
            </a:extLst>
          </p:cNvPr>
          <p:cNvSpPr/>
          <p:nvPr/>
        </p:nvSpPr>
        <p:spPr>
          <a:xfrm>
            <a:off x="4500439" y="1068435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매실액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65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5E4CEB2D-DA71-A05D-5B49-65B8F1474A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5195160" y="9479131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66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61CE39B9-01A1-058F-3B52-FA1A66A121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5203123" y="7312294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67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B5305200-BFC3-83E9-A157-F2F9CDB08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5212301" y="5133093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69" name="TextBox 4168">
            <a:extLst>
              <a:ext uri="{FF2B5EF4-FFF2-40B4-BE49-F238E27FC236}">
                <a16:creationId xmlns:a16="http://schemas.microsoft.com/office/drawing/2014/main" id="{B50554B4-5809-144C-DECF-723FCF4202C1}"/>
              </a:ext>
            </a:extLst>
          </p:cNvPr>
          <p:cNvSpPr txBox="1"/>
          <p:nvPr/>
        </p:nvSpPr>
        <p:spPr>
          <a:xfrm>
            <a:off x="213617" y="3024667"/>
            <a:ext cx="1109824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4170" name="TextBox 4169">
            <a:extLst>
              <a:ext uri="{FF2B5EF4-FFF2-40B4-BE49-F238E27FC236}">
                <a16:creationId xmlns:a16="http://schemas.microsoft.com/office/drawing/2014/main" id="{A1E9B093-AF2C-5516-DC4A-AD61F5879B75}"/>
              </a:ext>
            </a:extLst>
          </p:cNvPr>
          <p:cNvSpPr txBox="1"/>
          <p:nvPr/>
        </p:nvSpPr>
        <p:spPr>
          <a:xfrm>
            <a:off x="1476515" y="3026376"/>
            <a:ext cx="1248260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sp>
        <p:nvSpPr>
          <p:cNvPr id="4171" name="TextBox 4170">
            <a:extLst>
              <a:ext uri="{FF2B5EF4-FFF2-40B4-BE49-F238E27FC236}">
                <a16:creationId xmlns:a16="http://schemas.microsoft.com/office/drawing/2014/main" id="{4BCEFCA5-3A22-B59A-14F1-CE42B78BB2B6}"/>
              </a:ext>
            </a:extLst>
          </p:cNvPr>
          <p:cNvSpPr txBox="1"/>
          <p:nvPr/>
        </p:nvSpPr>
        <p:spPr>
          <a:xfrm>
            <a:off x="3978101" y="3024667"/>
            <a:ext cx="528288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sp>
        <p:nvSpPr>
          <p:cNvPr id="4172" name="TextBox 4171">
            <a:extLst>
              <a:ext uri="{FF2B5EF4-FFF2-40B4-BE49-F238E27FC236}">
                <a16:creationId xmlns:a16="http://schemas.microsoft.com/office/drawing/2014/main" id="{8027606A-05DF-7A0E-3C1A-03572A94C8BD}"/>
              </a:ext>
            </a:extLst>
          </p:cNvPr>
          <p:cNvSpPr txBox="1"/>
          <p:nvPr/>
        </p:nvSpPr>
        <p:spPr>
          <a:xfrm>
            <a:off x="4650690" y="2985634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ⓐ</a:t>
            </a:r>
          </a:p>
        </p:txBody>
      </p:sp>
      <p:sp>
        <p:nvSpPr>
          <p:cNvPr id="4173" name="TextBox 4172">
            <a:extLst>
              <a:ext uri="{FF2B5EF4-FFF2-40B4-BE49-F238E27FC236}">
                <a16:creationId xmlns:a16="http://schemas.microsoft.com/office/drawing/2014/main" id="{FAB6A2D0-810A-3C15-8218-6D8D406B00F0}"/>
              </a:ext>
            </a:extLst>
          </p:cNvPr>
          <p:cNvSpPr txBox="1"/>
          <p:nvPr/>
        </p:nvSpPr>
        <p:spPr>
          <a:xfrm>
            <a:off x="2896176" y="3024667"/>
            <a:ext cx="928852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  <p:sp>
        <p:nvSpPr>
          <p:cNvPr id="4174" name="사각형: 둥근 모서리 4173">
            <a:extLst>
              <a:ext uri="{FF2B5EF4-FFF2-40B4-BE49-F238E27FC236}">
                <a16:creationId xmlns:a16="http://schemas.microsoft.com/office/drawing/2014/main" id="{138646D2-D6C2-25B5-1182-1CAD4E691859}"/>
              </a:ext>
            </a:extLst>
          </p:cNvPr>
          <p:cNvSpPr/>
          <p:nvPr/>
        </p:nvSpPr>
        <p:spPr>
          <a:xfrm>
            <a:off x="2118493" y="3953046"/>
            <a:ext cx="1021232" cy="20407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유통기한 임박 재료 순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50832E5-E52A-04CD-F333-82A25A59AF31}"/>
              </a:ext>
            </a:extLst>
          </p:cNvPr>
          <p:cNvSpPr/>
          <p:nvPr/>
        </p:nvSpPr>
        <p:spPr>
          <a:xfrm>
            <a:off x="1443258" y="6626643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965FC0E-B66B-1027-6EB6-8C73E697FB59}"/>
              </a:ext>
            </a:extLst>
          </p:cNvPr>
          <p:cNvSpPr/>
          <p:nvPr/>
        </p:nvSpPr>
        <p:spPr>
          <a:xfrm>
            <a:off x="2496990" y="6649813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한치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D0E4743-B5A4-57B9-6FAD-4B5E9BD9CDFE}"/>
              </a:ext>
            </a:extLst>
          </p:cNvPr>
          <p:cNvSpPr/>
          <p:nvPr/>
        </p:nvSpPr>
        <p:spPr>
          <a:xfrm>
            <a:off x="1443258" y="8823664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0DEC242-A2E0-A492-6AEB-2DF508DC1FE9}"/>
              </a:ext>
            </a:extLst>
          </p:cNvPr>
          <p:cNvSpPr/>
          <p:nvPr/>
        </p:nvSpPr>
        <p:spPr>
          <a:xfrm>
            <a:off x="2496990" y="8846834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소주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6480403-8B95-0017-DB6B-8BA120F0E551}"/>
              </a:ext>
            </a:extLst>
          </p:cNvPr>
          <p:cNvSpPr/>
          <p:nvPr/>
        </p:nvSpPr>
        <p:spPr>
          <a:xfrm>
            <a:off x="3332030" y="8850716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청주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6AF6A81-79A6-4A77-22D0-18A12FB68F9A}"/>
              </a:ext>
            </a:extLst>
          </p:cNvPr>
          <p:cNvSpPr/>
          <p:nvPr/>
        </p:nvSpPr>
        <p:spPr>
          <a:xfrm>
            <a:off x="4206043" y="8854366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한치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658A6FA-6FC5-6D95-ABD4-89505655FA8D}"/>
              </a:ext>
            </a:extLst>
          </p:cNvPr>
          <p:cNvSpPr/>
          <p:nvPr/>
        </p:nvSpPr>
        <p:spPr>
          <a:xfrm>
            <a:off x="1443258" y="10981822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8BE9CC6-71EE-73B1-2F19-ACDCA7D98DB4}"/>
              </a:ext>
            </a:extLst>
          </p:cNvPr>
          <p:cNvSpPr/>
          <p:nvPr/>
        </p:nvSpPr>
        <p:spPr>
          <a:xfrm>
            <a:off x="2496990" y="11004993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소주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20B4D83-24C7-72A6-80D9-11B239920F4E}"/>
              </a:ext>
            </a:extLst>
          </p:cNvPr>
          <p:cNvSpPr/>
          <p:nvPr/>
        </p:nvSpPr>
        <p:spPr>
          <a:xfrm>
            <a:off x="3332030" y="11008875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미나리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쪽파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 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8874F8FE-5C2C-6A78-E801-EBBDBC157887}"/>
              </a:ext>
            </a:extLst>
          </p:cNvPr>
          <p:cNvSpPr/>
          <p:nvPr/>
        </p:nvSpPr>
        <p:spPr>
          <a:xfrm>
            <a:off x="4206043" y="11012524"/>
            <a:ext cx="933468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치킨스톡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미원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315EBEC-05E1-12AB-2526-C5960BB10168}"/>
              </a:ext>
            </a:extLst>
          </p:cNvPr>
          <p:cNvSpPr/>
          <p:nvPr/>
        </p:nvSpPr>
        <p:spPr>
          <a:xfrm>
            <a:off x="5169949" y="11008525"/>
            <a:ext cx="1499080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코인육수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다시다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멸치액젓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2052" name="Picture 4" descr="확인하다 - 무료 ui개 아이콘">
            <a:extLst>
              <a:ext uri="{FF2B5EF4-FFF2-40B4-BE49-F238E27FC236}">
                <a16:creationId xmlns:a16="http://schemas.microsoft.com/office/drawing/2014/main" id="{6BF94588-173E-1907-E713-0BA15A3DD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740" y="9462745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4" descr="확인하다 - 무료 ui개 아이콘">
            <a:extLst>
              <a:ext uri="{FF2B5EF4-FFF2-40B4-BE49-F238E27FC236}">
                <a16:creationId xmlns:a16="http://schemas.microsoft.com/office/drawing/2014/main" id="{0F59B3D4-3B8E-561C-D7FB-6CD0E7D8F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846" y="7280065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확인하다 - 무료 ui개 아이콘">
            <a:extLst>
              <a:ext uri="{FF2B5EF4-FFF2-40B4-BE49-F238E27FC236}">
                <a16:creationId xmlns:a16="http://schemas.microsoft.com/office/drawing/2014/main" id="{D474BCC7-2A33-50F9-D95A-9D9F206C3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0963" y="5108223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7" name="TextBox 4106">
            <a:extLst>
              <a:ext uri="{FF2B5EF4-FFF2-40B4-BE49-F238E27FC236}">
                <a16:creationId xmlns:a16="http://schemas.microsoft.com/office/drawing/2014/main" id="{77F36EF0-B33D-CB4F-D461-2E1096B46E53}"/>
              </a:ext>
            </a:extLst>
          </p:cNvPr>
          <p:cNvSpPr txBox="1"/>
          <p:nvPr/>
        </p:nvSpPr>
        <p:spPr>
          <a:xfrm>
            <a:off x="-1" y="12236539"/>
            <a:ext cx="7199313" cy="4435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홈페이지 메뉴 네비게이션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비로그인 상태 가능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)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현재 페이지는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레시피 추천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페이지의 첫 페이지에 해당한다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</a:p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Ⓑ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정렬 기능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하단의 레시피를 어떤 기준으로 정렬시킬 것인지 선택할 수 있다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정렬 기준으로는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재료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매칭률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’(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내가 갖고 있는 재료와 레시피에 필요한 재료의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매칭률이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얼마나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높은지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),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유통기한 임박 재료 순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내가 갖고 있는 재료 중 유통기한이 임박한 제품을 가장 먼저 소진할 수 있도록 레시피 추천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유통기한이 가장 급하게 임박한 재료를 소진할 수 있도록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sorting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해준다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만일 유통기한이 같은 제품이 있다면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재료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매칭률이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높은 순으로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sorting), ‘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좋아요순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’,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댓글순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’,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최신순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’(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게시된 날짜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)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으로 정렬을 시킬 수 있다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Ⓒ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필터 기능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재료를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어떤식으로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select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할 것인지 필터 기능을 제공한다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해당 아이콘을 누르면 필터를 선택할 수 있는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팝업창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같은 것이 뜬다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</a:t>
            </a:r>
          </a:p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ⓓ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레시피 보여주는 공간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앞에서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에 있는 재료들과 수집된 레시피 데이터 안에 있는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en-US" altLang="ko-KR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used_ingredients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열에 있는 값들을 배교하여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을 계산하여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매칭률이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70%~100%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구간 사이에 있는 레시피들을 보여준다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스크롤을 내리면 계속 보여지는 형식이다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해당 공간 안에는 각 레시피별 썸네일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이미지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title,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본문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아이디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게시날짜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해당 레시피에 포함된 나의 냉장고 재료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추가로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재료를 보여준다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또한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도 설명해주는데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‘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중 내가 갖고 있는 재료로 대체할 수 있는 항목을 표시해준다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 대체재는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“ingredient_profile_dict_v1”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사전의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“substitutes”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열 값을 기반으로 산출된다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그리고 제목 바로 옆에는 완료하기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공유하기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기록하기 아이콘이 있는데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공유하기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를 누르면 내 지인에게 해당 레시피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URL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공유가 가능하고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기록하기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아이콘을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누를시에는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웹페이지 내에서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 중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기록한 레시피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에 저장되도록 하고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완료하기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아이콘을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누를시에는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 중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완료한 레시피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에 저장되도록 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4351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6C09A-66DE-757B-72E9-FCD9DF35A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2" name="직사각형 4561">
            <a:extLst>
              <a:ext uri="{FF2B5EF4-FFF2-40B4-BE49-F238E27FC236}">
                <a16:creationId xmlns:a16="http://schemas.microsoft.com/office/drawing/2014/main" id="{67D4EB44-86EA-BB8C-00B6-3CBFA03C86CB}"/>
              </a:ext>
            </a:extLst>
          </p:cNvPr>
          <p:cNvSpPr/>
          <p:nvPr/>
        </p:nvSpPr>
        <p:spPr>
          <a:xfrm>
            <a:off x="-1" y="2940032"/>
            <a:ext cx="7199313" cy="1744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sp>
        <p:nvSpPr>
          <p:cNvPr id="4168" name="직사각형 4167">
            <a:extLst>
              <a:ext uri="{FF2B5EF4-FFF2-40B4-BE49-F238E27FC236}">
                <a16:creationId xmlns:a16="http://schemas.microsoft.com/office/drawing/2014/main" id="{E2A43D11-1CB1-BF49-72F0-56D194583F2B}"/>
              </a:ext>
            </a:extLst>
          </p:cNvPr>
          <p:cNvSpPr/>
          <p:nvPr/>
        </p:nvSpPr>
        <p:spPr>
          <a:xfrm>
            <a:off x="-2" y="2363911"/>
            <a:ext cx="7199313" cy="11808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sp>
        <p:nvSpPr>
          <p:cNvPr id="4153" name="직사각형 4152">
            <a:extLst>
              <a:ext uri="{FF2B5EF4-FFF2-40B4-BE49-F238E27FC236}">
                <a16:creationId xmlns:a16="http://schemas.microsoft.com/office/drawing/2014/main" id="{C3D90B55-1348-4780-511E-117C489891FA}"/>
              </a:ext>
            </a:extLst>
          </p:cNvPr>
          <p:cNvSpPr/>
          <p:nvPr/>
        </p:nvSpPr>
        <p:spPr>
          <a:xfrm>
            <a:off x="-1" y="1980408"/>
            <a:ext cx="7199313" cy="11808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3D5711-226E-FECB-A087-2BA74F4598CE}"/>
              </a:ext>
            </a:extLst>
          </p:cNvPr>
          <p:cNvSpPr/>
          <p:nvPr/>
        </p:nvSpPr>
        <p:spPr>
          <a:xfrm>
            <a:off x="-1" y="2593750"/>
            <a:ext cx="7199313" cy="15948786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23D0F38C-B02B-6AE3-1B05-26A5A8FF5DEB}"/>
              </a:ext>
            </a:extLst>
          </p:cNvPr>
          <p:cNvCxnSpPr>
            <a:cxnSpLocks/>
          </p:cNvCxnSpPr>
          <p:nvPr/>
        </p:nvCxnSpPr>
        <p:spPr>
          <a:xfrm>
            <a:off x="-1" y="2565646"/>
            <a:ext cx="7199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A01F38EF-1240-6BE9-C5F3-E3B0D2940A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251"/>
          <a:stretch/>
        </p:blipFill>
        <p:spPr>
          <a:xfrm>
            <a:off x="-1" y="2591586"/>
            <a:ext cx="7199313" cy="3296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1A3F1FA-3685-15C2-5DC2-62471D3DB5F5}"/>
              </a:ext>
            </a:extLst>
          </p:cNvPr>
          <p:cNvSpPr txBox="1"/>
          <p:nvPr/>
        </p:nvSpPr>
        <p:spPr>
          <a:xfrm>
            <a:off x="-1" y="21198552"/>
            <a:ext cx="7199313" cy="887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필터 기능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팝업창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앞에서 필터 기능 팝업버튼을 누르게 되면 해당 팝업창이 뜨게 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팝업창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안에는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요리효능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’,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요리영양분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’,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요리 식사 대상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‘,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요리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TPO’,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요리스타일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등을 상세적으로 선택할 수 있다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이는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“</a:t>
            </a:r>
            <a:r>
              <a:rPr lang="en-US" altLang="ko-KR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ingredient_profile_dic</a:t>
            </a:r>
            <a:b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t_v1”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사전에서 매칭된 키워드를 기준으로 레시피 본문을 탐색하여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서칭할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수 있도록 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DFB621-A1A4-CDEB-7620-61E1FD3A9867}"/>
              </a:ext>
            </a:extLst>
          </p:cNvPr>
          <p:cNvSpPr txBox="1"/>
          <p:nvPr/>
        </p:nvSpPr>
        <p:spPr>
          <a:xfrm>
            <a:off x="873514" y="3524269"/>
            <a:ext cx="5452282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[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사용자 닉네임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]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님이 입력한 재료 기반으로 레시피 추천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AF25AE4-2281-36DB-153A-9E19744A7FB3}"/>
              </a:ext>
            </a:extLst>
          </p:cNvPr>
          <p:cNvSpPr/>
          <p:nvPr/>
        </p:nvSpPr>
        <p:spPr>
          <a:xfrm>
            <a:off x="263353" y="4950554"/>
            <a:ext cx="6707827" cy="1730393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6D748EE-499C-CBB8-004F-E94B8E76EB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57" b="4397"/>
          <a:stretch/>
        </p:blipFill>
        <p:spPr>
          <a:xfrm>
            <a:off x="471863" y="5102137"/>
            <a:ext cx="830748" cy="7950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4ED0D91-4E06-95DA-05CE-B5CFC3CFE633}"/>
              </a:ext>
            </a:extLst>
          </p:cNvPr>
          <p:cNvSpPr txBox="1"/>
          <p:nvPr/>
        </p:nvSpPr>
        <p:spPr>
          <a:xfrm>
            <a:off x="1424025" y="5064894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오징어볶음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 양념 소스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만드는법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간단 오징어 요리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16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E039280F-59A7-51B3-D42B-97315E70AB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5836876" y="5133093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5437F57-383E-B9BC-7952-6FFB99D5E779}"/>
              </a:ext>
            </a:extLst>
          </p:cNvPr>
          <p:cNvSpPr/>
          <p:nvPr/>
        </p:nvSpPr>
        <p:spPr>
          <a:xfrm>
            <a:off x="430719" y="6038759"/>
            <a:ext cx="871892" cy="51312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99%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61D65E-A7F3-D176-3F06-7C5C19E30ABE}"/>
              </a:ext>
            </a:extLst>
          </p:cNvPr>
          <p:cNvSpPr txBox="1"/>
          <p:nvPr/>
        </p:nvSpPr>
        <p:spPr>
          <a:xfrm>
            <a:off x="5918780" y="5064894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777ls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37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20</a:t>
            </a:r>
            <a:r>
              <a:rPr lang="en-US" altLang="ko-KR" sz="37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25-03-08</a:t>
            </a:r>
            <a:endParaRPr lang="en-US" altLang="ko-KR" sz="126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3BC126-B1D4-6326-E56C-EC11E35DB5F2}"/>
              </a:ext>
            </a:extLst>
          </p:cNvPr>
          <p:cNvSpPr txBox="1"/>
          <p:nvPr/>
        </p:nvSpPr>
        <p:spPr>
          <a:xfrm>
            <a:off x="1405927" y="5409292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저는 평소 찬거리 고를 때 마트에 가서 한 번 쭉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~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둘러 본 다음에 오늘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세일하는거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뭔가 보고 결정을 해요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지난주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어느날에는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마트에 갔는데 오징어 세일이라 집어 왔어요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ㅎ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그래서 이걸로 오징어요리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뭐할까하다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그냥 제일 간단한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물기없는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오징어볶음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레시피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3F41E56-E308-3550-1937-54022F8C166A}"/>
              </a:ext>
            </a:extLst>
          </p:cNvPr>
          <p:cNvSpPr/>
          <p:nvPr/>
        </p:nvSpPr>
        <p:spPr>
          <a:xfrm>
            <a:off x="1443258" y="6034701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4A2B3F4-C57B-0D19-CA8D-7084D3F4BACB}"/>
              </a:ext>
            </a:extLst>
          </p:cNvPr>
          <p:cNvSpPr/>
          <p:nvPr/>
        </p:nvSpPr>
        <p:spPr>
          <a:xfrm>
            <a:off x="1443258" y="6330708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705B781E-FA3F-C346-4C0E-74943CB4C26E}"/>
              </a:ext>
            </a:extLst>
          </p:cNvPr>
          <p:cNvSpPr/>
          <p:nvPr/>
        </p:nvSpPr>
        <p:spPr>
          <a:xfrm>
            <a:off x="2496990" y="632788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9C479F8-5424-8EF7-8C1C-E2259ADA3BD0}"/>
              </a:ext>
            </a:extLst>
          </p:cNvPr>
          <p:cNvSpPr/>
          <p:nvPr/>
        </p:nvSpPr>
        <p:spPr>
          <a:xfrm>
            <a:off x="2496990" y="603647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양파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0349298B-8612-F71F-8435-25827421B7A1}"/>
              </a:ext>
            </a:extLst>
          </p:cNvPr>
          <p:cNvSpPr/>
          <p:nvPr/>
        </p:nvSpPr>
        <p:spPr>
          <a:xfrm>
            <a:off x="2999339" y="603647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대파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D8807DB4-8031-B635-56CF-837ADDA9A530}"/>
              </a:ext>
            </a:extLst>
          </p:cNvPr>
          <p:cNvSpPr/>
          <p:nvPr/>
        </p:nvSpPr>
        <p:spPr>
          <a:xfrm>
            <a:off x="3501689" y="603647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통깨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BFC1D2C9-5500-66CA-5902-535E7E57E1AF}"/>
              </a:ext>
            </a:extLst>
          </p:cNvPr>
          <p:cNvSpPr/>
          <p:nvPr/>
        </p:nvSpPr>
        <p:spPr>
          <a:xfrm>
            <a:off x="4004038" y="603647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참기름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1A94D007-4A7D-25C9-B3B6-EBBA78CABC1F}"/>
              </a:ext>
            </a:extLst>
          </p:cNvPr>
          <p:cNvSpPr/>
          <p:nvPr/>
        </p:nvSpPr>
        <p:spPr>
          <a:xfrm>
            <a:off x="4506388" y="603647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고춧가루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5AC28634-C1C3-5C76-90F1-ED81C9F70FA3}"/>
              </a:ext>
            </a:extLst>
          </p:cNvPr>
          <p:cNvSpPr/>
          <p:nvPr/>
        </p:nvSpPr>
        <p:spPr>
          <a:xfrm>
            <a:off x="5008737" y="603647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올리고당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10CD3975-8F2F-FF5F-1AEB-8E538A0A89B5}"/>
              </a:ext>
            </a:extLst>
          </p:cNvPr>
          <p:cNvSpPr/>
          <p:nvPr/>
        </p:nvSpPr>
        <p:spPr>
          <a:xfrm>
            <a:off x="5511087" y="603647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설탕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3FBE7EEF-220E-85EE-8948-A53ABCC8EFFC}"/>
              </a:ext>
            </a:extLst>
          </p:cNvPr>
          <p:cNvSpPr/>
          <p:nvPr/>
        </p:nvSpPr>
        <p:spPr>
          <a:xfrm>
            <a:off x="6013436" y="603647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다진마늘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EDD05D4-3AEC-498F-44A4-BF6EFBF11623}"/>
              </a:ext>
            </a:extLst>
          </p:cNvPr>
          <p:cNvSpPr txBox="1"/>
          <p:nvPr/>
        </p:nvSpPr>
        <p:spPr>
          <a:xfrm>
            <a:off x="6504328" y="5990858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A68B2B3B-DFC2-7F7C-658C-96AD9FAD85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1920"/>
          <a:stretch/>
        </p:blipFill>
        <p:spPr>
          <a:xfrm flipH="1">
            <a:off x="6669029" y="5426469"/>
            <a:ext cx="116844" cy="547211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FCEF06F7-9009-F86D-B4D1-EA0BDAED57C4}"/>
              </a:ext>
            </a:extLst>
          </p:cNvPr>
          <p:cNvSpPr txBox="1"/>
          <p:nvPr/>
        </p:nvSpPr>
        <p:spPr>
          <a:xfrm>
            <a:off x="228136" y="4428973"/>
            <a:ext cx="5687457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해당 레시피는 네이버 요리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인플루언서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및 상위 요리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유튜버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레시피를 엄선한 내용입니다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게시글을 클릭하면 해당 게시글로 이동합니다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B7CFB52A-D9EE-6285-F0AA-A8D8C707AC1E}"/>
              </a:ext>
            </a:extLst>
          </p:cNvPr>
          <p:cNvSpPr/>
          <p:nvPr/>
        </p:nvSpPr>
        <p:spPr>
          <a:xfrm>
            <a:off x="263353" y="6735384"/>
            <a:ext cx="6707827" cy="1730393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4551917-66D2-AC11-B80B-C3ED0FF4EC87}"/>
              </a:ext>
            </a:extLst>
          </p:cNvPr>
          <p:cNvSpPr txBox="1"/>
          <p:nvPr/>
        </p:nvSpPr>
        <p:spPr>
          <a:xfrm>
            <a:off x="1424025" y="6849724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대패삼겹살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제육볶음 레시피 요리 고추장 제육볶음 양념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54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1A0D8974-FE2D-4F90-9060-F9237C5DDD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5836876" y="6917923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DDC17BF4-AC4A-A9F6-4EFD-709773802971}"/>
              </a:ext>
            </a:extLst>
          </p:cNvPr>
          <p:cNvSpPr/>
          <p:nvPr/>
        </p:nvSpPr>
        <p:spPr>
          <a:xfrm>
            <a:off x="430719" y="7823589"/>
            <a:ext cx="871892" cy="51312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90%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8866A06-003D-83DA-222A-23D0A70E14C4}"/>
              </a:ext>
            </a:extLst>
          </p:cNvPr>
          <p:cNvSpPr txBox="1"/>
          <p:nvPr/>
        </p:nvSpPr>
        <p:spPr>
          <a:xfrm>
            <a:off x="5918780" y="6849724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꼬마츄츄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37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20</a:t>
            </a:r>
            <a:r>
              <a:rPr lang="en-US" altLang="ko-KR" sz="37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25-04-09</a:t>
            </a:r>
            <a:endParaRPr lang="en-US" altLang="ko-KR" sz="126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41EA82D-B847-BFF9-DFC6-133114D11E33}"/>
              </a:ext>
            </a:extLst>
          </p:cNvPr>
          <p:cNvSpPr txBox="1"/>
          <p:nvPr/>
        </p:nvSpPr>
        <p:spPr>
          <a:xfrm>
            <a:off x="1405927" y="7194122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미리 양념장을 만들어서 볶으셔도 좋고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저처럼 그냥 바로 재료에 다 때려 넣고 볶아도 맛있는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대패삼겹살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제육볶음 레시피 만들 수 있답니다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개인적으로 아주 좋아하는 메뉴이기 때문에 앞다리살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목살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삼겹살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뒷다리살 등 구입을 해오면 볶아먹게 되는 것 같습니다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… 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4AB051F6-E162-F57C-A084-BC1562FAAB54}"/>
              </a:ext>
            </a:extLst>
          </p:cNvPr>
          <p:cNvSpPr/>
          <p:nvPr/>
        </p:nvSpPr>
        <p:spPr>
          <a:xfrm>
            <a:off x="1443258" y="7819530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A7DE4C57-3459-17F4-396B-D378328B1EB8}"/>
              </a:ext>
            </a:extLst>
          </p:cNvPr>
          <p:cNvSpPr/>
          <p:nvPr/>
        </p:nvSpPr>
        <p:spPr>
          <a:xfrm>
            <a:off x="1443258" y="8115537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9956EBF0-AB0C-9795-3BB3-DABFE3AEA2BD}"/>
              </a:ext>
            </a:extLst>
          </p:cNvPr>
          <p:cNvSpPr/>
          <p:nvPr/>
        </p:nvSpPr>
        <p:spPr>
          <a:xfrm>
            <a:off x="2496990" y="811271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1C58D6D0-6617-0041-CA30-9E5B0709B700}"/>
              </a:ext>
            </a:extLst>
          </p:cNvPr>
          <p:cNvSpPr/>
          <p:nvPr/>
        </p:nvSpPr>
        <p:spPr>
          <a:xfrm>
            <a:off x="2992029" y="811271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C58CA2AE-75FD-3602-CDD8-C07F3F0771D8}"/>
              </a:ext>
            </a:extLst>
          </p:cNvPr>
          <p:cNvSpPr/>
          <p:nvPr/>
        </p:nvSpPr>
        <p:spPr>
          <a:xfrm>
            <a:off x="2496990" y="782130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삽겹살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07F1DB3D-484D-3D77-9735-64045DE1D977}"/>
              </a:ext>
            </a:extLst>
          </p:cNvPr>
          <p:cNvSpPr/>
          <p:nvPr/>
        </p:nvSpPr>
        <p:spPr>
          <a:xfrm>
            <a:off x="2999339" y="782130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후추</a:t>
            </a:r>
          </a:p>
        </p:txBody>
      </p:sp>
      <p:sp>
        <p:nvSpPr>
          <p:cNvPr id="4096" name="사각형: 둥근 모서리 4095">
            <a:extLst>
              <a:ext uri="{FF2B5EF4-FFF2-40B4-BE49-F238E27FC236}">
                <a16:creationId xmlns:a16="http://schemas.microsoft.com/office/drawing/2014/main" id="{E517183D-ED7F-A033-D924-7D6FADE148DD}"/>
              </a:ext>
            </a:extLst>
          </p:cNvPr>
          <p:cNvSpPr/>
          <p:nvPr/>
        </p:nvSpPr>
        <p:spPr>
          <a:xfrm>
            <a:off x="3501689" y="782130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양파</a:t>
            </a:r>
          </a:p>
        </p:txBody>
      </p:sp>
      <p:sp>
        <p:nvSpPr>
          <p:cNvPr id="4097" name="사각형: 둥근 모서리 4096">
            <a:extLst>
              <a:ext uri="{FF2B5EF4-FFF2-40B4-BE49-F238E27FC236}">
                <a16:creationId xmlns:a16="http://schemas.microsoft.com/office/drawing/2014/main" id="{83C7DDC2-17AD-F71C-9CB9-EB82E1DE3A9A}"/>
              </a:ext>
            </a:extLst>
          </p:cNvPr>
          <p:cNvSpPr/>
          <p:nvPr/>
        </p:nvSpPr>
        <p:spPr>
          <a:xfrm>
            <a:off x="4004038" y="782130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대파</a:t>
            </a:r>
          </a:p>
        </p:txBody>
      </p:sp>
      <p:sp>
        <p:nvSpPr>
          <p:cNvPr id="4099" name="사각형: 둥근 모서리 4098">
            <a:extLst>
              <a:ext uri="{FF2B5EF4-FFF2-40B4-BE49-F238E27FC236}">
                <a16:creationId xmlns:a16="http://schemas.microsoft.com/office/drawing/2014/main" id="{760EF301-E5BC-E25A-0C9E-85639E4B639D}"/>
              </a:ext>
            </a:extLst>
          </p:cNvPr>
          <p:cNvSpPr/>
          <p:nvPr/>
        </p:nvSpPr>
        <p:spPr>
          <a:xfrm>
            <a:off x="4506388" y="782130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고추</a:t>
            </a:r>
          </a:p>
        </p:txBody>
      </p:sp>
      <p:sp>
        <p:nvSpPr>
          <p:cNvPr id="4101" name="사각형: 둥근 모서리 4100">
            <a:extLst>
              <a:ext uri="{FF2B5EF4-FFF2-40B4-BE49-F238E27FC236}">
                <a16:creationId xmlns:a16="http://schemas.microsoft.com/office/drawing/2014/main" id="{CDB5B2B0-C3E1-15D2-91D3-2123D8AD5F50}"/>
              </a:ext>
            </a:extLst>
          </p:cNvPr>
          <p:cNvSpPr/>
          <p:nvPr/>
        </p:nvSpPr>
        <p:spPr>
          <a:xfrm>
            <a:off x="5008737" y="782130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간장</a:t>
            </a:r>
          </a:p>
        </p:txBody>
      </p:sp>
      <p:sp>
        <p:nvSpPr>
          <p:cNvPr id="4102" name="사각형: 둥근 모서리 4101">
            <a:extLst>
              <a:ext uri="{FF2B5EF4-FFF2-40B4-BE49-F238E27FC236}">
                <a16:creationId xmlns:a16="http://schemas.microsoft.com/office/drawing/2014/main" id="{D09ADE75-3882-5A04-AE34-0082AF6B69A7}"/>
              </a:ext>
            </a:extLst>
          </p:cNvPr>
          <p:cNvSpPr/>
          <p:nvPr/>
        </p:nvSpPr>
        <p:spPr>
          <a:xfrm>
            <a:off x="5511087" y="782130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다진마늘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03" name="사각형: 둥근 모서리 4102">
            <a:extLst>
              <a:ext uri="{FF2B5EF4-FFF2-40B4-BE49-F238E27FC236}">
                <a16:creationId xmlns:a16="http://schemas.microsoft.com/office/drawing/2014/main" id="{3AD38953-CDBD-9911-E909-CAB6F1041E83}"/>
              </a:ext>
            </a:extLst>
          </p:cNvPr>
          <p:cNvSpPr/>
          <p:nvPr/>
        </p:nvSpPr>
        <p:spPr>
          <a:xfrm>
            <a:off x="6013436" y="782130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설탕 </a:t>
            </a:r>
          </a:p>
        </p:txBody>
      </p:sp>
      <p:sp>
        <p:nvSpPr>
          <p:cNvPr id="4104" name="TextBox 4103">
            <a:extLst>
              <a:ext uri="{FF2B5EF4-FFF2-40B4-BE49-F238E27FC236}">
                <a16:creationId xmlns:a16="http://schemas.microsoft.com/office/drawing/2014/main" id="{D365C590-75C5-5C82-23A6-AF58E5F8A57E}"/>
              </a:ext>
            </a:extLst>
          </p:cNvPr>
          <p:cNvSpPr txBox="1"/>
          <p:nvPr/>
        </p:nvSpPr>
        <p:spPr>
          <a:xfrm>
            <a:off x="6504328" y="7775688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105" name="그림 4104">
            <a:extLst>
              <a:ext uri="{FF2B5EF4-FFF2-40B4-BE49-F238E27FC236}">
                <a16:creationId xmlns:a16="http://schemas.microsoft.com/office/drawing/2014/main" id="{50A6DB2F-FB6D-A178-7A38-13320DE8E39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1920"/>
          <a:stretch/>
        </p:blipFill>
        <p:spPr>
          <a:xfrm flipH="1">
            <a:off x="6669029" y="7211299"/>
            <a:ext cx="116844" cy="547211"/>
          </a:xfrm>
          <a:prstGeom prst="rect">
            <a:avLst/>
          </a:prstGeom>
        </p:spPr>
      </p:pic>
      <p:sp>
        <p:nvSpPr>
          <p:cNvPr id="4106" name="사각형: 둥근 모서리 4105">
            <a:extLst>
              <a:ext uri="{FF2B5EF4-FFF2-40B4-BE49-F238E27FC236}">
                <a16:creationId xmlns:a16="http://schemas.microsoft.com/office/drawing/2014/main" id="{EF4882CE-C0DB-D590-782C-21ED7E8312DE}"/>
              </a:ext>
            </a:extLst>
          </p:cNvPr>
          <p:cNvSpPr/>
          <p:nvPr/>
        </p:nvSpPr>
        <p:spPr>
          <a:xfrm>
            <a:off x="263353" y="8559728"/>
            <a:ext cx="6707827" cy="1730393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4108" name="TextBox 4107">
            <a:extLst>
              <a:ext uri="{FF2B5EF4-FFF2-40B4-BE49-F238E27FC236}">
                <a16:creationId xmlns:a16="http://schemas.microsoft.com/office/drawing/2014/main" id="{6A39F22F-EA12-9CE0-32F8-A487EED2851F}"/>
              </a:ext>
            </a:extLst>
          </p:cNvPr>
          <p:cNvSpPr txBox="1"/>
          <p:nvPr/>
        </p:nvSpPr>
        <p:spPr>
          <a:xfrm>
            <a:off x="1424025" y="8674067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미나리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오삼불고기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술안주로 좋지요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~~</a:t>
            </a:r>
          </a:p>
        </p:txBody>
      </p:sp>
      <p:pic>
        <p:nvPicPr>
          <p:cNvPr id="4109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B6E49827-6B15-D312-7325-47D1F951F3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5836876" y="8742267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0" name="사각형: 둥근 모서리 4109">
            <a:extLst>
              <a:ext uri="{FF2B5EF4-FFF2-40B4-BE49-F238E27FC236}">
                <a16:creationId xmlns:a16="http://schemas.microsoft.com/office/drawing/2014/main" id="{029B394C-93A3-CA8D-569A-D1B9ED677030}"/>
              </a:ext>
            </a:extLst>
          </p:cNvPr>
          <p:cNvSpPr/>
          <p:nvPr/>
        </p:nvSpPr>
        <p:spPr>
          <a:xfrm>
            <a:off x="430719" y="9647933"/>
            <a:ext cx="871892" cy="51312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80%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11" name="TextBox 4110">
            <a:extLst>
              <a:ext uri="{FF2B5EF4-FFF2-40B4-BE49-F238E27FC236}">
                <a16:creationId xmlns:a16="http://schemas.microsoft.com/office/drawing/2014/main" id="{0BED8CD8-2187-CEB5-4BED-37EED5981945}"/>
              </a:ext>
            </a:extLst>
          </p:cNvPr>
          <p:cNvSpPr txBox="1"/>
          <p:nvPr/>
        </p:nvSpPr>
        <p:spPr>
          <a:xfrm>
            <a:off x="5918780" y="8674067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껌딱지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37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20</a:t>
            </a:r>
            <a:r>
              <a:rPr lang="en-US" altLang="ko-KR" sz="37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25-04-06</a:t>
            </a:r>
            <a:endParaRPr lang="en-US" altLang="ko-KR" sz="126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4112" name="TextBox 4111">
            <a:extLst>
              <a:ext uri="{FF2B5EF4-FFF2-40B4-BE49-F238E27FC236}">
                <a16:creationId xmlns:a16="http://schemas.microsoft.com/office/drawing/2014/main" id="{9E07AFE4-A07E-F301-E99B-2102C6C15CA6}"/>
              </a:ext>
            </a:extLst>
          </p:cNvPr>
          <p:cNvSpPr txBox="1"/>
          <p:nvPr/>
        </p:nvSpPr>
        <p:spPr>
          <a:xfrm>
            <a:off x="1405927" y="9018466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언제 먹어도 맛있죠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누구나 다 좋아하죠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오징어 볶음도 맛있고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제육볶음도 맛있고 고민될 땐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오삼불고기죠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^^.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밥한그릇 뚝딱하게 만드는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애정하는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메뉴입니다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자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먼저 통오징어를 먼저 손질해 줍니다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오징어 몸통안으로 손가락을 넣어 오징어 몸통과 내장이 연결되어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113" name="사각형: 둥근 모서리 4112">
            <a:extLst>
              <a:ext uri="{FF2B5EF4-FFF2-40B4-BE49-F238E27FC236}">
                <a16:creationId xmlns:a16="http://schemas.microsoft.com/office/drawing/2014/main" id="{23E0D65A-067D-A512-5D8B-00506A3CE571}"/>
              </a:ext>
            </a:extLst>
          </p:cNvPr>
          <p:cNvSpPr/>
          <p:nvPr/>
        </p:nvSpPr>
        <p:spPr>
          <a:xfrm>
            <a:off x="1443258" y="9643874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4114" name="사각형: 둥근 모서리 4113">
            <a:extLst>
              <a:ext uri="{FF2B5EF4-FFF2-40B4-BE49-F238E27FC236}">
                <a16:creationId xmlns:a16="http://schemas.microsoft.com/office/drawing/2014/main" id="{E484CBCE-56CC-0B96-FF67-09D2BA504364}"/>
              </a:ext>
            </a:extLst>
          </p:cNvPr>
          <p:cNvSpPr/>
          <p:nvPr/>
        </p:nvSpPr>
        <p:spPr>
          <a:xfrm>
            <a:off x="1443258" y="9939881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4115" name="사각형: 둥근 모서리 4114">
            <a:extLst>
              <a:ext uri="{FF2B5EF4-FFF2-40B4-BE49-F238E27FC236}">
                <a16:creationId xmlns:a16="http://schemas.microsoft.com/office/drawing/2014/main" id="{7EA4AB96-3317-3A3E-DE40-705B85CCC0CD}"/>
              </a:ext>
            </a:extLst>
          </p:cNvPr>
          <p:cNvSpPr/>
          <p:nvPr/>
        </p:nvSpPr>
        <p:spPr>
          <a:xfrm>
            <a:off x="2496990" y="9937057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16" name="사각형: 둥근 모서리 4115">
            <a:extLst>
              <a:ext uri="{FF2B5EF4-FFF2-40B4-BE49-F238E27FC236}">
                <a16:creationId xmlns:a16="http://schemas.microsoft.com/office/drawing/2014/main" id="{E319BE9E-9DEF-FA92-74F9-0D40964D962B}"/>
              </a:ext>
            </a:extLst>
          </p:cNvPr>
          <p:cNvSpPr/>
          <p:nvPr/>
        </p:nvSpPr>
        <p:spPr>
          <a:xfrm>
            <a:off x="2992029" y="9937057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미나리</a:t>
            </a:r>
          </a:p>
        </p:txBody>
      </p:sp>
      <p:sp>
        <p:nvSpPr>
          <p:cNvPr id="4117" name="사각형: 둥근 모서리 4116">
            <a:extLst>
              <a:ext uri="{FF2B5EF4-FFF2-40B4-BE49-F238E27FC236}">
                <a16:creationId xmlns:a16="http://schemas.microsoft.com/office/drawing/2014/main" id="{FDCA5665-AFE1-94CA-99A8-1584AFAE1B5F}"/>
              </a:ext>
            </a:extLst>
          </p:cNvPr>
          <p:cNvSpPr/>
          <p:nvPr/>
        </p:nvSpPr>
        <p:spPr>
          <a:xfrm>
            <a:off x="2496990" y="9645644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</a:t>
            </a:r>
          </a:p>
        </p:txBody>
      </p:sp>
      <p:sp>
        <p:nvSpPr>
          <p:cNvPr id="4118" name="사각형: 둥근 모서리 4117">
            <a:extLst>
              <a:ext uri="{FF2B5EF4-FFF2-40B4-BE49-F238E27FC236}">
                <a16:creationId xmlns:a16="http://schemas.microsoft.com/office/drawing/2014/main" id="{6933C770-543D-30D6-9DC4-ED44CDD8460B}"/>
              </a:ext>
            </a:extLst>
          </p:cNvPr>
          <p:cNvSpPr/>
          <p:nvPr/>
        </p:nvSpPr>
        <p:spPr>
          <a:xfrm>
            <a:off x="2999339" y="9645644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고추장 </a:t>
            </a:r>
          </a:p>
        </p:txBody>
      </p:sp>
      <p:sp>
        <p:nvSpPr>
          <p:cNvPr id="4119" name="사각형: 둥근 모서리 4118">
            <a:extLst>
              <a:ext uri="{FF2B5EF4-FFF2-40B4-BE49-F238E27FC236}">
                <a16:creationId xmlns:a16="http://schemas.microsoft.com/office/drawing/2014/main" id="{31717B99-C76C-0142-2980-594871D2A53B}"/>
              </a:ext>
            </a:extLst>
          </p:cNvPr>
          <p:cNvSpPr/>
          <p:nvPr/>
        </p:nvSpPr>
        <p:spPr>
          <a:xfrm>
            <a:off x="3501689" y="9645644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고춧가루</a:t>
            </a:r>
          </a:p>
        </p:txBody>
      </p:sp>
      <p:sp>
        <p:nvSpPr>
          <p:cNvPr id="4120" name="사각형: 둥근 모서리 4119">
            <a:extLst>
              <a:ext uri="{FF2B5EF4-FFF2-40B4-BE49-F238E27FC236}">
                <a16:creationId xmlns:a16="http://schemas.microsoft.com/office/drawing/2014/main" id="{991D2110-7BAB-E056-D57E-6171A37C8447}"/>
              </a:ext>
            </a:extLst>
          </p:cNvPr>
          <p:cNvSpPr/>
          <p:nvPr/>
        </p:nvSpPr>
        <p:spPr>
          <a:xfrm>
            <a:off x="4004038" y="9645644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간장</a:t>
            </a:r>
          </a:p>
        </p:txBody>
      </p:sp>
      <p:sp>
        <p:nvSpPr>
          <p:cNvPr id="4121" name="사각형: 둥근 모서리 4120">
            <a:extLst>
              <a:ext uri="{FF2B5EF4-FFF2-40B4-BE49-F238E27FC236}">
                <a16:creationId xmlns:a16="http://schemas.microsoft.com/office/drawing/2014/main" id="{FA30D805-A7A0-2234-68C6-C899CDCC406A}"/>
              </a:ext>
            </a:extLst>
          </p:cNvPr>
          <p:cNvSpPr/>
          <p:nvPr/>
        </p:nvSpPr>
        <p:spPr>
          <a:xfrm>
            <a:off x="4506388" y="9645644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된장</a:t>
            </a:r>
          </a:p>
        </p:txBody>
      </p:sp>
      <p:sp>
        <p:nvSpPr>
          <p:cNvPr id="4122" name="사각형: 둥근 모서리 4121">
            <a:extLst>
              <a:ext uri="{FF2B5EF4-FFF2-40B4-BE49-F238E27FC236}">
                <a16:creationId xmlns:a16="http://schemas.microsoft.com/office/drawing/2014/main" id="{AF4A4493-8460-6782-09E0-11F2ACC70FB8}"/>
              </a:ext>
            </a:extLst>
          </p:cNvPr>
          <p:cNvSpPr/>
          <p:nvPr/>
        </p:nvSpPr>
        <p:spPr>
          <a:xfrm>
            <a:off x="5008737" y="9645644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다진마늘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23" name="사각형: 둥근 모서리 4122">
            <a:extLst>
              <a:ext uri="{FF2B5EF4-FFF2-40B4-BE49-F238E27FC236}">
                <a16:creationId xmlns:a16="http://schemas.microsoft.com/office/drawing/2014/main" id="{CF28A5FE-AA23-7AB9-CA76-D4D1021DCB3D}"/>
              </a:ext>
            </a:extLst>
          </p:cNvPr>
          <p:cNvSpPr/>
          <p:nvPr/>
        </p:nvSpPr>
        <p:spPr>
          <a:xfrm>
            <a:off x="5511087" y="9645644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후춧가루</a:t>
            </a:r>
          </a:p>
        </p:txBody>
      </p:sp>
      <p:sp>
        <p:nvSpPr>
          <p:cNvPr id="4124" name="사각형: 둥근 모서리 4123">
            <a:extLst>
              <a:ext uri="{FF2B5EF4-FFF2-40B4-BE49-F238E27FC236}">
                <a16:creationId xmlns:a16="http://schemas.microsoft.com/office/drawing/2014/main" id="{097F2AAC-916A-7CB0-E56E-53F5A3C85CB4}"/>
              </a:ext>
            </a:extLst>
          </p:cNvPr>
          <p:cNvSpPr/>
          <p:nvPr/>
        </p:nvSpPr>
        <p:spPr>
          <a:xfrm>
            <a:off x="6013436" y="9645644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설탕</a:t>
            </a:r>
          </a:p>
        </p:txBody>
      </p:sp>
      <p:sp>
        <p:nvSpPr>
          <p:cNvPr id="4125" name="TextBox 4124">
            <a:extLst>
              <a:ext uri="{FF2B5EF4-FFF2-40B4-BE49-F238E27FC236}">
                <a16:creationId xmlns:a16="http://schemas.microsoft.com/office/drawing/2014/main" id="{FA09640A-C10D-398A-B4C6-297394A679D6}"/>
              </a:ext>
            </a:extLst>
          </p:cNvPr>
          <p:cNvSpPr txBox="1"/>
          <p:nvPr/>
        </p:nvSpPr>
        <p:spPr>
          <a:xfrm>
            <a:off x="6504328" y="9600031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126" name="그림 4125">
            <a:extLst>
              <a:ext uri="{FF2B5EF4-FFF2-40B4-BE49-F238E27FC236}">
                <a16:creationId xmlns:a16="http://schemas.microsoft.com/office/drawing/2014/main" id="{4B399DA4-F162-C8A7-51F4-081514D4E05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1920"/>
          <a:stretch/>
        </p:blipFill>
        <p:spPr>
          <a:xfrm flipH="1">
            <a:off x="6669029" y="9035642"/>
            <a:ext cx="116844" cy="547211"/>
          </a:xfrm>
          <a:prstGeom prst="rect">
            <a:avLst/>
          </a:prstGeom>
        </p:spPr>
      </p:pic>
      <p:pic>
        <p:nvPicPr>
          <p:cNvPr id="4129" name="그림 4128">
            <a:extLst>
              <a:ext uri="{FF2B5EF4-FFF2-40B4-BE49-F238E27FC236}">
                <a16:creationId xmlns:a16="http://schemas.microsoft.com/office/drawing/2014/main" id="{CD5A1615-05F7-8A95-5363-509AAEF51F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76" y="6880436"/>
            <a:ext cx="826571" cy="795050"/>
          </a:xfrm>
          <a:prstGeom prst="rect">
            <a:avLst/>
          </a:prstGeom>
        </p:spPr>
      </p:pic>
      <p:pic>
        <p:nvPicPr>
          <p:cNvPr id="4132" name="그림 4131">
            <a:extLst>
              <a:ext uri="{FF2B5EF4-FFF2-40B4-BE49-F238E27FC236}">
                <a16:creationId xmlns:a16="http://schemas.microsoft.com/office/drawing/2014/main" id="{C6884B80-9FCD-3593-8AAF-3DCA3500EF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198" y="8707051"/>
            <a:ext cx="847972" cy="807765"/>
          </a:xfrm>
          <a:prstGeom prst="rect">
            <a:avLst/>
          </a:prstGeom>
        </p:spPr>
      </p:pic>
      <p:sp>
        <p:nvSpPr>
          <p:cNvPr id="4134" name="사각형: 둥근 모서리 4133">
            <a:extLst>
              <a:ext uri="{FF2B5EF4-FFF2-40B4-BE49-F238E27FC236}">
                <a16:creationId xmlns:a16="http://schemas.microsoft.com/office/drawing/2014/main" id="{29842525-40A7-66A1-5766-A0DCD463570D}"/>
              </a:ext>
            </a:extLst>
          </p:cNvPr>
          <p:cNvSpPr/>
          <p:nvPr/>
        </p:nvSpPr>
        <p:spPr>
          <a:xfrm>
            <a:off x="5823134" y="3888874"/>
            <a:ext cx="1029421" cy="329624"/>
          </a:xfrm>
          <a:prstGeom prst="roundRect">
            <a:avLst/>
          </a:prstGeom>
          <a:solidFill>
            <a:srgbClr val="464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519"/>
          </a:p>
        </p:txBody>
      </p:sp>
      <p:sp>
        <p:nvSpPr>
          <p:cNvPr id="4135" name="사각형: 둥근 모서리 4134">
            <a:extLst>
              <a:ext uri="{FF2B5EF4-FFF2-40B4-BE49-F238E27FC236}">
                <a16:creationId xmlns:a16="http://schemas.microsoft.com/office/drawing/2014/main" id="{24B8E0A8-8121-ED2D-B327-D8E3DA041F13}"/>
              </a:ext>
            </a:extLst>
          </p:cNvPr>
          <p:cNvSpPr/>
          <p:nvPr/>
        </p:nvSpPr>
        <p:spPr>
          <a:xfrm>
            <a:off x="5990182" y="3951650"/>
            <a:ext cx="695316" cy="20407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    필터</a:t>
            </a:r>
          </a:p>
        </p:txBody>
      </p:sp>
      <p:sp>
        <p:nvSpPr>
          <p:cNvPr id="4136" name="TextBox 4135">
            <a:extLst>
              <a:ext uri="{FF2B5EF4-FFF2-40B4-BE49-F238E27FC236}">
                <a16:creationId xmlns:a16="http://schemas.microsoft.com/office/drawing/2014/main" id="{60B595C9-6BBB-9D4A-6242-866144DA35E7}"/>
              </a:ext>
            </a:extLst>
          </p:cNvPr>
          <p:cNvSpPr txBox="1"/>
          <p:nvPr/>
        </p:nvSpPr>
        <p:spPr>
          <a:xfrm>
            <a:off x="2" y="1980409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UI 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구성</a:t>
            </a:r>
            <a:endParaRPr lang="ko-KR" altLang="en-US" sz="2267" dirty="0"/>
          </a:p>
        </p:txBody>
      </p:sp>
      <p:sp>
        <p:nvSpPr>
          <p:cNvPr id="4137" name="TextBox 4136">
            <a:extLst>
              <a:ext uri="{FF2B5EF4-FFF2-40B4-BE49-F238E27FC236}">
                <a16:creationId xmlns:a16="http://schemas.microsoft.com/office/drawing/2014/main" id="{1D73784C-F800-2939-57A7-94EFCE5E063E}"/>
              </a:ext>
            </a:extLst>
          </p:cNvPr>
          <p:cNvSpPr txBox="1"/>
          <p:nvPr/>
        </p:nvSpPr>
        <p:spPr>
          <a:xfrm>
            <a:off x="2" y="20749053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2267" dirty="0"/>
          </a:p>
        </p:txBody>
      </p:sp>
      <p:grpSp>
        <p:nvGrpSpPr>
          <p:cNvPr id="4147" name="그룹 4146">
            <a:extLst>
              <a:ext uri="{FF2B5EF4-FFF2-40B4-BE49-F238E27FC236}">
                <a16:creationId xmlns:a16="http://schemas.microsoft.com/office/drawing/2014/main" id="{A55B612A-05BB-6A21-9CD7-070E26D14A15}"/>
              </a:ext>
            </a:extLst>
          </p:cNvPr>
          <p:cNvGrpSpPr/>
          <p:nvPr/>
        </p:nvGrpSpPr>
        <p:grpSpPr>
          <a:xfrm>
            <a:off x="6125942" y="4020882"/>
            <a:ext cx="117978" cy="65609"/>
            <a:chOff x="4773621" y="1614488"/>
            <a:chExt cx="128101" cy="80962"/>
          </a:xfrm>
        </p:grpSpPr>
        <p:cxnSp>
          <p:nvCxnSpPr>
            <p:cNvPr id="4143" name="직선 연결선 4142">
              <a:extLst>
                <a:ext uri="{FF2B5EF4-FFF2-40B4-BE49-F238E27FC236}">
                  <a16:creationId xmlns:a16="http://schemas.microsoft.com/office/drawing/2014/main" id="{5452EBB7-0E10-23F8-5BB4-4CED97750727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14488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5" name="직선 연결선 4144">
              <a:extLst>
                <a:ext uri="{FF2B5EF4-FFF2-40B4-BE49-F238E27FC236}">
                  <a16:creationId xmlns:a16="http://schemas.microsoft.com/office/drawing/2014/main" id="{87B79FD5-7475-9C82-D0A1-A945DC5EBF79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56289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6" name="직선 연결선 4145">
              <a:extLst>
                <a:ext uri="{FF2B5EF4-FFF2-40B4-BE49-F238E27FC236}">
                  <a16:creationId xmlns:a16="http://schemas.microsoft.com/office/drawing/2014/main" id="{C3D7A5BF-BF26-8EEE-5CBA-DB3CE73E2FE9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95450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49" name="사각형: 둥근 모서리 4148">
            <a:extLst>
              <a:ext uri="{FF2B5EF4-FFF2-40B4-BE49-F238E27FC236}">
                <a16:creationId xmlns:a16="http://schemas.microsoft.com/office/drawing/2014/main" id="{F86C257A-518E-7A5E-8E52-86732C15C357}"/>
              </a:ext>
            </a:extLst>
          </p:cNvPr>
          <p:cNvSpPr/>
          <p:nvPr/>
        </p:nvSpPr>
        <p:spPr>
          <a:xfrm>
            <a:off x="3490981" y="9937057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치킨스톡</a:t>
            </a:r>
          </a:p>
        </p:txBody>
      </p:sp>
      <p:sp>
        <p:nvSpPr>
          <p:cNvPr id="4150" name="사각형: 둥근 모서리 4149">
            <a:extLst>
              <a:ext uri="{FF2B5EF4-FFF2-40B4-BE49-F238E27FC236}">
                <a16:creationId xmlns:a16="http://schemas.microsoft.com/office/drawing/2014/main" id="{32DEACA0-F30A-B9FA-F4F1-9F30423D0CBC}"/>
              </a:ext>
            </a:extLst>
          </p:cNvPr>
          <p:cNvSpPr/>
          <p:nvPr/>
        </p:nvSpPr>
        <p:spPr>
          <a:xfrm>
            <a:off x="4004038" y="993705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코인육수</a:t>
            </a:r>
          </a:p>
        </p:txBody>
      </p:sp>
      <p:sp>
        <p:nvSpPr>
          <p:cNvPr id="4151" name="사각형: 둥근 모서리 4150">
            <a:extLst>
              <a:ext uri="{FF2B5EF4-FFF2-40B4-BE49-F238E27FC236}">
                <a16:creationId xmlns:a16="http://schemas.microsoft.com/office/drawing/2014/main" id="{74694417-0981-7873-40E8-DAB0CE22778D}"/>
              </a:ext>
            </a:extLst>
          </p:cNvPr>
          <p:cNvSpPr/>
          <p:nvPr/>
        </p:nvSpPr>
        <p:spPr>
          <a:xfrm>
            <a:off x="3501689" y="8115537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</a:t>
            </a:r>
          </a:p>
        </p:txBody>
      </p:sp>
      <p:sp>
        <p:nvSpPr>
          <p:cNvPr id="4152" name="사각형: 둥근 모서리 4151">
            <a:extLst>
              <a:ext uri="{FF2B5EF4-FFF2-40B4-BE49-F238E27FC236}">
                <a16:creationId xmlns:a16="http://schemas.microsoft.com/office/drawing/2014/main" id="{E38FD5C0-A052-EC75-704B-FE88FA5F59AE}"/>
              </a:ext>
            </a:extLst>
          </p:cNvPr>
          <p:cNvSpPr/>
          <p:nvPr/>
        </p:nvSpPr>
        <p:spPr>
          <a:xfrm>
            <a:off x="4500439" y="993705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매실액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65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442AF43C-6D27-941A-9DFA-51834DBEB9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5195160" y="8731829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66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7580EFD0-744A-A5A9-E986-D09F37244E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5203123" y="6901349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67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399B96CE-4EC7-1DB2-E0D2-CB7559BEB1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5212301" y="5133093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69" name="TextBox 4168">
            <a:extLst>
              <a:ext uri="{FF2B5EF4-FFF2-40B4-BE49-F238E27FC236}">
                <a16:creationId xmlns:a16="http://schemas.microsoft.com/office/drawing/2014/main" id="{6437548D-59AC-F547-A5C1-C6F54D2B76E0}"/>
              </a:ext>
            </a:extLst>
          </p:cNvPr>
          <p:cNvSpPr txBox="1"/>
          <p:nvPr/>
        </p:nvSpPr>
        <p:spPr>
          <a:xfrm>
            <a:off x="213617" y="3024667"/>
            <a:ext cx="1109824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4170" name="TextBox 4169">
            <a:extLst>
              <a:ext uri="{FF2B5EF4-FFF2-40B4-BE49-F238E27FC236}">
                <a16:creationId xmlns:a16="http://schemas.microsoft.com/office/drawing/2014/main" id="{74B3280A-2D1E-5AC9-95E9-2E53FD52954A}"/>
              </a:ext>
            </a:extLst>
          </p:cNvPr>
          <p:cNvSpPr txBox="1"/>
          <p:nvPr/>
        </p:nvSpPr>
        <p:spPr>
          <a:xfrm>
            <a:off x="1476515" y="3026376"/>
            <a:ext cx="1248260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sp>
        <p:nvSpPr>
          <p:cNvPr id="4171" name="TextBox 4170">
            <a:extLst>
              <a:ext uri="{FF2B5EF4-FFF2-40B4-BE49-F238E27FC236}">
                <a16:creationId xmlns:a16="http://schemas.microsoft.com/office/drawing/2014/main" id="{E02A55BB-4012-3216-0BFC-0BFFA090C80F}"/>
              </a:ext>
            </a:extLst>
          </p:cNvPr>
          <p:cNvSpPr txBox="1"/>
          <p:nvPr/>
        </p:nvSpPr>
        <p:spPr>
          <a:xfrm>
            <a:off x="3978099" y="3024667"/>
            <a:ext cx="701454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sp>
        <p:nvSpPr>
          <p:cNvPr id="4173" name="TextBox 4172">
            <a:extLst>
              <a:ext uri="{FF2B5EF4-FFF2-40B4-BE49-F238E27FC236}">
                <a16:creationId xmlns:a16="http://schemas.microsoft.com/office/drawing/2014/main" id="{8FDE1380-C0E3-4063-30DC-6321892A4147}"/>
              </a:ext>
            </a:extLst>
          </p:cNvPr>
          <p:cNvSpPr txBox="1"/>
          <p:nvPr/>
        </p:nvSpPr>
        <p:spPr>
          <a:xfrm>
            <a:off x="2896176" y="3024667"/>
            <a:ext cx="928852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  <p:sp>
        <p:nvSpPr>
          <p:cNvPr id="4214" name="TextBox 4213">
            <a:extLst>
              <a:ext uri="{FF2B5EF4-FFF2-40B4-BE49-F238E27FC236}">
                <a16:creationId xmlns:a16="http://schemas.microsoft.com/office/drawing/2014/main" id="{CF63DCC7-BDAC-5423-A937-31D364B657CB}"/>
              </a:ext>
            </a:extLst>
          </p:cNvPr>
          <p:cNvSpPr txBox="1"/>
          <p:nvPr/>
        </p:nvSpPr>
        <p:spPr>
          <a:xfrm>
            <a:off x="1350452" y="7071168"/>
            <a:ext cx="3724444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요리 스타일</a:t>
            </a:r>
          </a:p>
        </p:txBody>
      </p:sp>
      <p:cxnSp>
        <p:nvCxnSpPr>
          <p:cNvPr id="4244" name="직선 연결선 4243">
            <a:extLst>
              <a:ext uri="{FF2B5EF4-FFF2-40B4-BE49-F238E27FC236}">
                <a16:creationId xmlns:a16="http://schemas.microsoft.com/office/drawing/2014/main" id="{87831452-7F9B-FC3A-6AC7-4D144F00C5D3}"/>
              </a:ext>
            </a:extLst>
          </p:cNvPr>
          <p:cNvCxnSpPr/>
          <p:nvPr/>
        </p:nvCxnSpPr>
        <p:spPr>
          <a:xfrm>
            <a:off x="1443258" y="7045410"/>
            <a:ext cx="412182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63" name="사각형: 둥근 모서리 4562">
            <a:extLst>
              <a:ext uri="{FF2B5EF4-FFF2-40B4-BE49-F238E27FC236}">
                <a16:creationId xmlns:a16="http://schemas.microsoft.com/office/drawing/2014/main" id="{8E134CCE-F435-6A7F-0145-63A85BAF750D}"/>
              </a:ext>
            </a:extLst>
          </p:cNvPr>
          <p:cNvSpPr/>
          <p:nvPr/>
        </p:nvSpPr>
        <p:spPr>
          <a:xfrm>
            <a:off x="2528653" y="1283585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아내</a:t>
            </a:r>
          </a:p>
        </p:txBody>
      </p:sp>
      <p:grpSp>
        <p:nvGrpSpPr>
          <p:cNvPr id="4564" name="그룹 4563">
            <a:extLst>
              <a:ext uri="{FF2B5EF4-FFF2-40B4-BE49-F238E27FC236}">
                <a16:creationId xmlns:a16="http://schemas.microsoft.com/office/drawing/2014/main" id="{7D50181F-15C2-6C24-8255-F271ED94737B}"/>
              </a:ext>
            </a:extLst>
          </p:cNvPr>
          <p:cNvGrpSpPr/>
          <p:nvPr/>
        </p:nvGrpSpPr>
        <p:grpSpPr>
          <a:xfrm>
            <a:off x="1251185" y="3898761"/>
            <a:ext cx="4220929" cy="329624"/>
            <a:chOff x="5907972" y="5212399"/>
            <a:chExt cx="1164752" cy="116154"/>
          </a:xfrm>
        </p:grpSpPr>
        <p:sp>
          <p:nvSpPr>
            <p:cNvPr id="4565" name="사각형: 둥근 모서리 4564">
              <a:extLst>
                <a:ext uri="{FF2B5EF4-FFF2-40B4-BE49-F238E27FC236}">
                  <a16:creationId xmlns:a16="http://schemas.microsoft.com/office/drawing/2014/main" id="{C96AF182-DDCA-B064-3816-D63848341DD1}"/>
                </a:ext>
              </a:extLst>
            </p:cNvPr>
            <p:cNvSpPr/>
            <p:nvPr/>
          </p:nvSpPr>
          <p:spPr>
            <a:xfrm>
              <a:off x="5907972" y="5212399"/>
              <a:ext cx="1164752" cy="116154"/>
            </a:xfrm>
            <a:prstGeom prst="roundRect">
              <a:avLst/>
            </a:prstGeom>
            <a:solidFill>
              <a:srgbClr val="4644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519"/>
            </a:p>
          </p:txBody>
        </p:sp>
        <p:sp>
          <p:nvSpPr>
            <p:cNvPr id="4566" name="사각형: 둥근 모서리 4565">
              <a:extLst>
                <a:ext uri="{FF2B5EF4-FFF2-40B4-BE49-F238E27FC236}">
                  <a16:creationId xmlns:a16="http://schemas.microsoft.com/office/drawing/2014/main" id="{F0A894AA-2ED2-3BA4-48B9-875275BD95BC}"/>
                </a:ext>
              </a:extLst>
            </p:cNvPr>
            <p:cNvSpPr/>
            <p:nvPr/>
          </p:nvSpPr>
          <p:spPr>
            <a:xfrm>
              <a:off x="6640069" y="5231921"/>
              <a:ext cx="190610" cy="7191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b="1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댓글순</a:t>
              </a:r>
              <a:endPara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567" name="사각형: 둥근 모서리 4566">
              <a:extLst>
                <a:ext uri="{FF2B5EF4-FFF2-40B4-BE49-F238E27FC236}">
                  <a16:creationId xmlns:a16="http://schemas.microsoft.com/office/drawing/2014/main" id="{9FF2D9FA-B481-BDFE-2A3F-0218B6F43A9A}"/>
                </a:ext>
              </a:extLst>
            </p:cNvPr>
            <p:cNvSpPr/>
            <p:nvPr/>
          </p:nvSpPr>
          <p:spPr>
            <a:xfrm>
              <a:off x="6839597" y="5231921"/>
              <a:ext cx="214801" cy="7191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최신순</a:t>
              </a:r>
            </a:p>
          </p:txBody>
        </p:sp>
        <p:sp>
          <p:nvSpPr>
            <p:cNvPr id="4568" name="사각형: 둥근 모서리 4567">
              <a:extLst>
                <a:ext uri="{FF2B5EF4-FFF2-40B4-BE49-F238E27FC236}">
                  <a16:creationId xmlns:a16="http://schemas.microsoft.com/office/drawing/2014/main" id="{D0B51945-98D4-E643-4FFE-EAB6720BD483}"/>
                </a:ext>
              </a:extLst>
            </p:cNvPr>
            <p:cNvSpPr/>
            <p:nvPr/>
          </p:nvSpPr>
          <p:spPr>
            <a:xfrm>
              <a:off x="6441200" y="5231921"/>
              <a:ext cx="190610" cy="7191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b="1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좋아요순</a:t>
              </a:r>
              <a:endPara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569" name="사각형: 둥근 모서리 4568">
              <a:extLst>
                <a:ext uri="{FF2B5EF4-FFF2-40B4-BE49-F238E27FC236}">
                  <a16:creationId xmlns:a16="http://schemas.microsoft.com/office/drawing/2014/main" id="{24EB9A5F-5258-2233-96B9-C59E3FEA6BF8}"/>
                </a:ext>
              </a:extLst>
            </p:cNvPr>
            <p:cNvSpPr/>
            <p:nvPr/>
          </p:nvSpPr>
          <p:spPr>
            <a:xfrm>
              <a:off x="5920297" y="5231921"/>
              <a:ext cx="217424" cy="71912"/>
            </a:xfrm>
            <a:prstGeom prst="roundRect">
              <a:avLst/>
            </a:prstGeom>
            <a:solidFill>
              <a:srgbClr val="1F1F22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b="1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재료매칭률순</a:t>
              </a:r>
              <a:endPara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</p:grpSp>
      <p:sp>
        <p:nvSpPr>
          <p:cNvPr id="4570" name="사각형: 둥근 모서리 4569">
            <a:extLst>
              <a:ext uri="{FF2B5EF4-FFF2-40B4-BE49-F238E27FC236}">
                <a16:creationId xmlns:a16="http://schemas.microsoft.com/office/drawing/2014/main" id="{5D10B47E-B926-E55E-0C0B-2ADAAC828402}"/>
              </a:ext>
            </a:extLst>
          </p:cNvPr>
          <p:cNvSpPr/>
          <p:nvPr/>
        </p:nvSpPr>
        <p:spPr>
          <a:xfrm>
            <a:off x="2118493" y="3953046"/>
            <a:ext cx="1021232" cy="20407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유통기한 임박 재료 순</a:t>
            </a:r>
          </a:p>
        </p:txBody>
      </p:sp>
      <p:grpSp>
        <p:nvGrpSpPr>
          <p:cNvPr id="4561" name="그룹 4560">
            <a:extLst>
              <a:ext uri="{FF2B5EF4-FFF2-40B4-BE49-F238E27FC236}">
                <a16:creationId xmlns:a16="http://schemas.microsoft.com/office/drawing/2014/main" id="{9E7F56C7-B0F5-7B8D-851A-B7BE425FE4E9}"/>
              </a:ext>
            </a:extLst>
          </p:cNvPr>
          <p:cNvGrpSpPr/>
          <p:nvPr/>
        </p:nvGrpSpPr>
        <p:grpSpPr>
          <a:xfrm>
            <a:off x="1252847" y="4144375"/>
            <a:ext cx="5342154" cy="14059699"/>
            <a:chOff x="6247408" y="1582592"/>
            <a:chExt cx="4240740" cy="11160952"/>
          </a:xfrm>
        </p:grpSpPr>
        <p:sp>
          <p:nvSpPr>
            <p:cNvPr id="4178" name="사각형: 둥근 모서리 4177">
              <a:extLst>
                <a:ext uri="{FF2B5EF4-FFF2-40B4-BE49-F238E27FC236}">
                  <a16:creationId xmlns:a16="http://schemas.microsoft.com/office/drawing/2014/main" id="{1CC03E0C-2447-2065-BE40-8AB59BC8FB15}"/>
                </a:ext>
              </a:extLst>
            </p:cNvPr>
            <p:cNvSpPr/>
            <p:nvPr/>
          </p:nvSpPr>
          <p:spPr>
            <a:xfrm>
              <a:off x="6247408" y="1603014"/>
              <a:ext cx="4240740" cy="11140530"/>
            </a:xfrm>
            <a:prstGeom prst="roundRect">
              <a:avLst>
                <a:gd name="adj" fmla="val 2707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 dirty="0"/>
            </a:p>
          </p:txBody>
        </p:sp>
        <p:sp>
          <p:nvSpPr>
            <p:cNvPr id="4179" name="TextBox 4178">
              <a:extLst>
                <a:ext uri="{FF2B5EF4-FFF2-40B4-BE49-F238E27FC236}">
                  <a16:creationId xmlns:a16="http://schemas.microsoft.com/office/drawing/2014/main" id="{77C06051-0C73-A6D9-AE11-C46AD8E40AF5}"/>
                </a:ext>
              </a:extLst>
            </p:cNvPr>
            <p:cNvSpPr txBox="1"/>
            <p:nvPr/>
          </p:nvSpPr>
          <p:spPr>
            <a:xfrm>
              <a:off x="6627842" y="1780934"/>
              <a:ext cx="2956560" cy="1964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필터 기능을 입력해주세요</a:t>
              </a:r>
            </a:p>
          </p:txBody>
        </p:sp>
        <p:sp>
          <p:nvSpPr>
            <p:cNvPr id="4180" name="TextBox 4179">
              <a:extLst>
                <a:ext uri="{FF2B5EF4-FFF2-40B4-BE49-F238E27FC236}">
                  <a16:creationId xmlns:a16="http://schemas.microsoft.com/office/drawing/2014/main" id="{FA66FCC1-F74F-5847-84B1-F58F96844EBB}"/>
                </a:ext>
              </a:extLst>
            </p:cNvPr>
            <p:cNvSpPr txBox="1"/>
            <p:nvPr/>
          </p:nvSpPr>
          <p:spPr>
            <a:xfrm>
              <a:off x="10111261" y="1582592"/>
              <a:ext cx="226289" cy="288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76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76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cxnSp>
          <p:nvCxnSpPr>
            <p:cNvPr id="4183" name="직선 연결선 4182">
              <a:extLst>
                <a:ext uri="{FF2B5EF4-FFF2-40B4-BE49-F238E27FC236}">
                  <a16:creationId xmlns:a16="http://schemas.microsoft.com/office/drawing/2014/main" id="{7184D08A-E3F8-1BD0-CC9A-5A4049A14A01}"/>
                </a:ext>
              </a:extLst>
            </p:cNvPr>
            <p:cNvCxnSpPr>
              <a:cxnSpLocks/>
            </p:cNvCxnSpPr>
            <p:nvPr/>
          </p:nvCxnSpPr>
          <p:spPr>
            <a:xfrm>
              <a:off x="6474817" y="2035095"/>
              <a:ext cx="388203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86" name="TextBox 4185">
              <a:extLst>
                <a:ext uri="{FF2B5EF4-FFF2-40B4-BE49-F238E27FC236}">
                  <a16:creationId xmlns:a16="http://schemas.microsoft.com/office/drawing/2014/main" id="{02424C3D-95D5-5CCF-709F-DFB0255AB081}"/>
                </a:ext>
              </a:extLst>
            </p:cNvPr>
            <p:cNvSpPr txBox="1"/>
            <p:nvPr/>
          </p:nvSpPr>
          <p:spPr>
            <a:xfrm>
              <a:off x="6358701" y="2097838"/>
              <a:ext cx="2956560" cy="1964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■ 요리 효능</a:t>
              </a:r>
            </a:p>
          </p:txBody>
        </p:sp>
        <p:sp>
          <p:nvSpPr>
            <p:cNvPr id="4215" name="사각형: 둥근 모서리 4214">
              <a:extLst>
                <a:ext uri="{FF2B5EF4-FFF2-40B4-BE49-F238E27FC236}">
                  <a16:creationId xmlns:a16="http://schemas.microsoft.com/office/drawing/2014/main" id="{41A015B7-7281-A860-C10C-15E9F9104B5C}"/>
                </a:ext>
              </a:extLst>
            </p:cNvPr>
            <p:cNvSpPr/>
            <p:nvPr/>
          </p:nvSpPr>
          <p:spPr>
            <a:xfrm>
              <a:off x="6871530" y="11726031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프랑스</a:t>
              </a:r>
            </a:p>
          </p:txBody>
        </p:sp>
        <p:sp>
          <p:nvSpPr>
            <p:cNvPr id="4216" name="사각형: 둥근 모서리 4215">
              <a:extLst>
                <a:ext uri="{FF2B5EF4-FFF2-40B4-BE49-F238E27FC236}">
                  <a16:creationId xmlns:a16="http://schemas.microsoft.com/office/drawing/2014/main" id="{A3977DE5-27DF-6170-36DF-FF5F12762F1D}"/>
                </a:ext>
              </a:extLst>
            </p:cNvPr>
            <p:cNvSpPr/>
            <p:nvPr/>
          </p:nvSpPr>
          <p:spPr>
            <a:xfrm>
              <a:off x="7303384" y="11726031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이탈리안</a:t>
              </a:r>
            </a:p>
          </p:txBody>
        </p:sp>
        <p:sp>
          <p:nvSpPr>
            <p:cNvPr id="4217" name="사각형: 둥근 모서리 4216">
              <a:extLst>
                <a:ext uri="{FF2B5EF4-FFF2-40B4-BE49-F238E27FC236}">
                  <a16:creationId xmlns:a16="http://schemas.microsoft.com/office/drawing/2014/main" id="{A2A5DF4F-1DCF-166C-949A-93C53607D376}"/>
                </a:ext>
              </a:extLst>
            </p:cNvPr>
            <p:cNvSpPr/>
            <p:nvPr/>
          </p:nvSpPr>
          <p:spPr>
            <a:xfrm>
              <a:off x="7735238" y="11726031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스페인</a:t>
              </a:r>
            </a:p>
          </p:txBody>
        </p:sp>
        <p:sp>
          <p:nvSpPr>
            <p:cNvPr id="4219" name="사각형: 둥근 모서리 4218">
              <a:extLst>
                <a:ext uri="{FF2B5EF4-FFF2-40B4-BE49-F238E27FC236}">
                  <a16:creationId xmlns:a16="http://schemas.microsoft.com/office/drawing/2014/main" id="{EDA39D31-716B-EB35-7E9B-20A65FB204D6}"/>
                </a:ext>
              </a:extLst>
            </p:cNvPr>
            <p:cNvSpPr/>
            <p:nvPr/>
          </p:nvSpPr>
          <p:spPr>
            <a:xfrm>
              <a:off x="6439375" y="12403735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키토</a:t>
              </a:r>
            </a:p>
          </p:txBody>
        </p:sp>
        <p:sp>
          <p:nvSpPr>
            <p:cNvPr id="4220" name="사각형: 둥근 모서리 4219">
              <a:extLst>
                <a:ext uri="{FF2B5EF4-FFF2-40B4-BE49-F238E27FC236}">
                  <a16:creationId xmlns:a16="http://schemas.microsoft.com/office/drawing/2014/main" id="{EBED3917-738A-65F6-BA16-5404A3BDB279}"/>
                </a:ext>
              </a:extLst>
            </p:cNvPr>
            <p:cNvSpPr/>
            <p:nvPr/>
          </p:nvSpPr>
          <p:spPr>
            <a:xfrm>
              <a:off x="8598946" y="11726031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지중해</a:t>
              </a:r>
            </a:p>
          </p:txBody>
        </p:sp>
        <p:sp>
          <p:nvSpPr>
            <p:cNvPr id="4223" name="사각형: 둥근 모서리 4222">
              <a:extLst>
                <a:ext uri="{FF2B5EF4-FFF2-40B4-BE49-F238E27FC236}">
                  <a16:creationId xmlns:a16="http://schemas.microsoft.com/office/drawing/2014/main" id="{29A886A7-DF81-45A4-3410-69417CE549E2}"/>
                </a:ext>
              </a:extLst>
            </p:cNvPr>
            <p:cNvSpPr/>
            <p:nvPr/>
          </p:nvSpPr>
          <p:spPr>
            <a:xfrm>
              <a:off x="9030798" y="11726031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프랑스</a:t>
              </a:r>
            </a:p>
          </p:txBody>
        </p:sp>
        <p:sp>
          <p:nvSpPr>
            <p:cNvPr id="4224" name="사각형: 둥근 모서리 4223">
              <a:extLst>
                <a:ext uri="{FF2B5EF4-FFF2-40B4-BE49-F238E27FC236}">
                  <a16:creationId xmlns:a16="http://schemas.microsoft.com/office/drawing/2014/main" id="{19346D29-8F3F-9830-4A88-8C27702CACA0}"/>
                </a:ext>
              </a:extLst>
            </p:cNvPr>
            <p:cNvSpPr/>
            <p:nvPr/>
          </p:nvSpPr>
          <p:spPr>
            <a:xfrm>
              <a:off x="9030798" y="11950370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일본</a:t>
              </a:r>
            </a:p>
          </p:txBody>
        </p:sp>
        <p:sp>
          <p:nvSpPr>
            <p:cNvPr id="4225" name="사각형: 둥근 모서리 4224">
              <a:extLst>
                <a:ext uri="{FF2B5EF4-FFF2-40B4-BE49-F238E27FC236}">
                  <a16:creationId xmlns:a16="http://schemas.microsoft.com/office/drawing/2014/main" id="{692BDC02-5603-B418-80E0-13699E4551CB}"/>
                </a:ext>
              </a:extLst>
            </p:cNvPr>
            <p:cNvSpPr/>
            <p:nvPr/>
          </p:nvSpPr>
          <p:spPr>
            <a:xfrm>
              <a:off x="6439375" y="12176572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전통</a:t>
              </a:r>
            </a:p>
          </p:txBody>
        </p:sp>
        <p:sp>
          <p:nvSpPr>
            <p:cNvPr id="4226" name="사각형: 둥근 모서리 4225">
              <a:extLst>
                <a:ext uri="{FF2B5EF4-FFF2-40B4-BE49-F238E27FC236}">
                  <a16:creationId xmlns:a16="http://schemas.microsoft.com/office/drawing/2014/main" id="{40912FE4-5136-7755-B090-B1E695970656}"/>
                </a:ext>
              </a:extLst>
            </p:cNvPr>
            <p:cNvSpPr/>
            <p:nvPr/>
          </p:nvSpPr>
          <p:spPr>
            <a:xfrm>
              <a:off x="6871530" y="12176572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강원도</a:t>
              </a:r>
            </a:p>
          </p:txBody>
        </p:sp>
        <p:sp>
          <p:nvSpPr>
            <p:cNvPr id="4227" name="사각형: 둥근 모서리 4226">
              <a:extLst>
                <a:ext uri="{FF2B5EF4-FFF2-40B4-BE49-F238E27FC236}">
                  <a16:creationId xmlns:a16="http://schemas.microsoft.com/office/drawing/2014/main" id="{81F75C59-5709-CEF1-9EBE-6F585FE8E99B}"/>
                </a:ext>
              </a:extLst>
            </p:cNvPr>
            <p:cNvSpPr/>
            <p:nvPr/>
          </p:nvSpPr>
          <p:spPr>
            <a:xfrm>
              <a:off x="7303384" y="12176572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경양식</a:t>
              </a:r>
            </a:p>
          </p:txBody>
        </p:sp>
        <p:sp>
          <p:nvSpPr>
            <p:cNvPr id="4228" name="사각형: 둥근 모서리 4227">
              <a:extLst>
                <a:ext uri="{FF2B5EF4-FFF2-40B4-BE49-F238E27FC236}">
                  <a16:creationId xmlns:a16="http://schemas.microsoft.com/office/drawing/2014/main" id="{D6219960-0422-A848-F05F-18075767C19A}"/>
                </a:ext>
              </a:extLst>
            </p:cNvPr>
            <p:cNvSpPr/>
            <p:nvPr/>
          </p:nvSpPr>
          <p:spPr>
            <a:xfrm>
              <a:off x="7735238" y="12176572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궁중</a:t>
              </a:r>
            </a:p>
          </p:txBody>
        </p:sp>
        <p:sp>
          <p:nvSpPr>
            <p:cNvPr id="4229" name="사각형: 둥근 모서리 4228">
              <a:extLst>
                <a:ext uri="{FF2B5EF4-FFF2-40B4-BE49-F238E27FC236}">
                  <a16:creationId xmlns:a16="http://schemas.microsoft.com/office/drawing/2014/main" id="{06504EC1-1C15-E226-B7E6-234A5C82F189}"/>
                </a:ext>
              </a:extLst>
            </p:cNvPr>
            <p:cNvSpPr/>
            <p:nvPr/>
          </p:nvSpPr>
          <p:spPr>
            <a:xfrm>
              <a:off x="6439375" y="11950370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중화</a:t>
              </a:r>
            </a:p>
          </p:txBody>
        </p:sp>
        <p:sp>
          <p:nvSpPr>
            <p:cNvPr id="4230" name="사각형: 둥근 모서리 4229">
              <a:extLst>
                <a:ext uri="{FF2B5EF4-FFF2-40B4-BE49-F238E27FC236}">
                  <a16:creationId xmlns:a16="http://schemas.microsoft.com/office/drawing/2014/main" id="{6D929A6B-E8C9-32E2-8AAE-68EF310EB484}"/>
                </a:ext>
              </a:extLst>
            </p:cNvPr>
            <p:cNvSpPr/>
            <p:nvPr/>
          </p:nvSpPr>
          <p:spPr>
            <a:xfrm>
              <a:off x="6871530" y="11950370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베트남</a:t>
              </a:r>
            </a:p>
          </p:txBody>
        </p:sp>
        <p:sp>
          <p:nvSpPr>
            <p:cNvPr id="4231" name="사각형: 둥근 모서리 4230">
              <a:extLst>
                <a:ext uri="{FF2B5EF4-FFF2-40B4-BE49-F238E27FC236}">
                  <a16:creationId xmlns:a16="http://schemas.microsoft.com/office/drawing/2014/main" id="{62D5388B-5B98-5EA3-43AE-9B072FE90003}"/>
                </a:ext>
              </a:extLst>
            </p:cNvPr>
            <p:cNvSpPr/>
            <p:nvPr/>
          </p:nvSpPr>
          <p:spPr>
            <a:xfrm>
              <a:off x="7303384" y="11950370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그리스</a:t>
              </a:r>
            </a:p>
          </p:txBody>
        </p:sp>
        <p:sp>
          <p:nvSpPr>
            <p:cNvPr id="4232" name="사각형: 둥근 모서리 4231">
              <a:extLst>
                <a:ext uri="{FF2B5EF4-FFF2-40B4-BE49-F238E27FC236}">
                  <a16:creationId xmlns:a16="http://schemas.microsoft.com/office/drawing/2014/main" id="{06E6097B-A74D-9D90-A09A-1EF2034EDBCD}"/>
                </a:ext>
              </a:extLst>
            </p:cNvPr>
            <p:cNvSpPr/>
            <p:nvPr/>
          </p:nvSpPr>
          <p:spPr>
            <a:xfrm>
              <a:off x="8167092" y="12176572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경상도</a:t>
              </a:r>
            </a:p>
          </p:txBody>
        </p:sp>
        <p:sp>
          <p:nvSpPr>
            <p:cNvPr id="4233" name="사각형: 둥근 모서리 4232">
              <a:extLst>
                <a:ext uri="{FF2B5EF4-FFF2-40B4-BE49-F238E27FC236}">
                  <a16:creationId xmlns:a16="http://schemas.microsoft.com/office/drawing/2014/main" id="{02C019E0-5356-8418-1517-CF9634555205}"/>
                </a:ext>
              </a:extLst>
            </p:cNvPr>
            <p:cNvSpPr/>
            <p:nvPr/>
          </p:nvSpPr>
          <p:spPr>
            <a:xfrm>
              <a:off x="7735238" y="11950370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서양</a:t>
              </a:r>
            </a:p>
          </p:txBody>
        </p:sp>
        <p:sp>
          <p:nvSpPr>
            <p:cNvPr id="4234" name="사각형: 둥근 모서리 4233">
              <a:extLst>
                <a:ext uri="{FF2B5EF4-FFF2-40B4-BE49-F238E27FC236}">
                  <a16:creationId xmlns:a16="http://schemas.microsoft.com/office/drawing/2014/main" id="{63C35016-3DAF-6EF9-0C37-C62ACC96FBA6}"/>
                </a:ext>
              </a:extLst>
            </p:cNvPr>
            <p:cNvSpPr/>
            <p:nvPr/>
          </p:nvSpPr>
          <p:spPr>
            <a:xfrm>
              <a:off x="8167092" y="11950370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태국</a:t>
              </a:r>
            </a:p>
          </p:txBody>
        </p:sp>
        <p:sp>
          <p:nvSpPr>
            <p:cNvPr id="4235" name="사각형: 둥근 모서리 4234">
              <a:extLst>
                <a:ext uri="{FF2B5EF4-FFF2-40B4-BE49-F238E27FC236}">
                  <a16:creationId xmlns:a16="http://schemas.microsoft.com/office/drawing/2014/main" id="{0C078809-CEB5-0AB7-464E-1E35A3224956}"/>
                </a:ext>
              </a:extLst>
            </p:cNvPr>
            <p:cNvSpPr/>
            <p:nvPr/>
          </p:nvSpPr>
          <p:spPr>
            <a:xfrm>
              <a:off x="8598946" y="11950370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동남아</a:t>
              </a:r>
            </a:p>
          </p:txBody>
        </p:sp>
        <p:sp>
          <p:nvSpPr>
            <p:cNvPr id="4238" name="사각형: 둥근 모서리 4237">
              <a:extLst>
                <a:ext uri="{FF2B5EF4-FFF2-40B4-BE49-F238E27FC236}">
                  <a16:creationId xmlns:a16="http://schemas.microsoft.com/office/drawing/2014/main" id="{7246EED6-DFCC-8A2C-CFE7-D515FD115EBC}"/>
                </a:ext>
              </a:extLst>
            </p:cNvPr>
            <p:cNvSpPr/>
            <p:nvPr/>
          </p:nvSpPr>
          <p:spPr>
            <a:xfrm>
              <a:off x="8598946" y="12176572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전라도</a:t>
              </a:r>
            </a:p>
          </p:txBody>
        </p:sp>
        <p:sp>
          <p:nvSpPr>
            <p:cNvPr id="4239" name="사각형: 둥근 모서리 4238">
              <a:extLst>
                <a:ext uri="{FF2B5EF4-FFF2-40B4-BE49-F238E27FC236}">
                  <a16:creationId xmlns:a16="http://schemas.microsoft.com/office/drawing/2014/main" id="{FD00FB22-E94A-FA82-7AF0-C9E299D422FF}"/>
                </a:ext>
              </a:extLst>
            </p:cNvPr>
            <p:cNvSpPr/>
            <p:nvPr/>
          </p:nvSpPr>
          <p:spPr>
            <a:xfrm>
              <a:off x="6871530" y="12403735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가니쉬</a:t>
              </a:r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4240" name="사각형: 둥근 모서리 4239">
              <a:extLst>
                <a:ext uri="{FF2B5EF4-FFF2-40B4-BE49-F238E27FC236}">
                  <a16:creationId xmlns:a16="http://schemas.microsoft.com/office/drawing/2014/main" id="{FC501A3A-EF98-88DC-CD8A-671EF588DA7F}"/>
                </a:ext>
              </a:extLst>
            </p:cNvPr>
            <p:cNvSpPr/>
            <p:nvPr/>
          </p:nvSpPr>
          <p:spPr>
            <a:xfrm>
              <a:off x="7303384" y="12415828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오마카세</a:t>
              </a:r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4241" name="사각형: 둥근 모서리 4240">
              <a:extLst>
                <a:ext uri="{FF2B5EF4-FFF2-40B4-BE49-F238E27FC236}">
                  <a16:creationId xmlns:a16="http://schemas.microsoft.com/office/drawing/2014/main" id="{ABAE4432-8045-9C96-B07A-4D8D02894177}"/>
                </a:ext>
              </a:extLst>
            </p:cNvPr>
            <p:cNvSpPr/>
            <p:nvPr/>
          </p:nvSpPr>
          <p:spPr>
            <a:xfrm>
              <a:off x="9030798" y="12176572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황해도</a:t>
              </a:r>
            </a:p>
          </p:txBody>
        </p:sp>
        <p:sp>
          <p:nvSpPr>
            <p:cNvPr id="4242" name="사각형: 둥근 모서리 4241">
              <a:extLst>
                <a:ext uri="{FF2B5EF4-FFF2-40B4-BE49-F238E27FC236}">
                  <a16:creationId xmlns:a16="http://schemas.microsoft.com/office/drawing/2014/main" id="{BC1D5740-C14E-927F-1199-81C85396FDF4}"/>
                </a:ext>
              </a:extLst>
            </p:cNvPr>
            <p:cNvSpPr/>
            <p:nvPr/>
          </p:nvSpPr>
          <p:spPr>
            <a:xfrm>
              <a:off x="8167092" y="11726031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멕시코</a:t>
              </a:r>
            </a:p>
          </p:txBody>
        </p:sp>
        <p:sp>
          <p:nvSpPr>
            <p:cNvPr id="4243" name="사각형: 둥근 모서리 4242">
              <a:extLst>
                <a:ext uri="{FF2B5EF4-FFF2-40B4-BE49-F238E27FC236}">
                  <a16:creationId xmlns:a16="http://schemas.microsoft.com/office/drawing/2014/main" id="{6CEB7147-7782-5926-E978-BADB753FB0D3}"/>
                </a:ext>
              </a:extLst>
            </p:cNvPr>
            <p:cNvSpPr/>
            <p:nvPr/>
          </p:nvSpPr>
          <p:spPr>
            <a:xfrm>
              <a:off x="6439375" y="11726031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이국</a:t>
              </a:r>
            </a:p>
          </p:txBody>
        </p:sp>
        <p:sp>
          <p:nvSpPr>
            <p:cNvPr id="4255" name="TextBox 4254">
              <a:extLst>
                <a:ext uri="{FF2B5EF4-FFF2-40B4-BE49-F238E27FC236}">
                  <a16:creationId xmlns:a16="http://schemas.microsoft.com/office/drawing/2014/main" id="{CA05326E-670A-B6D1-22A3-02994B56644E}"/>
                </a:ext>
              </a:extLst>
            </p:cNvPr>
            <p:cNvSpPr txBox="1"/>
            <p:nvPr/>
          </p:nvSpPr>
          <p:spPr>
            <a:xfrm>
              <a:off x="6348124" y="11457496"/>
              <a:ext cx="2956560" cy="1964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■ 요리 스타일</a:t>
              </a:r>
            </a:p>
          </p:txBody>
        </p:sp>
        <p:grpSp>
          <p:nvGrpSpPr>
            <p:cNvPr id="4349" name="그룹 4348">
              <a:extLst>
                <a:ext uri="{FF2B5EF4-FFF2-40B4-BE49-F238E27FC236}">
                  <a16:creationId xmlns:a16="http://schemas.microsoft.com/office/drawing/2014/main" id="{9BCD82E3-DD9E-5C04-EC2D-F4D05A73411D}"/>
                </a:ext>
              </a:extLst>
            </p:cNvPr>
            <p:cNvGrpSpPr/>
            <p:nvPr/>
          </p:nvGrpSpPr>
          <p:grpSpPr>
            <a:xfrm>
              <a:off x="6444741" y="2323907"/>
              <a:ext cx="3392015" cy="357552"/>
              <a:chOff x="6488523" y="2287239"/>
              <a:chExt cx="3392015" cy="357552"/>
            </a:xfrm>
          </p:grpSpPr>
          <p:sp>
            <p:nvSpPr>
              <p:cNvPr id="4340" name="TextBox 4339">
                <a:extLst>
                  <a:ext uri="{FF2B5EF4-FFF2-40B4-BE49-F238E27FC236}">
                    <a16:creationId xmlns:a16="http://schemas.microsoft.com/office/drawing/2014/main" id="{A6794B37-2F43-C23C-A575-86818FF2AF18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다이어트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/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체중조절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/</a:t>
                </a:r>
                <a:r>
                  <a:rPr lang="ko-KR" altLang="en-US" sz="1008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식이조절</a:t>
                </a:r>
                <a:endParaRPr lang="ko-KR" altLang="en-US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4341" name="사각형: 둥근 모서리 4340">
                <a:extLst>
                  <a:ext uri="{FF2B5EF4-FFF2-40B4-BE49-F238E27FC236}">
                    <a16:creationId xmlns:a16="http://schemas.microsoft.com/office/drawing/2014/main" id="{91EF272B-F253-71DC-ACE3-F65E4F45F1BF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저지방</a:t>
                </a:r>
              </a:p>
            </p:txBody>
          </p:sp>
          <p:sp>
            <p:nvSpPr>
              <p:cNvPr id="4342" name="사각형: 둥근 모서리 4341">
                <a:extLst>
                  <a:ext uri="{FF2B5EF4-FFF2-40B4-BE49-F238E27FC236}">
                    <a16:creationId xmlns:a16="http://schemas.microsoft.com/office/drawing/2014/main" id="{9AEE095A-1A65-DDAA-F8BD-5C5993593AD5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저칼로리</a:t>
                </a:r>
              </a:p>
            </p:txBody>
          </p:sp>
          <p:sp>
            <p:nvSpPr>
              <p:cNvPr id="4343" name="사각형: 둥근 모서리 4342">
                <a:extLst>
                  <a:ext uri="{FF2B5EF4-FFF2-40B4-BE49-F238E27FC236}">
                    <a16:creationId xmlns:a16="http://schemas.microsoft.com/office/drawing/2014/main" id="{A59A5C95-5714-862B-EA1C-D4A228021471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저당</a:t>
                </a:r>
              </a:p>
            </p:txBody>
          </p:sp>
          <p:sp>
            <p:nvSpPr>
              <p:cNvPr id="4344" name="사각형: 둥근 모서리 4343">
                <a:extLst>
                  <a:ext uri="{FF2B5EF4-FFF2-40B4-BE49-F238E27FC236}">
                    <a16:creationId xmlns:a16="http://schemas.microsoft.com/office/drawing/2014/main" id="{422566F2-2E9E-C49C-9A7A-A06B82E05D13}"/>
                  </a:ext>
                </a:extLst>
              </p:cNvPr>
              <p:cNvSpPr/>
              <p:nvPr/>
            </p:nvSpPr>
            <p:spPr>
              <a:xfrm>
                <a:off x="788235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무설탕</a:t>
                </a:r>
              </a:p>
            </p:txBody>
          </p:sp>
          <p:sp>
            <p:nvSpPr>
              <p:cNvPr id="4345" name="사각형: 둥근 모서리 4344">
                <a:extLst>
                  <a:ext uri="{FF2B5EF4-FFF2-40B4-BE49-F238E27FC236}">
                    <a16:creationId xmlns:a16="http://schemas.microsoft.com/office/drawing/2014/main" id="{6A2EE1FE-7AFA-521B-645D-C82A48302B7D}"/>
                  </a:ext>
                </a:extLst>
              </p:cNvPr>
              <p:cNvSpPr/>
              <p:nvPr/>
            </p:nvSpPr>
            <p:spPr>
              <a:xfrm>
                <a:off x="828994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무염</a:t>
                </a:r>
              </a:p>
            </p:txBody>
          </p:sp>
          <p:sp>
            <p:nvSpPr>
              <p:cNvPr id="4346" name="사각형: 둥근 모서리 4345">
                <a:extLst>
                  <a:ext uri="{FF2B5EF4-FFF2-40B4-BE49-F238E27FC236}">
                    <a16:creationId xmlns:a16="http://schemas.microsoft.com/office/drawing/2014/main" id="{1B6D2539-D318-14CB-1BED-F53BF558DD2D}"/>
                  </a:ext>
                </a:extLst>
              </p:cNvPr>
              <p:cNvSpPr/>
              <p:nvPr/>
            </p:nvSpPr>
            <p:spPr>
              <a:xfrm>
                <a:off x="869752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고단백</a:t>
                </a:r>
              </a:p>
            </p:txBody>
          </p:sp>
          <p:sp>
            <p:nvSpPr>
              <p:cNvPr id="4347" name="사각형: 둥근 모서리 4346">
                <a:extLst>
                  <a:ext uri="{FF2B5EF4-FFF2-40B4-BE49-F238E27FC236}">
                    <a16:creationId xmlns:a16="http://schemas.microsoft.com/office/drawing/2014/main" id="{E1D423E0-60EB-39BF-7E55-83B7D07C5454}"/>
                  </a:ext>
                </a:extLst>
              </p:cNvPr>
              <p:cNvSpPr/>
              <p:nvPr/>
            </p:nvSpPr>
            <p:spPr>
              <a:xfrm>
                <a:off x="910511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다이어트</a:t>
                </a:r>
              </a:p>
            </p:txBody>
          </p:sp>
          <p:sp>
            <p:nvSpPr>
              <p:cNvPr id="4348" name="사각형: 둥근 모서리 4347">
                <a:extLst>
                  <a:ext uri="{FF2B5EF4-FFF2-40B4-BE49-F238E27FC236}">
                    <a16:creationId xmlns:a16="http://schemas.microsoft.com/office/drawing/2014/main" id="{0E488316-8C47-2412-E7A0-ACDAA15CEB88}"/>
                  </a:ext>
                </a:extLst>
              </p:cNvPr>
              <p:cNvSpPr/>
              <p:nvPr/>
            </p:nvSpPr>
            <p:spPr>
              <a:xfrm>
                <a:off x="9512698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포만감</a:t>
                </a:r>
              </a:p>
            </p:txBody>
          </p:sp>
        </p:grpSp>
        <p:grpSp>
          <p:nvGrpSpPr>
            <p:cNvPr id="4360" name="그룹 4359">
              <a:extLst>
                <a:ext uri="{FF2B5EF4-FFF2-40B4-BE49-F238E27FC236}">
                  <a16:creationId xmlns:a16="http://schemas.microsoft.com/office/drawing/2014/main" id="{652B4975-9AE5-A69E-BDFC-45757D5D06CF}"/>
                </a:ext>
              </a:extLst>
            </p:cNvPr>
            <p:cNvGrpSpPr/>
            <p:nvPr/>
          </p:nvGrpSpPr>
          <p:grpSpPr>
            <a:xfrm>
              <a:off x="6444741" y="2991186"/>
              <a:ext cx="2956560" cy="357552"/>
              <a:chOff x="6488523" y="2287239"/>
              <a:chExt cx="2956560" cy="357552"/>
            </a:xfrm>
          </p:grpSpPr>
          <p:sp>
            <p:nvSpPr>
              <p:cNvPr id="4361" name="TextBox 4360">
                <a:extLst>
                  <a:ext uri="{FF2B5EF4-FFF2-40B4-BE49-F238E27FC236}">
                    <a16:creationId xmlns:a16="http://schemas.microsoft.com/office/drawing/2014/main" id="{764B5D2E-9BDB-FB88-5E60-9C6F20323D2C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소화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배변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영양 흡수</a:t>
                </a:r>
              </a:p>
            </p:txBody>
          </p:sp>
          <p:sp>
            <p:nvSpPr>
              <p:cNvPr id="4362" name="사각형: 둥근 모서리 4361">
                <a:extLst>
                  <a:ext uri="{FF2B5EF4-FFF2-40B4-BE49-F238E27FC236}">
                    <a16:creationId xmlns:a16="http://schemas.microsoft.com/office/drawing/2014/main" id="{3E788029-C246-FA83-331B-BF4BBABDA582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소화</a:t>
                </a:r>
              </a:p>
            </p:txBody>
          </p:sp>
          <p:sp>
            <p:nvSpPr>
              <p:cNvPr id="4363" name="사각형: 둥근 모서리 4362">
                <a:extLst>
                  <a:ext uri="{FF2B5EF4-FFF2-40B4-BE49-F238E27FC236}">
                    <a16:creationId xmlns:a16="http://schemas.microsoft.com/office/drawing/2014/main" id="{1D9845B9-B767-18CF-AF32-274CB88A3CC5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변비</a:t>
                </a:r>
              </a:p>
            </p:txBody>
          </p:sp>
          <p:sp>
            <p:nvSpPr>
              <p:cNvPr id="4364" name="사각형: 둥근 모서리 4363">
                <a:extLst>
                  <a:ext uri="{FF2B5EF4-FFF2-40B4-BE49-F238E27FC236}">
                    <a16:creationId xmlns:a16="http://schemas.microsoft.com/office/drawing/2014/main" id="{CFA84302-2F1B-1040-F5C4-C7A884DEF3CC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식이섬유</a:t>
                </a:r>
                <a:endPara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</p:grpSp>
        <p:grpSp>
          <p:nvGrpSpPr>
            <p:cNvPr id="4370" name="그룹 4369">
              <a:extLst>
                <a:ext uri="{FF2B5EF4-FFF2-40B4-BE49-F238E27FC236}">
                  <a16:creationId xmlns:a16="http://schemas.microsoft.com/office/drawing/2014/main" id="{8E0F3C25-F116-37D8-39CE-7E8A64592E41}"/>
                </a:ext>
              </a:extLst>
            </p:cNvPr>
            <p:cNvGrpSpPr/>
            <p:nvPr/>
          </p:nvGrpSpPr>
          <p:grpSpPr>
            <a:xfrm>
              <a:off x="6444741" y="3467490"/>
              <a:ext cx="2956560" cy="357552"/>
              <a:chOff x="6488523" y="2287239"/>
              <a:chExt cx="2956560" cy="357552"/>
            </a:xfrm>
          </p:grpSpPr>
          <p:sp>
            <p:nvSpPr>
              <p:cNvPr id="4371" name="TextBox 4370">
                <a:extLst>
                  <a:ext uri="{FF2B5EF4-FFF2-40B4-BE49-F238E27FC236}">
                    <a16:creationId xmlns:a16="http://schemas.microsoft.com/office/drawing/2014/main" id="{54B549B2-9275-2F08-683C-64A1A1015A57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노화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피부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세포 관련</a:t>
                </a:r>
              </a:p>
            </p:txBody>
          </p:sp>
          <p:sp>
            <p:nvSpPr>
              <p:cNvPr id="4372" name="사각형: 둥근 모서리 4371">
                <a:extLst>
                  <a:ext uri="{FF2B5EF4-FFF2-40B4-BE49-F238E27FC236}">
                    <a16:creationId xmlns:a16="http://schemas.microsoft.com/office/drawing/2014/main" id="{0BC66A30-2BBB-E42A-EEFF-158EA1A7137C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노화</a:t>
                </a:r>
              </a:p>
            </p:txBody>
          </p:sp>
          <p:sp>
            <p:nvSpPr>
              <p:cNvPr id="4373" name="사각형: 둥근 모서리 4372">
                <a:extLst>
                  <a:ext uri="{FF2B5EF4-FFF2-40B4-BE49-F238E27FC236}">
                    <a16:creationId xmlns:a16="http://schemas.microsoft.com/office/drawing/2014/main" id="{DDB157E2-BA4C-4142-1513-5FB60645D0BA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저속노화</a:t>
                </a:r>
              </a:p>
            </p:txBody>
          </p:sp>
          <p:sp>
            <p:nvSpPr>
              <p:cNvPr id="4374" name="사각형: 둥근 모서리 4373">
                <a:extLst>
                  <a:ext uri="{FF2B5EF4-FFF2-40B4-BE49-F238E27FC236}">
                    <a16:creationId xmlns:a16="http://schemas.microsoft.com/office/drawing/2014/main" id="{FE8F1025-FA36-4DE7-AD00-560C3885DE3B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주름개선</a:t>
                </a:r>
              </a:p>
            </p:txBody>
          </p:sp>
          <p:sp>
            <p:nvSpPr>
              <p:cNvPr id="4375" name="사각형: 둥근 모서리 4374">
                <a:extLst>
                  <a:ext uri="{FF2B5EF4-FFF2-40B4-BE49-F238E27FC236}">
                    <a16:creationId xmlns:a16="http://schemas.microsoft.com/office/drawing/2014/main" id="{42314ACF-9FDD-340C-F365-6687CFDC3D58}"/>
                  </a:ext>
                </a:extLst>
              </p:cNvPr>
              <p:cNvSpPr/>
              <p:nvPr/>
            </p:nvSpPr>
            <p:spPr>
              <a:xfrm>
                <a:off x="788235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항산화</a:t>
                </a:r>
              </a:p>
            </p:txBody>
          </p:sp>
          <p:sp>
            <p:nvSpPr>
              <p:cNvPr id="4376" name="사각형: 둥근 모서리 4375">
                <a:extLst>
                  <a:ext uri="{FF2B5EF4-FFF2-40B4-BE49-F238E27FC236}">
                    <a16:creationId xmlns:a16="http://schemas.microsoft.com/office/drawing/2014/main" id="{CF0628F0-1845-97A0-03D1-63C869AB82C7}"/>
                  </a:ext>
                </a:extLst>
              </p:cNvPr>
              <p:cNvSpPr/>
              <p:nvPr/>
            </p:nvSpPr>
            <p:spPr>
              <a:xfrm>
                <a:off x="828994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세포벽</a:t>
                </a:r>
              </a:p>
            </p:txBody>
          </p:sp>
        </p:grpSp>
        <p:grpSp>
          <p:nvGrpSpPr>
            <p:cNvPr id="4380" name="그룹 4379">
              <a:extLst>
                <a:ext uri="{FF2B5EF4-FFF2-40B4-BE49-F238E27FC236}">
                  <a16:creationId xmlns:a16="http://schemas.microsoft.com/office/drawing/2014/main" id="{FB64BA7C-BA89-5009-4B27-6B43440F9CB5}"/>
                </a:ext>
              </a:extLst>
            </p:cNvPr>
            <p:cNvGrpSpPr/>
            <p:nvPr/>
          </p:nvGrpSpPr>
          <p:grpSpPr>
            <a:xfrm>
              <a:off x="6444741" y="3943794"/>
              <a:ext cx="2956560" cy="357552"/>
              <a:chOff x="6488523" y="2287239"/>
              <a:chExt cx="2956560" cy="357552"/>
            </a:xfrm>
          </p:grpSpPr>
          <p:sp>
            <p:nvSpPr>
              <p:cNvPr id="4381" name="TextBox 4380">
                <a:extLst>
                  <a:ext uri="{FF2B5EF4-FFF2-40B4-BE49-F238E27FC236}">
                    <a16:creationId xmlns:a16="http://schemas.microsoft.com/office/drawing/2014/main" id="{9C094D7E-C22A-2CDB-58EA-4848B8BC2509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면역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활력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에너지 회복</a:t>
                </a:r>
              </a:p>
            </p:txBody>
          </p:sp>
          <p:sp>
            <p:nvSpPr>
              <p:cNvPr id="4382" name="사각형: 둥근 모서리 4381">
                <a:extLst>
                  <a:ext uri="{FF2B5EF4-FFF2-40B4-BE49-F238E27FC236}">
                    <a16:creationId xmlns:a16="http://schemas.microsoft.com/office/drawing/2014/main" id="{087EBC0B-C983-51E3-4426-753373679908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면역력</a:t>
                </a:r>
              </a:p>
            </p:txBody>
          </p:sp>
          <p:sp>
            <p:nvSpPr>
              <p:cNvPr id="4383" name="사각형: 둥근 모서리 4382">
                <a:extLst>
                  <a:ext uri="{FF2B5EF4-FFF2-40B4-BE49-F238E27FC236}">
                    <a16:creationId xmlns:a16="http://schemas.microsoft.com/office/drawing/2014/main" id="{468FEBD3-334F-4E7C-9C6C-A4E74C12F04E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에너지</a:t>
                </a:r>
              </a:p>
            </p:txBody>
          </p:sp>
          <p:sp>
            <p:nvSpPr>
              <p:cNvPr id="4384" name="사각형: 둥근 모서리 4383">
                <a:extLst>
                  <a:ext uri="{FF2B5EF4-FFF2-40B4-BE49-F238E27FC236}">
                    <a16:creationId xmlns:a16="http://schemas.microsoft.com/office/drawing/2014/main" id="{390C0673-A1B8-3B18-DA52-FDFFBDED795A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신진대사</a:t>
                </a:r>
              </a:p>
            </p:txBody>
          </p:sp>
          <p:sp>
            <p:nvSpPr>
              <p:cNvPr id="4385" name="사각형: 둥근 모서리 4384">
                <a:extLst>
                  <a:ext uri="{FF2B5EF4-FFF2-40B4-BE49-F238E27FC236}">
                    <a16:creationId xmlns:a16="http://schemas.microsoft.com/office/drawing/2014/main" id="{03D69C4E-B141-E1B2-05A2-D656AAFE956F}"/>
                  </a:ext>
                </a:extLst>
              </p:cNvPr>
              <p:cNvSpPr/>
              <p:nvPr/>
            </p:nvSpPr>
            <p:spPr>
              <a:xfrm>
                <a:off x="788235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컨디션</a:t>
                </a:r>
              </a:p>
            </p:txBody>
          </p:sp>
          <p:sp>
            <p:nvSpPr>
              <p:cNvPr id="4386" name="사각형: 둥근 모서리 4385">
                <a:extLst>
                  <a:ext uri="{FF2B5EF4-FFF2-40B4-BE49-F238E27FC236}">
                    <a16:creationId xmlns:a16="http://schemas.microsoft.com/office/drawing/2014/main" id="{57676D32-A6AC-40C8-6788-BE586E0CFAF2}"/>
                  </a:ext>
                </a:extLst>
              </p:cNvPr>
              <p:cNvSpPr/>
              <p:nvPr/>
            </p:nvSpPr>
            <p:spPr>
              <a:xfrm>
                <a:off x="828994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피로</a:t>
                </a:r>
              </a:p>
            </p:txBody>
          </p:sp>
        </p:grpSp>
        <p:grpSp>
          <p:nvGrpSpPr>
            <p:cNvPr id="4390" name="그룹 4389">
              <a:extLst>
                <a:ext uri="{FF2B5EF4-FFF2-40B4-BE49-F238E27FC236}">
                  <a16:creationId xmlns:a16="http://schemas.microsoft.com/office/drawing/2014/main" id="{DD119B32-CD05-97DF-D222-4693AA36C552}"/>
                </a:ext>
              </a:extLst>
            </p:cNvPr>
            <p:cNvGrpSpPr/>
            <p:nvPr/>
          </p:nvGrpSpPr>
          <p:grpSpPr>
            <a:xfrm>
              <a:off x="6444741" y="4420098"/>
              <a:ext cx="2956560" cy="357552"/>
              <a:chOff x="6488523" y="2287239"/>
              <a:chExt cx="2956560" cy="357552"/>
            </a:xfrm>
          </p:grpSpPr>
          <p:sp>
            <p:nvSpPr>
              <p:cNvPr id="4391" name="TextBox 4390">
                <a:extLst>
                  <a:ext uri="{FF2B5EF4-FFF2-40B4-BE49-F238E27FC236}">
                    <a16:creationId xmlns:a16="http://schemas.microsoft.com/office/drawing/2014/main" id="{E030D990-1C6D-102F-5F31-F09CEFC082BD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해독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순환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디톡스</a:t>
                </a:r>
                <a:endParaRPr lang="ko-KR" altLang="en-US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4392" name="사각형: 둥근 모서리 4391">
                <a:extLst>
                  <a:ext uri="{FF2B5EF4-FFF2-40B4-BE49-F238E27FC236}">
                    <a16:creationId xmlns:a16="http://schemas.microsoft.com/office/drawing/2014/main" id="{91CC0EA4-EDC9-A1DC-4E3A-95796E5916F3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디톡스</a:t>
                </a:r>
                <a:endPara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4393" name="사각형: 둥근 모서리 4392">
                <a:extLst>
                  <a:ext uri="{FF2B5EF4-FFF2-40B4-BE49-F238E27FC236}">
                    <a16:creationId xmlns:a16="http://schemas.microsoft.com/office/drawing/2014/main" id="{14255B09-2DAE-304E-3421-029367E7449D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숙취해소</a:t>
                </a:r>
              </a:p>
            </p:txBody>
          </p:sp>
          <p:sp>
            <p:nvSpPr>
              <p:cNvPr id="4394" name="사각형: 둥근 모서리 4393">
                <a:extLst>
                  <a:ext uri="{FF2B5EF4-FFF2-40B4-BE49-F238E27FC236}">
                    <a16:creationId xmlns:a16="http://schemas.microsoft.com/office/drawing/2014/main" id="{6D042547-8FAC-7A0A-87D0-818D2FD76604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혈액순환</a:t>
                </a:r>
              </a:p>
            </p:txBody>
          </p:sp>
          <p:sp>
            <p:nvSpPr>
              <p:cNvPr id="4395" name="사각형: 둥근 모서리 4394">
                <a:extLst>
                  <a:ext uri="{FF2B5EF4-FFF2-40B4-BE49-F238E27FC236}">
                    <a16:creationId xmlns:a16="http://schemas.microsoft.com/office/drawing/2014/main" id="{CA5F962F-7259-83BE-33F6-0BE77955831D}"/>
                  </a:ext>
                </a:extLst>
              </p:cNvPr>
              <p:cNvSpPr/>
              <p:nvPr/>
            </p:nvSpPr>
            <p:spPr>
              <a:xfrm>
                <a:off x="788235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독소</a:t>
                </a:r>
              </a:p>
            </p:txBody>
          </p:sp>
        </p:grpSp>
        <p:grpSp>
          <p:nvGrpSpPr>
            <p:cNvPr id="4400" name="그룹 4399">
              <a:extLst>
                <a:ext uri="{FF2B5EF4-FFF2-40B4-BE49-F238E27FC236}">
                  <a16:creationId xmlns:a16="http://schemas.microsoft.com/office/drawing/2014/main" id="{01921F38-B632-2ACB-C1CB-6EFAF49E8C3B}"/>
                </a:ext>
              </a:extLst>
            </p:cNvPr>
            <p:cNvGrpSpPr/>
            <p:nvPr/>
          </p:nvGrpSpPr>
          <p:grpSpPr>
            <a:xfrm>
              <a:off x="6444741" y="4896402"/>
              <a:ext cx="2956560" cy="357552"/>
              <a:chOff x="6488523" y="2287239"/>
              <a:chExt cx="2956560" cy="357552"/>
            </a:xfrm>
          </p:grpSpPr>
          <p:sp>
            <p:nvSpPr>
              <p:cNvPr id="4401" name="TextBox 4400">
                <a:extLst>
                  <a:ext uri="{FF2B5EF4-FFF2-40B4-BE49-F238E27FC236}">
                    <a16:creationId xmlns:a16="http://schemas.microsoft.com/office/drawing/2014/main" id="{FFDA589D-B14F-E797-3239-AC73D842771F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31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질환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염증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호흡기</a:t>
                </a:r>
              </a:p>
              <a:p>
                <a:endParaRPr lang="ko-KR" altLang="en-US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4402" name="사각형: 둥근 모서리 4401">
                <a:extLst>
                  <a:ext uri="{FF2B5EF4-FFF2-40B4-BE49-F238E27FC236}">
                    <a16:creationId xmlns:a16="http://schemas.microsoft.com/office/drawing/2014/main" id="{42431D22-2980-AE9E-70B1-4CB116CA2744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염증완화</a:t>
                </a:r>
              </a:p>
            </p:txBody>
          </p:sp>
          <p:sp>
            <p:nvSpPr>
              <p:cNvPr id="4403" name="사각형: 둥근 모서리 4402">
                <a:extLst>
                  <a:ext uri="{FF2B5EF4-FFF2-40B4-BE49-F238E27FC236}">
                    <a16:creationId xmlns:a16="http://schemas.microsoft.com/office/drawing/2014/main" id="{9D2FB140-DC19-B3C6-C2F3-D93AEE5FB601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질환</a:t>
                </a:r>
              </a:p>
            </p:txBody>
          </p:sp>
          <p:sp>
            <p:nvSpPr>
              <p:cNvPr id="4404" name="사각형: 둥근 모서리 4403">
                <a:extLst>
                  <a:ext uri="{FF2B5EF4-FFF2-40B4-BE49-F238E27FC236}">
                    <a16:creationId xmlns:a16="http://schemas.microsoft.com/office/drawing/2014/main" id="{DCBC2D94-F3AD-80BE-B830-193861419FB1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기관지</a:t>
                </a:r>
              </a:p>
            </p:txBody>
          </p:sp>
          <p:sp>
            <p:nvSpPr>
              <p:cNvPr id="4405" name="사각형: 둥근 모서리 4404">
                <a:extLst>
                  <a:ext uri="{FF2B5EF4-FFF2-40B4-BE49-F238E27FC236}">
                    <a16:creationId xmlns:a16="http://schemas.microsoft.com/office/drawing/2014/main" id="{050F6386-DCC5-8DB5-4493-7D861E842849}"/>
                  </a:ext>
                </a:extLst>
              </p:cNvPr>
              <p:cNvSpPr/>
              <p:nvPr/>
            </p:nvSpPr>
            <p:spPr>
              <a:xfrm>
                <a:off x="788235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호흡기</a:t>
                </a:r>
              </a:p>
            </p:txBody>
          </p:sp>
          <p:sp>
            <p:nvSpPr>
              <p:cNvPr id="4406" name="사각형: 둥근 모서리 4405">
                <a:extLst>
                  <a:ext uri="{FF2B5EF4-FFF2-40B4-BE49-F238E27FC236}">
                    <a16:creationId xmlns:a16="http://schemas.microsoft.com/office/drawing/2014/main" id="{48BAF125-D30E-58AD-1178-D6348B043781}"/>
                  </a:ext>
                </a:extLst>
              </p:cNvPr>
              <p:cNvSpPr/>
              <p:nvPr/>
            </p:nvSpPr>
            <p:spPr>
              <a:xfrm>
                <a:off x="828994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세균</a:t>
                </a:r>
              </a:p>
            </p:txBody>
          </p:sp>
        </p:grpSp>
        <p:grpSp>
          <p:nvGrpSpPr>
            <p:cNvPr id="4410" name="그룹 4409">
              <a:extLst>
                <a:ext uri="{FF2B5EF4-FFF2-40B4-BE49-F238E27FC236}">
                  <a16:creationId xmlns:a16="http://schemas.microsoft.com/office/drawing/2014/main" id="{859662C2-D3A4-C883-2031-BCA4D4C3BB11}"/>
                </a:ext>
              </a:extLst>
            </p:cNvPr>
            <p:cNvGrpSpPr/>
            <p:nvPr/>
          </p:nvGrpSpPr>
          <p:grpSpPr>
            <a:xfrm>
              <a:off x="6444741" y="5372706"/>
              <a:ext cx="2956560" cy="357552"/>
              <a:chOff x="6488523" y="2287239"/>
              <a:chExt cx="2956560" cy="357552"/>
            </a:xfrm>
          </p:grpSpPr>
          <p:sp>
            <p:nvSpPr>
              <p:cNvPr id="4411" name="TextBox 4410">
                <a:extLst>
                  <a:ext uri="{FF2B5EF4-FFF2-40B4-BE49-F238E27FC236}">
                    <a16:creationId xmlns:a16="http://schemas.microsoft.com/office/drawing/2014/main" id="{9B63FF9B-21B2-1627-C851-E2B71EE3C53D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성분 특징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/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영양제어</a:t>
                </a:r>
              </a:p>
            </p:txBody>
          </p:sp>
          <p:sp>
            <p:nvSpPr>
              <p:cNvPr id="4412" name="사각형: 둥근 모서리 4411">
                <a:extLst>
                  <a:ext uri="{FF2B5EF4-FFF2-40B4-BE49-F238E27FC236}">
                    <a16:creationId xmlns:a16="http://schemas.microsoft.com/office/drawing/2014/main" id="{885359A6-0DB9-29E3-E3E6-9D10FCA54720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단백질</a:t>
                </a:r>
              </a:p>
            </p:txBody>
          </p:sp>
          <p:sp>
            <p:nvSpPr>
              <p:cNvPr id="4413" name="사각형: 둥근 모서리 4412">
                <a:extLst>
                  <a:ext uri="{FF2B5EF4-FFF2-40B4-BE49-F238E27FC236}">
                    <a16:creationId xmlns:a16="http://schemas.microsoft.com/office/drawing/2014/main" id="{7CFBAA56-F1A1-3DEB-6273-62A078A83446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글루텐</a:t>
                </a:r>
              </a:p>
            </p:txBody>
          </p:sp>
          <p:sp>
            <p:nvSpPr>
              <p:cNvPr id="4414" name="사각형: 둥근 모서리 4413">
                <a:extLst>
                  <a:ext uri="{FF2B5EF4-FFF2-40B4-BE49-F238E27FC236}">
                    <a16:creationId xmlns:a16="http://schemas.microsoft.com/office/drawing/2014/main" id="{13B3F101-EDDD-1E0D-1525-B1BF75104424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무염</a:t>
                </a:r>
              </a:p>
            </p:txBody>
          </p:sp>
          <p:sp>
            <p:nvSpPr>
              <p:cNvPr id="4415" name="사각형: 둥근 모서리 4414">
                <a:extLst>
                  <a:ext uri="{FF2B5EF4-FFF2-40B4-BE49-F238E27FC236}">
                    <a16:creationId xmlns:a16="http://schemas.microsoft.com/office/drawing/2014/main" id="{C00AD177-369C-1EF5-58C5-11BFEFFE8C28}"/>
                  </a:ext>
                </a:extLst>
              </p:cNvPr>
              <p:cNvSpPr/>
              <p:nvPr/>
            </p:nvSpPr>
            <p:spPr>
              <a:xfrm>
                <a:off x="788235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무설탕</a:t>
                </a:r>
              </a:p>
            </p:txBody>
          </p:sp>
          <p:sp>
            <p:nvSpPr>
              <p:cNvPr id="4416" name="사각형: 둥근 모서리 4415">
                <a:extLst>
                  <a:ext uri="{FF2B5EF4-FFF2-40B4-BE49-F238E27FC236}">
                    <a16:creationId xmlns:a16="http://schemas.microsoft.com/office/drawing/2014/main" id="{1DC973B9-D1AA-68F8-2441-5E81E375106B}"/>
                  </a:ext>
                </a:extLst>
              </p:cNvPr>
              <p:cNvSpPr/>
              <p:nvPr/>
            </p:nvSpPr>
            <p:spPr>
              <a:xfrm>
                <a:off x="8289944" y="2469214"/>
                <a:ext cx="502048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비정제원당</a:t>
                </a:r>
              </a:p>
            </p:txBody>
          </p:sp>
        </p:grpSp>
        <p:grpSp>
          <p:nvGrpSpPr>
            <p:cNvPr id="4420" name="그룹 4419">
              <a:extLst>
                <a:ext uri="{FF2B5EF4-FFF2-40B4-BE49-F238E27FC236}">
                  <a16:creationId xmlns:a16="http://schemas.microsoft.com/office/drawing/2014/main" id="{6ECEFEB2-F6DB-C2D2-A092-D779C5B0AD7B}"/>
                </a:ext>
              </a:extLst>
            </p:cNvPr>
            <p:cNvGrpSpPr/>
            <p:nvPr/>
          </p:nvGrpSpPr>
          <p:grpSpPr>
            <a:xfrm>
              <a:off x="6444741" y="5849010"/>
              <a:ext cx="2956560" cy="357552"/>
              <a:chOff x="6488523" y="2287239"/>
              <a:chExt cx="2956560" cy="357552"/>
            </a:xfrm>
          </p:grpSpPr>
          <p:sp>
            <p:nvSpPr>
              <p:cNvPr id="4421" name="TextBox 4420">
                <a:extLst>
                  <a:ext uri="{FF2B5EF4-FFF2-40B4-BE49-F238E27FC236}">
                    <a16:creationId xmlns:a16="http://schemas.microsoft.com/office/drawing/2014/main" id="{34CDE0AF-A9D8-F4E5-9D9C-E54190A61F1A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31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건강식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한방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보양식</a:t>
                </a:r>
              </a:p>
              <a:p>
                <a:endParaRPr lang="ko-KR" altLang="en-US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4422" name="사각형: 둥근 모서리 4421">
                <a:extLst>
                  <a:ext uri="{FF2B5EF4-FFF2-40B4-BE49-F238E27FC236}">
                    <a16:creationId xmlns:a16="http://schemas.microsoft.com/office/drawing/2014/main" id="{1E79580A-8351-1049-6CD0-1572528FB90B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건강</a:t>
                </a:r>
              </a:p>
            </p:txBody>
          </p:sp>
          <p:sp>
            <p:nvSpPr>
              <p:cNvPr id="4423" name="사각형: 둥근 모서리 4422">
                <a:extLst>
                  <a:ext uri="{FF2B5EF4-FFF2-40B4-BE49-F238E27FC236}">
                    <a16:creationId xmlns:a16="http://schemas.microsoft.com/office/drawing/2014/main" id="{D2AC6F23-920A-A0ED-1C4D-796375C66497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보양</a:t>
                </a:r>
              </a:p>
            </p:txBody>
          </p:sp>
          <p:sp>
            <p:nvSpPr>
              <p:cNvPr id="4424" name="사각형: 둥근 모서리 4423">
                <a:extLst>
                  <a:ext uri="{FF2B5EF4-FFF2-40B4-BE49-F238E27FC236}">
                    <a16:creationId xmlns:a16="http://schemas.microsoft.com/office/drawing/2014/main" id="{94F43CBF-97DE-E84D-3918-AACA2D22F78D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보양음식</a:t>
                </a:r>
              </a:p>
            </p:txBody>
          </p:sp>
          <p:sp>
            <p:nvSpPr>
              <p:cNvPr id="4425" name="사각형: 둥근 모서리 4424">
                <a:extLst>
                  <a:ext uri="{FF2B5EF4-FFF2-40B4-BE49-F238E27FC236}">
                    <a16:creationId xmlns:a16="http://schemas.microsoft.com/office/drawing/2014/main" id="{C72C2A36-796F-98E5-21D9-EEF5000F3CE5}"/>
                  </a:ext>
                </a:extLst>
              </p:cNvPr>
              <p:cNvSpPr/>
              <p:nvPr/>
            </p:nvSpPr>
            <p:spPr>
              <a:xfrm>
                <a:off x="788235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약재</a:t>
                </a:r>
              </a:p>
            </p:txBody>
          </p:sp>
          <p:sp>
            <p:nvSpPr>
              <p:cNvPr id="4426" name="사각형: 둥근 모서리 4425">
                <a:extLst>
                  <a:ext uri="{FF2B5EF4-FFF2-40B4-BE49-F238E27FC236}">
                    <a16:creationId xmlns:a16="http://schemas.microsoft.com/office/drawing/2014/main" id="{1750FB2D-AC12-D9EA-1272-723E3CEDD920}"/>
                  </a:ext>
                </a:extLst>
              </p:cNvPr>
              <p:cNvSpPr/>
              <p:nvPr/>
            </p:nvSpPr>
            <p:spPr>
              <a:xfrm>
                <a:off x="828994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한방</a:t>
                </a:r>
              </a:p>
            </p:txBody>
          </p:sp>
        </p:grpSp>
        <p:grpSp>
          <p:nvGrpSpPr>
            <p:cNvPr id="4430" name="그룹 4429">
              <a:extLst>
                <a:ext uri="{FF2B5EF4-FFF2-40B4-BE49-F238E27FC236}">
                  <a16:creationId xmlns:a16="http://schemas.microsoft.com/office/drawing/2014/main" id="{67F18455-D7FC-D8E6-46B3-1C212AF7DB0D}"/>
                </a:ext>
              </a:extLst>
            </p:cNvPr>
            <p:cNvGrpSpPr/>
            <p:nvPr/>
          </p:nvGrpSpPr>
          <p:grpSpPr>
            <a:xfrm>
              <a:off x="6444741" y="6325314"/>
              <a:ext cx="2956560" cy="357552"/>
              <a:chOff x="6488523" y="2287239"/>
              <a:chExt cx="2956560" cy="357552"/>
            </a:xfrm>
          </p:grpSpPr>
          <p:sp>
            <p:nvSpPr>
              <p:cNvPr id="4431" name="TextBox 4430">
                <a:extLst>
                  <a:ext uri="{FF2B5EF4-FFF2-40B4-BE49-F238E27FC236}">
                    <a16:creationId xmlns:a16="http://schemas.microsoft.com/office/drawing/2014/main" id="{22D8B699-D95B-C73D-4327-9F47C49684CF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식이제한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/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특수식단</a:t>
                </a:r>
              </a:p>
            </p:txBody>
          </p:sp>
          <p:sp>
            <p:nvSpPr>
              <p:cNvPr id="4432" name="사각형: 둥근 모서리 4431">
                <a:extLst>
                  <a:ext uri="{FF2B5EF4-FFF2-40B4-BE49-F238E27FC236}">
                    <a16:creationId xmlns:a16="http://schemas.microsoft.com/office/drawing/2014/main" id="{AC606267-DFAC-E403-199F-29BD550A0F55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채식</a:t>
                </a:r>
              </a:p>
            </p:txBody>
          </p:sp>
          <p:sp>
            <p:nvSpPr>
              <p:cNvPr id="4433" name="사각형: 둥근 모서리 4432">
                <a:extLst>
                  <a:ext uri="{FF2B5EF4-FFF2-40B4-BE49-F238E27FC236}">
                    <a16:creationId xmlns:a16="http://schemas.microsoft.com/office/drawing/2014/main" id="{8F826DEB-2784-2A2E-B7D4-361815FF2260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당뇨</a:t>
                </a:r>
              </a:p>
            </p:txBody>
          </p:sp>
          <p:sp>
            <p:nvSpPr>
              <p:cNvPr id="4434" name="사각형: 둥근 모서리 4433">
                <a:extLst>
                  <a:ext uri="{FF2B5EF4-FFF2-40B4-BE49-F238E27FC236}">
                    <a16:creationId xmlns:a16="http://schemas.microsoft.com/office/drawing/2014/main" id="{5131E3BB-911A-11B8-F025-F16E51F46D5D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글루텐</a:t>
                </a:r>
              </a:p>
            </p:txBody>
          </p:sp>
        </p:grpSp>
        <p:grpSp>
          <p:nvGrpSpPr>
            <p:cNvPr id="4440" name="그룹 4439">
              <a:extLst>
                <a:ext uri="{FF2B5EF4-FFF2-40B4-BE49-F238E27FC236}">
                  <a16:creationId xmlns:a16="http://schemas.microsoft.com/office/drawing/2014/main" id="{0A118F93-E3FD-0A9D-6898-AC8537034A35}"/>
                </a:ext>
              </a:extLst>
            </p:cNvPr>
            <p:cNvGrpSpPr/>
            <p:nvPr/>
          </p:nvGrpSpPr>
          <p:grpSpPr>
            <a:xfrm>
              <a:off x="6444741" y="6801618"/>
              <a:ext cx="2956560" cy="357552"/>
              <a:chOff x="6488523" y="2287239"/>
              <a:chExt cx="2956560" cy="357552"/>
            </a:xfrm>
          </p:grpSpPr>
          <p:sp>
            <p:nvSpPr>
              <p:cNvPr id="4441" name="TextBox 4440">
                <a:extLst>
                  <a:ext uri="{FF2B5EF4-FFF2-40B4-BE49-F238E27FC236}">
                    <a16:creationId xmlns:a16="http://schemas.microsoft.com/office/drawing/2014/main" id="{AABFB80B-579B-EC09-2243-9B936C2DA01A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수면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신경 안정</a:t>
                </a:r>
              </a:p>
            </p:txBody>
          </p:sp>
          <p:sp>
            <p:nvSpPr>
              <p:cNvPr id="4442" name="사각형: 둥근 모서리 4441">
                <a:extLst>
                  <a:ext uri="{FF2B5EF4-FFF2-40B4-BE49-F238E27FC236}">
                    <a16:creationId xmlns:a16="http://schemas.microsoft.com/office/drawing/2014/main" id="{1B79E369-2377-D5FA-B108-295D70099AE4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불면증</a:t>
                </a:r>
              </a:p>
            </p:txBody>
          </p:sp>
        </p:grpSp>
        <p:sp>
          <p:nvSpPr>
            <p:cNvPr id="4450" name="사각형: 둥근 모서리 4449">
              <a:extLst>
                <a:ext uri="{FF2B5EF4-FFF2-40B4-BE49-F238E27FC236}">
                  <a16:creationId xmlns:a16="http://schemas.microsoft.com/office/drawing/2014/main" id="{6722755B-F134-4AD3-AFB0-E3B56EDBCC88}"/>
                </a:ext>
              </a:extLst>
            </p:cNvPr>
            <p:cNvSpPr/>
            <p:nvPr/>
          </p:nvSpPr>
          <p:spPr>
            <a:xfrm>
              <a:off x="6610566" y="2735572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칼로리</a:t>
              </a:r>
            </a:p>
          </p:txBody>
        </p:sp>
        <p:sp>
          <p:nvSpPr>
            <p:cNvPr id="4451" name="사각형: 둥근 모서리 4450">
              <a:extLst>
                <a:ext uri="{FF2B5EF4-FFF2-40B4-BE49-F238E27FC236}">
                  <a16:creationId xmlns:a16="http://schemas.microsoft.com/office/drawing/2014/main" id="{FD5233D2-5B95-B831-654F-09590499963F}"/>
                </a:ext>
              </a:extLst>
            </p:cNvPr>
            <p:cNvSpPr/>
            <p:nvPr/>
          </p:nvSpPr>
          <p:spPr>
            <a:xfrm>
              <a:off x="7018151" y="2735572"/>
              <a:ext cx="458974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콜레스테롤</a:t>
              </a:r>
            </a:p>
          </p:txBody>
        </p:sp>
        <p:sp>
          <p:nvSpPr>
            <p:cNvPr id="4452" name="사각형: 둥근 모서리 4451">
              <a:extLst>
                <a:ext uri="{FF2B5EF4-FFF2-40B4-BE49-F238E27FC236}">
                  <a16:creationId xmlns:a16="http://schemas.microsoft.com/office/drawing/2014/main" id="{119E496D-D47D-4D14-A5BE-3D6BB0275DF9}"/>
                </a:ext>
              </a:extLst>
            </p:cNvPr>
            <p:cNvSpPr/>
            <p:nvPr/>
          </p:nvSpPr>
          <p:spPr>
            <a:xfrm>
              <a:off x="7509562" y="2735572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무당</a:t>
              </a:r>
            </a:p>
          </p:txBody>
        </p:sp>
        <p:sp>
          <p:nvSpPr>
            <p:cNvPr id="4453" name="사각형: 둥근 모서리 4452">
              <a:extLst>
                <a:ext uri="{FF2B5EF4-FFF2-40B4-BE49-F238E27FC236}">
                  <a16:creationId xmlns:a16="http://schemas.microsoft.com/office/drawing/2014/main" id="{D10C2E68-6C90-6056-6C78-F2D709E05F59}"/>
                </a:ext>
              </a:extLst>
            </p:cNvPr>
            <p:cNvSpPr/>
            <p:nvPr/>
          </p:nvSpPr>
          <p:spPr>
            <a:xfrm>
              <a:off x="7909612" y="2735572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저염</a:t>
              </a:r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4454" name="사각형: 둥근 모서리 4453">
              <a:extLst>
                <a:ext uri="{FF2B5EF4-FFF2-40B4-BE49-F238E27FC236}">
                  <a16:creationId xmlns:a16="http://schemas.microsoft.com/office/drawing/2014/main" id="{77B8D53C-43B4-C438-E2DB-4EE693F917B7}"/>
                </a:ext>
              </a:extLst>
            </p:cNvPr>
            <p:cNvSpPr/>
            <p:nvPr/>
          </p:nvSpPr>
          <p:spPr>
            <a:xfrm>
              <a:off x="8328712" y="2735572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무가당</a:t>
              </a:r>
            </a:p>
          </p:txBody>
        </p:sp>
        <p:sp>
          <p:nvSpPr>
            <p:cNvPr id="4455" name="TextBox 4454">
              <a:extLst>
                <a:ext uri="{FF2B5EF4-FFF2-40B4-BE49-F238E27FC236}">
                  <a16:creationId xmlns:a16="http://schemas.microsoft.com/office/drawing/2014/main" id="{73D3F47B-1C6C-E7F8-7288-2467FDB8801C}"/>
                </a:ext>
              </a:extLst>
            </p:cNvPr>
            <p:cNvSpPr txBox="1"/>
            <p:nvPr/>
          </p:nvSpPr>
          <p:spPr>
            <a:xfrm>
              <a:off x="6358701" y="7250137"/>
              <a:ext cx="2956560" cy="1964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■ 요리 영양분</a:t>
              </a:r>
            </a:p>
          </p:txBody>
        </p:sp>
        <p:sp>
          <p:nvSpPr>
            <p:cNvPr id="4456" name="사각형: 둥근 모서리 4455">
              <a:extLst>
                <a:ext uri="{FF2B5EF4-FFF2-40B4-BE49-F238E27FC236}">
                  <a16:creationId xmlns:a16="http://schemas.microsoft.com/office/drawing/2014/main" id="{FBE4C138-D272-3042-A66A-4D3E78B5B4DC}"/>
                </a:ext>
              </a:extLst>
            </p:cNvPr>
            <p:cNvSpPr/>
            <p:nvPr/>
          </p:nvSpPr>
          <p:spPr>
            <a:xfrm>
              <a:off x="6834460" y="7529075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아미노산</a:t>
              </a:r>
            </a:p>
          </p:txBody>
        </p:sp>
        <p:sp>
          <p:nvSpPr>
            <p:cNvPr id="4457" name="사각형: 둥근 모서리 4456">
              <a:extLst>
                <a:ext uri="{FF2B5EF4-FFF2-40B4-BE49-F238E27FC236}">
                  <a16:creationId xmlns:a16="http://schemas.microsoft.com/office/drawing/2014/main" id="{606FFCE2-6473-BBBA-CE04-15F601F92685}"/>
                </a:ext>
              </a:extLst>
            </p:cNvPr>
            <p:cNvSpPr/>
            <p:nvPr/>
          </p:nvSpPr>
          <p:spPr>
            <a:xfrm>
              <a:off x="7266314" y="7529075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오메가</a:t>
              </a:r>
            </a:p>
          </p:txBody>
        </p:sp>
        <p:sp>
          <p:nvSpPr>
            <p:cNvPr id="4458" name="사각형: 둥근 모서리 4457">
              <a:extLst>
                <a:ext uri="{FF2B5EF4-FFF2-40B4-BE49-F238E27FC236}">
                  <a16:creationId xmlns:a16="http://schemas.microsoft.com/office/drawing/2014/main" id="{B8C21994-0BA7-AA95-B1D0-8A4A09BD365C}"/>
                </a:ext>
              </a:extLst>
            </p:cNvPr>
            <p:cNvSpPr/>
            <p:nvPr/>
          </p:nvSpPr>
          <p:spPr>
            <a:xfrm>
              <a:off x="7698168" y="7529075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타우린</a:t>
              </a:r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4459" name="사각형: 둥근 모서리 4458">
              <a:extLst>
                <a:ext uri="{FF2B5EF4-FFF2-40B4-BE49-F238E27FC236}">
                  <a16:creationId xmlns:a16="http://schemas.microsoft.com/office/drawing/2014/main" id="{EFB6B0FC-F4CD-46D5-C64B-A25224408A3D}"/>
                </a:ext>
              </a:extLst>
            </p:cNvPr>
            <p:cNvSpPr/>
            <p:nvPr/>
          </p:nvSpPr>
          <p:spPr>
            <a:xfrm>
              <a:off x="8561876" y="7529075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비타민</a:t>
              </a:r>
            </a:p>
          </p:txBody>
        </p:sp>
        <p:sp>
          <p:nvSpPr>
            <p:cNvPr id="4460" name="사각형: 둥근 모서리 4459">
              <a:extLst>
                <a:ext uri="{FF2B5EF4-FFF2-40B4-BE49-F238E27FC236}">
                  <a16:creationId xmlns:a16="http://schemas.microsoft.com/office/drawing/2014/main" id="{09A36BC4-8A1F-D2AE-41D1-08EEB3AD1DC8}"/>
                </a:ext>
              </a:extLst>
            </p:cNvPr>
            <p:cNvSpPr/>
            <p:nvPr/>
          </p:nvSpPr>
          <p:spPr>
            <a:xfrm>
              <a:off x="8993728" y="7529075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비타민</a:t>
              </a:r>
              <a:r>
                <a:rPr lang="en-US" altLang="ko-KR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C</a:t>
              </a:r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4461" name="사각형: 둥근 모서리 4460">
              <a:extLst>
                <a:ext uri="{FF2B5EF4-FFF2-40B4-BE49-F238E27FC236}">
                  <a16:creationId xmlns:a16="http://schemas.microsoft.com/office/drawing/2014/main" id="{CF28AEA4-82AD-1FA0-4E0C-8F63C10ACC66}"/>
                </a:ext>
              </a:extLst>
            </p:cNvPr>
            <p:cNvSpPr/>
            <p:nvPr/>
          </p:nvSpPr>
          <p:spPr>
            <a:xfrm>
              <a:off x="8993728" y="7753414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아연</a:t>
              </a:r>
            </a:p>
          </p:txBody>
        </p:sp>
        <p:sp>
          <p:nvSpPr>
            <p:cNvPr id="4462" name="사각형: 둥근 모서리 4461">
              <a:extLst>
                <a:ext uri="{FF2B5EF4-FFF2-40B4-BE49-F238E27FC236}">
                  <a16:creationId xmlns:a16="http://schemas.microsoft.com/office/drawing/2014/main" id="{A3B52C88-2FF8-51A2-9651-41ADE145877B}"/>
                </a:ext>
              </a:extLst>
            </p:cNvPr>
            <p:cNvSpPr/>
            <p:nvPr/>
          </p:nvSpPr>
          <p:spPr>
            <a:xfrm>
              <a:off x="6402305" y="7753414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비타민</a:t>
              </a:r>
              <a:r>
                <a:rPr lang="en-US" altLang="ko-KR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K</a:t>
              </a:r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4463" name="사각형: 둥근 모서리 4462">
              <a:extLst>
                <a:ext uri="{FF2B5EF4-FFF2-40B4-BE49-F238E27FC236}">
                  <a16:creationId xmlns:a16="http://schemas.microsoft.com/office/drawing/2014/main" id="{5BF197AE-FBC5-81F8-74F3-4B8C0515646F}"/>
                </a:ext>
              </a:extLst>
            </p:cNvPr>
            <p:cNvSpPr/>
            <p:nvPr/>
          </p:nvSpPr>
          <p:spPr>
            <a:xfrm>
              <a:off x="6834460" y="7753414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비타민</a:t>
              </a:r>
              <a:r>
                <a:rPr lang="en-US" altLang="ko-KR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B</a:t>
              </a:r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4464" name="사각형: 둥근 모서리 4463">
              <a:extLst>
                <a:ext uri="{FF2B5EF4-FFF2-40B4-BE49-F238E27FC236}">
                  <a16:creationId xmlns:a16="http://schemas.microsoft.com/office/drawing/2014/main" id="{FF7E00CA-D7CD-93FA-5367-9A6CC0589960}"/>
                </a:ext>
              </a:extLst>
            </p:cNvPr>
            <p:cNvSpPr/>
            <p:nvPr/>
          </p:nvSpPr>
          <p:spPr>
            <a:xfrm>
              <a:off x="7266314" y="7753414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미네랄</a:t>
              </a:r>
            </a:p>
          </p:txBody>
        </p:sp>
        <p:sp>
          <p:nvSpPr>
            <p:cNvPr id="4465" name="사각형: 둥근 모서리 4464">
              <a:extLst>
                <a:ext uri="{FF2B5EF4-FFF2-40B4-BE49-F238E27FC236}">
                  <a16:creationId xmlns:a16="http://schemas.microsoft.com/office/drawing/2014/main" id="{030E4B29-9004-814A-2481-7689F294677C}"/>
                </a:ext>
              </a:extLst>
            </p:cNvPr>
            <p:cNvSpPr/>
            <p:nvPr/>
          </p:nvSpPr>
          <p:spPr>
            <a:xfrm>
              <a:off x="7698168" y="7753414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무기질</a:t>
              </a:r>
            </a:p>
          </p:txBody>
        </p:sp>
        <p:sp>
          <p:nvSpPr>
            <p:cNvPr id="4466" name="사각형: 둥근 모서리 4465">
              <a:extLst>
                <a:ext uri="{FF2B5EF4-FFF2-40B4-BE49-F238E27FC236}">
                  <a16:creationId xmlns:a16="http://schemas.microsoft.com/office/drawing/2014/main" id="{B4CD8005-E7A7-F223-9472-F221AB3FB819}"/>
                </a:ext>
              </a:extLst>
            </p:cNvPr>
            <p:cNvSpPr/>
            <p:nvPr/>
          </p:nvSpPr>
          <p:spPr>
            <a:xfrm>
              <a:off x="8130022" y="7753414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칼슘</a:t>
              </a:r>
            </a:p>
          </p:txBody>
        </p:sp>
        <p:sp>
          <p:nvSpPr>
            <p:cNvPr id="4467" name="사각형: 둥근 모서리 4466">
              <a:extLst>
                <a:ext uri="{FF2B5EF4-FFF2-40B4-BE49-F238E27FC236}">
                  <a16:creationId xmlns:a16="http://schemas.microsoft.com/office/drawing/2014/main" id="{A539CEEE-E0F4-2D75-F31B-1AE51D606D02}"/>
                </a:ext>
              </a:extLst>
            </p:cNvPr>
            <p:cNvSpPr/>
            <p:nvPr/>
          </p:nvSpPr>
          <p:spPr>
            <a:xfrm>
              <a:off x="8561876" y="7753414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칼륨</a:t>
              </a:r>
            </a:p>
          </p:txBody>
        </p:sp>
        <p:sp>
          <p:nvSpPr>
            <p:cNvPr id="4468" name="사각형: 둥근 모서리 4467">
              <a:extLst>
                <a:ext uri="{FF2B5EF4-FFF2-40B4-BE49-F238E27FC236}">
                  <a16:creationId xmlns:a16="http://schemas.microsoft.com/office/drawing/2014/main" id="{241F7BCC-AAC6-6058-1C4B-381AD57CD08D}"/>
                </a:ext>
              </a:extLst>
            </p:cNvPr>
            <p:cNvSpPr/>
            <p:nvPr/>
          </p:nvSpPr>
          <p:spPr>
            <a:xfrm>
              <a:off x="8130022" y="7529075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카페인</a:t>
              </a:r>
            </a:p>
          </p:txBody>
        </p:sp>
        <p:sp>
          <p:nvSpPr>
            <p:cNvPr id="4469" name="사각형: 둥근 모서리 4468">
              <a:extLst>
                <a:ext uri="{FF2B5EF4-FFF2-40B4-BE49-F238E27FC236}">
                  <a16:creationId xmlns:a16="http://schemas.microsoft.com/office/drawing/2014/main" id="{5938647D-D79D-C95E-5033-6F9BD2A37C77}"/>
                </a:ext>
              </a:extLst>
            </p:cNvPr>
            <p:cNvSpPr/>
            <p:nvPr/>
          </p:nvSpPr>
          <p:spPr>
            <a:xfrm>
              <a:off x="6402305" y="7529075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단백질</a:t>
              </a:r>
            </a:p>
          </p:txBody>
        </p:sp>
        <p:sp>
          <p:nvSpPr>
            <p:cNvPr id="4471" name="사각형: 둥근 모서리 4470">
              <a:extLst>
                <a:ext uri="{FF2B5EF4-FFF2-40B4-BE49-F238E27FC236}">
                  <a16:creationId xmlns:a16="http://schemas.microsoft.com/office/drawing/2014/main" id="{12906AB1-C515-96FF-83C7-E1919B0F5B64}"/>
                </a:ext>
              </a:extLst>
            </p:cNvPr>
            <p:cNvSpPr/>
            <p:nvPr/>
          </p:nvSpPr>
          <p:spPr>
            <a:xfrm>
              <a:off x="6408655" y="7982014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식이섬유</a:t>
              </a:r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4472" name="사각형: 둥근 모서리 4471">
              <a:extLst>
                <a:ext uri="{FF2B5EF4-FFF2-40B4-BE49-F238E27FC236}">
                  <a16:creationId xmlns:a16="http://schemas.microsoft.com/office/drawing/2014/main" id="{1A96E7D9-0C41-2180-9AD2-359A5987F28C}"/>
                </a:ext>
              </a:extLst>
            </p:cNvPr>
            <p:cNvSpPr/>
            <p:nvPr/>
          </p:nvSpPr>
          <p:spPr>
            <a:xfrm>
              <a:off x="6840810" y="7982014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그래놀라</a:t>
              </a:r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4473" name="사각형: 둥근 모서리 4472">
              <a:extLst>
                <a:ext uri="{FF2B5EF4-FFF2-40B4-BE49-F238E27FC236}">
                  <a16:creationId xmlns:a16="http://schemas.microsoft.com/office/drawing/2014/main" id="{51E57B9B-0746-7A2F-76F8-D19143A41DCA}"/>
                </a:ext>
              </a:extLst>
            </p:cNvPr>
            <p:cNvSpPr/>
            <p:nvPr/>
          </p:nvSpPr>
          <p:spPr>
            <a:xfrm>
              <a:off x="7272664" y="7982014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탄수화물</a:t>
              </a:r>
            </a:p>
          </p:txBody>
        </p:sp>
        <p:sp>
          <p:nvSpPr>
            <p:cNvPr id="4477" name="TextBox 4476">
              <a:extLst>
                <a:ext uri="{FF2B5EF4-FFF2-40B4-BE49-F238E27FC236}">
                  <a16:creationId xmlns:a16="http://schemas.microsoft.com/office/drawing/2014/main" id="{3B79799B-04CF-A1EE-42EF-7D26333EF8B4}"/>
                </a:ext>
              </a:extLst>
            </p:cNvPr>
            <p:cNvSpPr txBox="1"/>
            <p:nvPr/>
          </p:nvSpPr>
          <p:spPr>
            <a:xfrm>
              <a:off x="6358701" y="8200273"/>
              <a:ext cx="2956560" cy="1964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■ 요리 식사 대상</a:t>
              </a:r>
            </a:p>
          </p:txBody>
        </p:sp>
        <p:sp>
          <p:nvSpPr>
            <p:cNvPr id="4478" name="사각형: 둥근 모서리 4477">
              <a:extLst>
                <a:ext uri="{FF2B5EF4-FFF2-40B4-BE49-F238E27FC236}">
                  <a16:creationId xmlns:a16="http://schemas.microsoft.com/office/drawing/2014/main" id="{D5952C80-79BF-CB3F-4996-FAEF16432446}"/>
                </a:ext>
              </a:extLst>
            </p:cNvPr>
            <p:cNvSpPr/>
            <p:nvPr/>
          </p:nvSpPr>
          <p:spPr>
            <a:xfrm>
              <a:off x="6834460" y="8479211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남편</a:t>
              </a:r>
            </a:p>
          </p:txBody>
        </p:sp>
        <p:sp>
          <p:nvSpPr>
            <p:cNvPr id="4479" name="사각형: 둥근 모서리 4478">
              <a:extLst>
                <a:ext uri="{FF2B5EF4-FFF2-40B4-BE49-F238E27FC236}">
                  <a16:creationId xmlns:a16="http://schemas.microsoft.com/office/drawing/2014/main" id="{8E7D5975-7384-067D-A07A-43B0ECC82470}"/>
                </a:ext>
              </a:extLst>
            </p:cNvPr>
            <p:cNvSpPr/>
            <p:nvPr/>
          </p:nvSpPr>
          <p:spPr>
            <a:xfrm>
              <a:off x="7685437" y="8479211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아이</a:t>
              </a:r>
            </a:p>
          </p:txBody>
        </p:sp>
        <p:sp>
          <p:nvSpPr>
            <p:cNvPr id="4480" name="사각형: 둥근 모서리 4479">
              <a:extLst>
                <a:ext uri="{FF2B5EF4-FFF2-40B4-BE49-F238E27FC236}">
                  <a16:creationId xmlns:a16="http://schemas.microsoft.com/office/drawing/2014/main" id="{763395CC-00D5-7E8F-1475-C9AE9D9030F0}"/>
                </a:ext>
              </a:extLst>
            </p:cNvPr>
            <p:cNvSpPr/>
            <p:nvPr/>
          </p:nvSpPr>
          <p:spPr>
            <a:xfrm>
              <a:off x="8117291" y="8479211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가족</a:t>
              </a:r>
            </a:p>
          </p:txBody>
        </p:sp>
        <p:sp>
          <p:nvSpPr>
            <p:cNvPr id="4481" name="사각형: 둥근 모서리 4480">
              <a:extLst>
                <a:ext uri="{FF2B5EF4-FFF2-40B4-BE49-F238E27FC236}">
                  <a16:creationId xmlns:a16="http://schemas.microsoft.com/office/drawing/2014/main" id="{B8F34C4A-2B94-B597-46ED-BD398256049D}"/>
                </a:ext>
              </a:extLst>
            </p:cNvPr>
            <p:cNvSpPr/>
            <p:nvPr/>
          </p:nvSpPr>
          <p:spPr>
            <a:xfrm>
              <a:off x="8980999" y="8479211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직장인</a:t>
              </a:r>
            </a:p>
          </p:txBody>
        </p:sp>
        <p:sp>
          <p:nvSpPr>
            <p:cNvPr id="4482" name="사각형: 둥근 모서리 4481">
              <a:extLst>
                <a:ext uri="{FF2B5EF4-FFF2-40B4-BE49-F238E27FC236}">
                  <a16:creationId xmlns:a16="http://schemas.microsoft.com/office/drawing/2014/main" id="{51DC7C0E-6508-0322-2802-482BAEEB658A}"/>
                </a:ext>
              </a:extLst>
            </p:cNvPr>
            <p:cNvSpPr/>
            <p:nvPr/>
          </p:nvSpPr>
          <p:spPr>
            <a:xfrm>
              <a:off x="9412851" y="8479211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환자</a:t>
              </a:r>
            </a:p>
          </p:txBody>
        </p:sp>
        <p:sp>
          <p:nvSpPr>
            <p:cNvPr id="4490" name="사각형: 둥근 모서리 4489">
              <a:extLst>
                <a:ext uri="{FF2B5EF4-FFF2-40B4-BE49-F238E27FC236}">
                  <a16:creationId xmlns:a16="http://schemas.microsoft.com/office/drawing/2014/main" id="{9056C6C7-AA2B-3AE2-CABA-202840DAF51A}"/>
                </a:ext>
              </a:extLst>
            </p:cNvPr>
            <p:cNvSpPr/>
            <p:nvPr/>
          </p:nvSpPr>
          <p:spPr>
            <a:xfrm>
              <a:off x="8549145" y="8479211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어르신</a:t>
              </a:r>
            </a:p>
          </p:txBody>
        </p:sp>
        <p:sp>
          <p:nvSpPr>
            <p:cNvPr id="4491" name="사각형: 둥근 모서리 4490">
              <a:extLst>
                <a:ext uri="{FF2B5EF4-FFF2-40B4-BE49-F238E27FC236}">
                  <a16:creationId xmlns:a16="http://schemas.microsoft.com/office/drawing/2014/main" id="{6BBC842B-AB9B-BF5F-9B56-F88D8C0FEECD}"/>
                </a:ext>
              </a:extLst>
            </p:cNvPr>
            <p:cNvSpPr/>
            <p:nvPr/>
          </p:nvSpPr>
          <p:spPr>
            <a:xfrm>
              <a:off x="6402305" y="8479211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부모님</a:t>
              </a:r>
            </a:p>
          </p:txBody>
        </p:sp>
        <p:sp>
          <p:nvSpPr>
            <p:cNvPr id="4496" name="TextBox 4495">
              <a:extLst>
                <a:ext uri="{FF2B5EF4-FFF2-40B4-BE49-F238E27FC236}">
                  <a16:creationId xmlns:a16="http://schemas.microsoft.com/office/drawing/2014/main" id="{D989EF56-FADD-6F53-6B14-7FE8AE44C4DB}"/>
                </a:ext>
              </a:extLst>
            </p:cNvPr>
            <p:cNvSpPr txBox="1"/>
            <p:nvPr/>
          </p:nvSpPr>
          <p:spPr>
            <a:xfrm>
              <a:off x="6358701" y="8771773"/>
              <a:ext cx="2956560" cy="1964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■ 요리 </a:t>
              </a:r>
              <a:r>
                <a:rPr lang="en-US" altLang="ko-KR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TPO</a:t>
              </a:r>
              <a:endPara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grpSp>
          <p:nvGrpSpPr>
            <p:cNvPr id="4504" name="그룹 4503">
              <a:extLst>
                <a:ext uri="{FF2B5EF4-FFF2-40B4-BE49-F238E27FC236}">
                  <a16:creationId xmlns:a16="http://schemas.microsoft.com/office/drawing/2014/main" id="{2AB7D086-A8A3-556E-6C45-72713D9CE829}"/>
                </a:ext>
              </a:extLst>
            </p:cNvPr>
            <p:cNvGrpSpPr/>
            <p:nvPr/>
          </p:nvGrpSpPr>
          <p:grpSpPr>
            <a:xfrm>
              <a:off x="6440904" y="8965224"/>
              <a:ext cx="2956560" cy="357552"/>
              <a:chOff x="6488523" y="2287239"/>
              <a:chExt cx="2956560" cy="357552"/>
            </a:xfrm>
          </p:grpSpPr>
          <p:sp>
            <p:nvSpPr>
              <p:cNvPr id="4505" name="TextBox 4504">
                <a:extLst>
                  <a:ext uri="{FF2B5EF4-FFF2-40B4-BE49-F238E27FC236}">
                    <a16:creationId xmlns:a16="http://schemas.microsoft.com/office/drawing/2014/main" id="{F12BAC43-8F31-61D4-BFBB-FB246FB86F00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용도</a:t>
                </a:r>
              </a:p>
            </p:txBody>
          </p:sp>
          <p:sp>
            <p:nvSpPr>
              <p:cNvPr id="4506" name="사각형: 둥근 모서리 4505">
                <a:extLst>
                  <a:ext uri="{FF2B5EF4-FFF2-40B4-BE49-F238E27FC236}">
                    <a16:creationId xmlns:a16="http://schemas.microsoft.com/office/drawing/2014/main" id="{10DE8908-3CAD-E02B-AAB1-20A31095EF9D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반찬</a:t>
                </a:r>
              </a:p>
            </p:txBody>
          </p:sp>
          <p:sp>
            <p:nvSpPr>
              <p:cNvPr id="4507" name="사각형: 둥근 모서리 4506">
                <a:extLst>
                  <a:ext uri="{FF2B5EF4-FFF2-40B4-BE49-F238E27FC236}">
                    <a16:creationId xmlns:a16="http://schemas.microsoft.com/office/drawing/2014/main" id="{9B1D873D-B4EC-1AF9-85F0-793A76FBFB48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술안주</a:t>
                </a:r>
              </a:p>
            </p:txBody>
          </p:sp>
          <p:sp>
            <p:nvSpPr>
              <p:cNvPr id="4508" name="사각형: 둥근 모서리 4507">
                <a:extLst>
                  <a:ext uri="{FF2B5EF4-FFF2-40B4-BE49-F238E27FC236}">
                    <a16:creationId xmlns:a16="http://schemas.microsoft.com/office/drawing/2014/main" id="{73E759B9-0955-2793-3E7D-60BF9AC309E4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와인</a:t>
                </a:r>
              </a:p>
            </p:txBody>
          </p:sp>
          <p:sp>
            <p:nvSpPr>
              <p:cNvPr id="4509" name="사각형: 둥근 모서리 4508">
                <a:extLst>
                  <a:ext uri="{FF2B5EF4-FFF2-40B4-BE49-F238E27FC236}">
                    <a16:creationId xmlns:a16="http://schemas.microsoft.com/office/drawing/2014/main" id="{6961EC0C-3E4A-60E0-6C5E-B0F054135223}"/>
                  </a:ext>
                </a:extLst>
              </p:cNvPr>
              <p:cNvSpPr/>
              <p:nvPr/>
            </p:nvSpPr>
            <p:spPr>
              <a:xfrm>
                <a:off x="788235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소풍</a:t>
                </a:r>
              </a:p>
            </p:txBody>
          </p:sp>
        </p:grpSp>
        <p:grpSp>
          <p:nvGrpSpPr>
            <p:cNvPr id="4514" name="그룹 4513">
              <a:extLst>
                <a:ext uri="{FF2B5EF4-FFF2-40B4-BE49-F238E27FC236}">
                  <a16:creationId xmlns:a16="http://schemas.microsoft.com/office/drawing/2014/main" id="{A1CDDB30-D35A-05ED-8CAB-1C3EFD6A84CC}"/>
                </a:ext>
              </a:extLst>
            </p:cNvPr>
            <p:cNvGrpSpPr/>
            <p:nvPr/>
          </p:nvGrpSpPr>
          <p:grpSpPr>
            <a:xfrm>
              <a:off x="6444079" y="9824645"/>
              <a:ext cx="2984431" cy="357552"/>
              <a:chOff x="6488523" y="2287239"/>
              <a:chExt cx="2984431" cy="357552"/>
            </a:xfrm>
          </p:grpSpPr>
          <p:sp>
            <p:nvSpPr>
              <p:cNvPr id="4515" name="TextBox 4514">
                <a:extLst>
                  <a:ext uri="{FF2B5EF4-FFF2-40B4-BE49-F238E27FC236}">
                    <a16:creationId xmlns:a16="http://schemas.microsoft.com/office/drawing/2014/main" id="{5B7DFA52-F197-A4F3-95FB-6987AD9DA047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상황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/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장소</a:t>
                </a:r>
              </a:p>
            </p:txBody>
          </p:sp>
          <p:sp>
            <p:nvSpPr>
              <p:cNvPr id="4516" name="사각형: 둥근 모서리 4515">
                <a:extLst>
                  <a:ext uri="{FF2B5EF4-FFF2-40B4-BE49-F238E27FC236}">
                    <a16:creationId xmlns:a16="http://schemas.microsoft.com/office/drawing/2014/main" id="{F89FEB5C-8C00-7DD3-0E81-6B95EC673297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운동전</a:t>
                </a:r>
                <a:endPara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4517" name="사각형: 둥근 모서리 4516">
                <a:extLst>
                  <a:ext uri="{FF2B5EF4-FFF2-40B4-BE49-F238E27FC236}">
                    <a16:creationId xmlns:a16="http://schemas.microsoft.com/office/drawing/2014/main" id="{B3B84C73-A3A2-5EB6-F1DE-B40938850FB1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운동후</a:t>
                </a:r>
                <a:endPara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4518" name="사각형: 둥근 모서리 4517">
                <a:extLst>
                  <a:ext uri="{FF2B5EF4-FFF2-40B4-BE49-F238E27FC236}">
                    <a16:creationId xmlns:a16="http://schemas.microsoft.com/office/drawing/2014/main" id="{D92AFDD6-7CDE-1C7D-0FB9-1E4619C1FDDA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캠핑</a:t>
                </a:r>
              </a:p>
            </p:txBody>
          </p:sp>
          <p:sp>
            <p:nvSpPr>
              <p:cNvPr id="4519" name="사각형: 둥근 모서리 4518">
                <a:extLst>
                  <a:ext uri="{FF2B5EF4-FFF2-40B4-BE49-F238E27FC236}">
                    <a16:creationId xmlns:a16="http://schemas.microsoft.com/office/drawing/2014/main" id="{0C2E8C30-9426-D695-02CD-DBA51CF7008E}"/>
                  </a:ext>
                </a:extLst>
              </p:cNvPr>
              <p:cNvSpPr/>
              <p:nvPr/>
            </p:nvSpPr>
            <p:spPr>
              <a:xfrm>
                <a:off x="788235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명절</a:t>
                </a:r>
              </a:p>
            </p:txBody>
          </p:sp>
          <p:sp>
            <p:nvSpPr>
              <p:cNvPr id="4520" name="사각형: 둥근 모서리 4519">
                <a:extLst>
                  <a:ext uri="{FF2B5EF4-FFF2-40B4-BE49-F238E27FC236}">
                    <a16:creationId xmlns:a16="http://schemas.microsoft.com/office/drawing/2014/main" id="{08D531C4-0A1A-6727-6119-6871BF10566F}"/>
                  </a:ext>
                </a:extLst>
              </p:cNvPr>
              <p:cNvSpPr/>
              <p:nvPr/>
            </p:nvSpPr>
            <p:spPr>
              <a:xfrm>
                <a:off x="828994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생일</a:t>
                </a:r>
              </a:p>
            </p:txBody>
          </p:sp>
          <p:sp>
            <p:nvSpPr>
              <p:cNvPr id="4521" name="사각형: 둥근 모서리 4520">
                <a:extLst>
                  <a:ext uri="{FF2B5EF4-FFF2-40B4-BE49-F238E27FC236}">
                    <a16:creationId xmlns:a16="http://schemas.microsoft.com/office/drawing/2014/main" id="{7C17D4A0-2EA9-2F49-4E6B-70D6DB303303}"/>
                  </a:ext>
                </a:extLst>
              </p:cNvPr>
              <p:cNvSpPr/>
              <p:nvPr/>
            </p:nvSpPr>
            <p:spPr>
              <a:xfrm>
                <a:off x="869752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추억</a:t>
                </a:r>
              </a:p>
            </p:txBody>
          </p:sp>
          <p:sp>
            <p:nvSpPr>
              <p:cNvPr id="4522" name="사각형: 둥근 모서리 4521">
                <a:extLst>
                  <a:ext uri="{FF2B5EF4-FFF2-40B4-BE49-F238E27FC236}">
                    <a16:creationId xmlns:a16="http://schemas.microsoft.com/office/drawing/2014/main" id="{F5D61A2C-5ECB-D045-ED1F-2D5467732870}"/>
                  </a:ext>
                </a:extLst>
              </p:cNvPr>
              <p:cNvSpPr/>
              <p:nvPr/>
            </p:nvSpPr>
            <p:spPr>
              <a:xfrm>
                <a:off x="910511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소풍</a:t>
                </a:r>
              </a:p>
            </p:txBody>
          </p:sp>
        </p:grpSp>
        <p:grpSp>
          <p:nvGrpSpPr>
            <p:cNvPr id="4524" name="그룹 4523">
              <a:extLst>
                <a:ext uri="{FF2B5EF4-FFF2-40B4-BE49-F238E27FC236}">
                  <a16:creationId xmlns:a16="http://schemas.microsoft.com/office/drawing/2014/main" id="{3967DF74-8740-13BB-58E7-8DBE2E1D4E21}"/>
                </a:ext>
              </a:extLst>
            </p:cNvPr>
            <p:cNvGrpSpPr/>
            <p:nvPr/>
          </p:nvGrpSpPr>
          <p:grpSpPr>
            <a:xfrm>
              <a:off x="6437729" y="10456470"/>
              <a:ext cx="2956560" cy="357552"/>
              <a:chOff x="6488523" y="2287239"/>
              <a:chExt cx="2956560" cy="357552"/>
            </a:xfrm>
          </p:grpSpPr>
          <p:sp>
            <p:nvSpPr>
              <p:cNvPr id="4525" name="TextBox 4524">
                <a:extLst>
                  <a:ext uri="{FF2B5EF4-FFF2-40B4-BE49-F238E27FC236}">
                    <a16:creationId xmlns:a16="http://schemas.microsoft.com/office/drawing/2014/main" id="{68D4B911-A9D0-055D-5938-3986CF13DC77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난이도</a:t>
                </a:r>
              </a:p>
            </p:txBody>
          </p:sp>
          <p:sp>
            <p:nvSpPr>
              <p:cNvPr id="4526" name="사각형: 둥근 모서리 4525">
                <a:extLst>
                  <a:ext uri="{FF2B5EF4-FFF2-40B4-BE49-F238E27FC236}">
                    <a16:creationId xmlns:a16="http://schemas.microsoft.com/office/drawing/2014/main" id="{FB802DD6-9E86-2598-453C-A1EE8034D8AF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초간단</a:t>
                </a:r>
                <a:endPara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4527" name="사각형: 둥근 모서리 4526">
                <a:extLst>
                  <a:ext uri="{FF2B5EF4-FFF2-40B4-BE49-F238E27FC236}">
                    <a16:creationId xmlns:a16="http://schemas.microsoft.com/office/drawing/2014/main" id="{AEC594D8-74F6-BBB1-3CF6-D7030E3486CD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심플한</a:t>
                </a:r>
              </a:p>
            </p:txBody>
          </p:sp>
          <p:sp>
            <p:nvSpPr>
              <p:cNvPr id="4528" name="사각형: 둥근 모서리 4527">
                <a:extLst>
                  <a:ext uri="{FF2B5EF4-FFF2-40B4-BE49-F238E27FC236}">
                    <a16:creationId xmlns:a16="http://schemas.microsoft.com/office/drawing/2014/main" id="{119D1B6E-5816-F02B-529F-C3D73D234D97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난이도하</a:t>
                </a:r>
                <a:endPara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4529" name="사각형: 둥근 모서리 4528">
                <a:extLst>
                  <a:ext uri="{FF2B5EF4-FFF2-40B4-BE49-F238E27FC236}">
                    <a16:creationId xmlns:a16="http://schemas.microsoft.com/office/drawing/2014/main" id="{D93018DE-74B8-9A58-3229-16547C44221F}"/>
                  </a:ext>
                </a:extLst>
              </p:cNvPr>
              <p:cNvSpPr/>
              <p:nvPr/>
            </p:nvSpPr>
            <p:spPr>
              <a:xfrm>
                <a:off x="788235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초보</a:t>
                </a:r>
              </a:p>
            </p:txBody>
          </p:sp>
          <p:sp>
            <p:nvSpPr>
              <p:cNvPr id="4530" name="사각형: 둥근 모서리 4529">
                <a:extLst>
                  <a:ext uri="{FF2B5EF4-FFF2-40B4-BE49-F238E27FC236}">
                    <a16:creationId xmlns:a16="http://schemas.microsoft.com/office/drawing/2014/main" id="{969437DE-81DA-91A0-166E-0E80B5577A45}"/>
                  </a:ext>
                </a:extLst>
              </p:cNvPr>
              <p:cNvSpPr/>
              <p:nvPr/>
            </p:nvSpPr>
            <p:spPr>
              <a:xfrm>
                <a:off x="828994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즉석</a:t>
                </a:r>
              </a:p>
            </p:txBody>
          </p:sp>
          <p:sp>
            <p:nvSpPr>
              <p:cNvPr id="4531" name="사각형: 둥근 모서리 4530">
                <a:extLst>
                  <a:ext uri="{FF2B5EF4-FFF2-40B4-BE49-F238E27FC236}">
                    <a16:creationId xmlns:a16="http://schemas.microsoft.com/office/drawing/2014/main" id="{C42B5F5E-EBB2-9C86-FEF8-3CBF89D994F3}"/>
                  </a:ext>
                </a:extLst>
              </p:cNvPr>
              <p:cNvSpPr/>
              <p:nvPr/>
            </p:nvSpPr>
            <p:spPr>
              <a:xfrm>
                <a:off x="869752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귀차니즘</a:t>
                </a:r>
              </a:p>
            </p:txBody>
          </p:sp>
        </p:grpSp>
        <p:sp>
          <p:nvSpPr>
            <p:cNvPr id="4533" name="사각형: 둥근 모서리 4532">
              <a:extLst>
                <a:ext uri="{FF2B5EF4-FFF2-40B4-BE49-F238E27FC236}">
                  <a16:creationId xmlns:a16="http://schemas.microsoft.com/office/drawing/2014/main" id="{7A36BC3D-FDEC-0BED-E2CF-BDF0E8CA52C0}"/>
                </a:ext>
              </a:extLst>
            </p:cNvPr>
            <p:cNvSpPr/>
            <p:nvPr/>
          </p:nvSpPr>
          <p:spPr>
            <a:xfrm>
              <a:off x="6615160" y="10222520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잔칫상</a:t>
              </a:r>
            </a:p>
          </p:txBody>
        </p:sp>
        <p:sp>
          <p:nvSpPr>
            <p:cNvPr id="4534" name="사각형: 둥근 모서리 4533">
              <a:extLst>
                <a:ext uri="{FF2B5EF4-FFF2-40B4-BE49-F238E27FC236}">
                  <a16:creationId xmlns:a16="http://schemas.microsoft.com/office/drawing/2014/main" id="{43C25EEE-DB1A-5D05-99E5-60174EA70D9C}"/>
                </a:ext>
              </a:extLst>
            </p:cNvPr>
            <p:cNvSpPr/>
            <p:nvPr/>
          </p:nvSpPr>
          <p:spPr>
            <a:xfrm>
              <a:off x="7022745" y="10222520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여행</a:t>
              </a:r>
            </a:p>
          </p:txBody>
        </p:sp>
        <p:grpSp>
          <p:nvGrpSpPr>
            <p:cNvPr id="4536" name="그룹 4535">
              <a:extLst>
                <a:ext uri="{FF2B5EF4-FFF2-40B4-BE49-F238E27FC236}">
                  <a16:creationId xmlns:a16="http://schemas.microsoft.com/office/drawing/2014/main" id="{0F3AC038-B3DD-1FDA-A264-EECA41BEC9A0}"/>
                </a:ext>
              </a:extLst>
            </p:cNvPr>
            <p:cNvGrpSpPr/>
            <p:nvPr/>
          </p:nvGrpSpPr>
          <p:grpSpPr>
            <a:xfrm>
              <a:off x="6437729" y="9499454"/>
              <a:ext cx="2984431" cy="357552"/>
              <a:chOff x="6488523" y="2287239"/>
              <a:chExt cx="2984431" cy="357552"/>
            </a:xfrm>
          </p:grpSpPr>
          <p:sp>
            <p:nvSpPr>
              <p:cNvPr id="4537" name="TextBox 4536">
                <a:extLst>
                  <a:ext uri="{FF2B5EF4-FFF2-40B4-BE49-F238E27FC236}">
                    <a16:creationId xmlns:a16="http://schemas.microsoft.com/office/drawing/2014/main" id="{6A6AE466-5478-1D2C-4F09-EDB9091671F0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시간대</a:t>
                </a:r>
              </a:p>
            </p:txBody>
          </p:sp>
          <p:sp>
            <p:nvSpPr>
              <p:cNvPr id="4538" name="사각형: 둥근 모서리 4537">
                <a:extLst>
                  <a:ext uri="{FF2B5EF4-FFF2-40B4-BE49-F238E27FC236}">
                    <a16:creationId xmlns:a16="http://schemas.microsoft.com/office/drawing/2014/main" id="{40405730-C965-6FCB-27B2-2A28C699D600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주말</a:t>
                </a:r>
              </a:p>
            </p:txBody>
          </p:sp>
          <p:sp>
            <p:nvSpPr>
              <p:cNvPr id="4539" name="사각형: 둥근 모서리 4538">
                <a:extLst>
                  <a:ext uri="{FF2B5EF4-FFF2-40B4-BE49-F238E27FC236}">
                    <a16:creationId xmlns:a16="http://schemas.microsoft.com/office/drawing/2014/main" id="{DCED3D36-6D6C-FB04-41F1-F5D36000E3BB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아침</a:t>
                </a:r>
              </a:p>
            </p:txBody>
          </p:sp>
          <p:sp>
            <p:nvSpPr>
              <p:cNvPr id="4540" name="사각형: 둥근 모서리 4539">
                <a:extLst>
                  <a:ext uri="{FF2B5EF4-FFF2-40B4-BE49-F238E27FC236}">
                    <a16:creationId xmlns:a16="http://schemas.microsoft.com/office/drawing/2014/main" id="{851DF8AF-E081-3207-1702-C868AF6586FD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브런치</a:t>
                </a:r>
              </a:p>
            </p:txBody>
          </p:sp>
          <p:sp>
            <p:nvSpPr>
              <p:cNvPr id="4541" name="사각형: 둥근 모서리 4540">
                <a:extLst>
                  <a:ext uri="{FF2B5EF4-FFF2-40B4-BE49-F238E27FC236}">
                    <a16:creationId xmlns:a16="http://schemas.microsoft.com/office/drawing/2014/main" id="{2C8D6221-C84E-C113-D756-3F9611011C53}"/>
                  </a:ext>
                </a:extLst>
              </p:cNvPr>
              <p:cNvSpPr/>
              <p:nvPr/>
            </p:nvSpPr>
            <p:spPr>
              <a:xfrm>
                <a:off x="788235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간식</a:t>
                </a:r>
              </a:p>
            </p:txBody>
          </p:sp>
          <p:sp>
            <p:nvSpPr>
              <p:cNvPr id="4542" name="사각형: 둥근 모서리 4541">
                <a:extLst>
                  <a:ext uri="{FF2B5EF4-FFF2-40B4-BE49-F238E27FC236}">
                    <a16:creationId xmlns:a16="http://schemas.microsoft.com/office/drawing/2014/main" id="{B1DEC937-0D66-B2F5-8F15-3E9C404F05A2}"/>
                  </a:ext>
                </a:extLst>
              </p:cNvPr>
              <p:cNvSpPr/>
              <p:nvPr/>
            </p:nvSpPr>
            <p:spPr>
              <a:xfrm>
                <a:off x="828994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점심</a:t>
                </a:r>
              </a:p>
            </p:txBody>
          </p:sp>
          <p:sp>
            <p:nvSpPr>
              <p:cNvPr id="4543" name="사각형: 둥근 모서리 4542">
                <a:extLst>
                  <a:ext uri="{FF2B5EF4-FFF2-40B4-BE49-F238E27FC236}">
                    <a16:creationId xmlns:a16="http://schemas.microsoft.com/office/drawing/2014/main" id="{6D8912F0-6FC4-BAB7-140B-759A64E1892F}"/>
                  </a:ext>
                </a:extLst>
              </p:cNvPr>
              <p:cNvSpPr/>
              <p:nvPr/>
            </p:nvSpPr>
            <p:spPr>
              <a:xfrm>
                <a:off x="869752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저녁</a:t>
                </a:r>
              </a:p>
            </p:txBody>
          </p:sp>
          <p:sp>
            <p:nvSpPr>
              <p:cNvPr id="4544" name="사각형: 둥근 모서리 4543">
                <a:extLst>
                  <a:ext uri="{FF2B5EF4-FFF2-40B4-BE49-F238E27FC236}">
                    <a16:creationId xmlns:a16="http://schemas.microsoft.com/office/drawing/2014/main" id="{5A80BAD5-32A5-2D72-A0CC-A2FD54A4C460}"/>
                  </a:ext>
                </a:extLst>
              </p:cNvPr>
              <p:cNvSpPr/>
              <p:nvPr/>
            </p:nvSpPr>
            <p:spPr>
              <a:xfrm>
                <a:off x="910511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야식</a:t>
                </a:r>
              </a:p>
            </p:txBody>
          </p:sp>
        </p:grpSp>
        <p:grpSp>
          <p:nvGrpSpPr>
            <p:cNvPr id="4545" name="그룹 4544">
              <a:extLst>
                <a:ext uri="{FF2B5EF4-FFF2-40B4-BE49-F238E27FC236}">
                  <a16:creationId xmlns:a16="http://schemas.microsoft.com/office/drawing/2014/main" id="{241344B5-73CC-070D-7630-D4DDA127AFE9}"/>
                </a:ext>
              </a:extLst>
            </p:cNvPr>
            <p:cNvGrpSpPr/>
            <p:nvPr/>
          </p:nvGrpSpPr>
          <p:grpSpPr>
            <a:xfrm>
              <a:off x="6437729" y="10867950"/>
              <a:ext cx="2956560" cy="357552"/>
              <a:chOff x="6488523" y="2287239"/>
              <a:chExt cx="2956560" cy="357552"/>
            </a:xfrm>
          </p:grpSpPr>
          <p:sp>
            <p:nvSpPr>
              <p:cNvPr id="4546" name="TextBox 4545">
                <a:extLst>
                  <a:ext uri="{FF2B5EF4-FFF2-40B4-BE49-F238E27FC236}">
                    <a16:creationId xmlns:a16="http://schemas.microsoft.com/office/drawing/2014/main" id="{0373CCD8-233F-4049-FE9A-61E82DA7CB9A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계절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시기</a:t>
                </a:r>
              </a:p>
            </p:txBody>
          </p:sp>
          <p:sp>
            <p:nvSpPr>
              <p:cNvPr id="4547" name="사각형: 둥근 모서리 4546">
                <a:extLst>
                  <a:ext uri="{FF2B5EF4-FFF2-40B4-BE49-F238E27FC236}">
                    <a16:creationId xmlns:a16="http://schemas.microsoft.com/office/drawing/2014/main" id="{2C0768BD-41B3-88AE-7F4D-8C3391479358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봄</a:t>
                </a:r>
              </a:p>
            </p:txBody>
          </p:sp>
          <p:sp>
            <p:nvSpPr>
              <p:cNvPr id="4548" name="사각형: 둥근 모서리 4547">
                <a:extLst>
                  <a:ext uri="{FF2B5EF4-FFF2-40B4-BE49-F238E27FC236}">
                    <a16:creationId xmlns:a16="http://schemas.microsoft.com/office/drawing/2014/main" id="{8DC3AFAB-1F59-A997-5AAD-9560FDD05405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여름</a:t>
                </a:r>
              </a:p>
            </p:txBody>
          </p:sp>
          <p:sp>
            <p:nvSpPr>
              <p:cNvPr id="4549" name="사각형: 둥근 모서리 4548">
                <a:extLst>
                  <a:ext uri="{FF2B5EF4-FFF2-40B4-BE49-F238E27FC236}">
                    <a16:creationId xmlns:a16="http://schemas.microsoft.com/office/drawing/2014/main" id="{8BB0D140-9431-F167-D172-755CE4368904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가을</a:t>
                </a:r>
              </a:p>
            </p:txBody>
          </p:sp>
          <p:sp>
            <p:nvSpPr>
              <p:cNvPr id="4550" name="사각형: 둥근 모서리 4549">
                <a:extLst>
                  <a:ext uri="{FF2B5EF4-FFF2-40B4-BE49-F238E27FC236}">
                    <a16:creationId xmlns:a16="http://schemas.microsoft.com/office/drawing/2014/main" id="{B027263E-E491-9A21-C09F-BE06EAFA2003}"/>
                  </a:ext>
                </a:extLst>
              </p:cNvPr>
              <p:cNvSpPr/>
              <p:nvPr/>
            </p:nvSpPr>
            <p:spPr>
              <a:xfrm>
                <a:off x="788235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겨울</a:t>
                </a:r>
              </a:p>
            </p:txBody>
          </p:sp>
          <p:sp>
            <p:nvSpPr>
              <p:cNvPr id="4551" name="사각형: 둥근 모서리 4550">
                <a:extLst>
                  <a:ext uri="{FF2B5EF4-FFF2-40B4-BE49-F238E27FC236}">
                    <a16:creationId xmlns:a16="http://schemas.microsoft.com/office/drawing/2014/main" id="{42EF2553-984E-4F1B-CABC-D787E1000DA8}"/>
                  </a:ext>
                </a:extLst>
              </p:cNvPr>
              <p:cNvSpPr/>
              <p:nvPr/>
            </p:nvSpPr>
            <p:spPr>
              <a:xfrm>
                <a:off x="828994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환절기</a:t>
                </a:r>
              </a:p>
            </p:txBody>
          </p:sp>
          <p:sp>
            <p:nvSpPr>
              <p:cNvPr id="4552" name="사각형: 둥근 모서리 4551">
                <a:extLst>
                  <a:ext uri="{FF2B5EF4-FFF2-40B4-BE49-F238E27FC236}">
                    <a16:creationId xmlns:a16="http://schemas.microsoft.com/office/drawing/2014/main" id="{96EF0264-2CCF-FC45-EAA1-B50CF0F3EFF3}"/>
                  </a:ext>
                </a:extLst>
              </p:cNvPr>
              <p:cNvSpPr/>
              <p:nvPr/>
            </p:nvSpPr>
            <p:spPr>
              <a:xfrm>
                <a:off x="869752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초복</a:t>
                </a:r>
              </a:p>
            </p:txBody>
          </p:sp>
        </p:grpSp>
        <p:sp>
          <p:nvSpPr>
            <p:cNvPr id="4553" name="사각형: 둥근 모서리 4552">
              <a:extLst>
                <a:ext uri="{FF2B5EF4-FFF2-40B4-BE49-F238E27FC236}">
                  <a16:creationId xmlns:a16="http://schemas.microsoft.com/office/drawing/2014/main" id="{ACA3EE3C-4532-EEB3-6213-71EB333EBA4D}"/>
                </a:ext>
              </a:extLst>
            </p:cNvPr>
            <p:cNvSpPr/>
            <p:nvPr/>
          </p:nvSpPr>
          <p:spPr>
            <a:xfrm>
              <a:off x="9069815" y="11049925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중복</a:t>
              </a:r>
            </a:p>
          </p:txBody>
        </p:sp>
        <p:sp>
          <p:nvSpPr>
            <p:cNvPr id="4554" name="사각형: 둥근 모서리 4553">
              <a:extLst>
                <a:ext uri="{FF2B5EF4-FFF2-40B4-BE49-F238E27FC236}">
                  <a16:creationId xmlns:a16="http://schemas.microsoft.com/office/drawing/2014/main" id="{4E23B00F-7382-55AC-E514-B095AAC5119B}"/>
                </a:ext>
              </a:extLst>
            </p:cNvPr>
            <p:cNvSpPr/>
            <p:nvPr/>
          </p:nvSpPr>
          <p:spPr>
            <a:xfrm>
              <a:off x="9477400" y="11049925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말복</a:t>
              </a:r>
            </a:p>
          </p:txBody>
        </p:sp>
        <p:sp>
          <p:nvSpPr>
            <p:cNvPr id="4555" name="사각형: 둥근 모서리 4554">
              <a:extLst>
                <a:ext uri="{FF2B5EF4-FFF2-40B4-BE49-F238E27FC236}">
                  <a16:creationId xmlns:a16="http://schemas.microsoft.com/office/drawing/2014/main" id="{8E5AF74C-C996-0495-2BDD-ED4370CFEA23}"/>
                </a:ext>
              </a:extLst>
            </p:cNvPr>
            <p:cNvSpPr/>
            <p:nvPr/>
          </p:nvSpPr>
          <p:spPr>
            <a:xfrm>
              <a:off x="9884985" y="11049925"/>
              <a:ext cx="367840" cy="1755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동지</a:t>
              </a:r>
            </a:p>
          </p:txBody>
        </p:sp>
        <p:cxnSp>
          <p:nvCxnSpPr>
            <p:cNvPr id="4557" name="직선 연결선 4556">
              <a:extLst>
                <a:ext uri="{FF2B5EF4-FFF2-40B4-BE49-F238E27FC236}">
                  <a16:creationId xmlns:a16="http://schemas.microsoft.com/office/drawing/2014/main" id="{E01B69C6-FCE1-DC28-DBCD-8D934CE1F357}"/>
                </a:ext>
              </a:extLst>
            </p:cNvPr>
            <p:cNvCxnSpPr>
              <a:cxnSpLocks/>
            </p:cNvCxnSpPr>
            <p:nvPr/>
          </p:nvCxnSpPr>
          <p:spPr>
            <a:xfrm>
              <a:off x="6478935" y="7217152"/>
              <a:ext cx="388203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8" name="직선 연결선 4557">
              <a:extLst>
                <a:ext uri="{FF2B5EF4-FFF2-40B4-BE49-F238E27FC236}">
                  <a16:creationId xmlns:a16="http://schemas.microsoft.com/office/drawing/2014/main" id="{D1906188-1D2D-B6FD-E258-A646DF5940A4}"/>
                </a:ext>
              </a:extLst>
            </p:cNvPr>
            <p:cNvCxnSpPr>
              <a:cxnSpLocks/>
            </p:cNvCxnSpPr>
            <p:nvPr/>
          </p:nvCxnSpPr>
          <p:spPr>
            <a:xfrm>
              <a:off x="6483054" y="8215400"/>
              <a:ext cx="388203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9" name="직선 연결선 4558">
              <a:extLst>
                <a:ext uri="{FF2B5EF4-FFF2-40B4-BE49-F238E27FC236}">
                  <a16:creationId xmlns:a16="http://schemas.microsoft.com/office/drawing/2014/main" id="{19B01449-F090-3C56-9525-67B57142AD9E}"/>
                </a:ext>
              </a:extLst>
            </p:cNvPr>
            <p:cNvCxnSpPr>
              <a:cxnSpLocks/>
            </p:cNvCxnSpPr>
            <p:nvPr/>
          </p:nvCxnSpPr>
          <p:spPr>
            <a:xfrm>
              <a:off x="6499530" y="8742921"/>
              <a:ext cx="388203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0" name="직선 연결선 4559">
              <a:extLst>
                <a:ext uri="{FF2B5EF4-FFF2-40B4-BE49-F238E27FC236}">
                  <a16:creationId xmlns:a16="http://schemas.microsoft.com/office/drawing/2014/main" id="{89409ABE-0D55-8DA6-369E-F1C5486B8FEF}"/>
                </a:ext>
              </a:extLst>
            </p:cNvPr>
            <p:cNvCxnSpPr>
              <a:cxnSpLocks/>
            </p:cNvCxnSpPr>
            <p:nvPr/>
          </p:nvCxnSpPr>
          <p:spPr>
            <a:xfrm>
              <a:off x="6434216" y="11377264"/>
              <a:ext cx="388203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85" name="TextBox 4184">
            <a:extLst>
              <a:ext uri="{FF2B5EF4-FFF2-40B4-BE49-F238E27FC236}">
                <a16:creationId xmlns:a16="http://schemas.microsoft.com/office/drawing/2014/main" id="{3DFCDA73-19FE-A504-3318-C89C4C302F02}"/>
              </a:ext>
            </a:extLst>
          </p:cNvPr>
          <p:cNvSpPr txBox="1"/>
          <p:nvPr/>
        </p:nvSpPr>
        <p:spPr>
          <a:xfrm>
            <a:off x="1173501" y="4087630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ⓐ</a:t>
            </a:r>
          </a:p>
        </p:txBody>
      </p:sp>
      <p:sp>
        <p:nvSpPr>
          <p:cNvPr id="4571" name="사각형: 둥근 모서리 4570">
            <a:extLst>
              <a:ext uri="{FF2B5EF4-FFF2-40B4-BE49-F238E27FC236}">
                <a16:creationId xmlns:a16="http://schemas.microsoft.com/office/drawing/2014/main" id="{DC27215F-1574-25C6-9C33-3381FB370FAC}"/>
              </a:ext>
            </a:extLst>
          </p:cNvPr>
          <p:cNvSpPr/>
          <p:nvPr/>
        </p:nvSpPr>
        <p:spPr>
          <a:xfrm>
            <a:off x="2539413" y="1282920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아내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1361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BE782-7B36-BCEC-BF85-7750C446C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3" name="직사각형 4152">
            <a:extLst>
              <a:ext uri="{FF2B5EF4-FFF2-40B4-BE49-F238E27FC236}">
                <a16:creationId xmlns:a16="http://schemas.microsoft.com/office/drawing/2014/main" id="{06C42C87-0E39-1C9C-E5B1-1B70DC8C5F7C}"/>
              </a:ext>
            </a:extLst>
          </p:cNvPr>
          <p:cNvSpPr/>
          <p:nvPr/>
        </p:nvSpPr>
        <p:spPr>
          <a:xfrm>
            <a:off x="-1" y="1980410"/>
            <a:ext cx="7199313" cy="183368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730FAD-BD04-14B9-D869-E1F7E53DFE72}"/>
              </a:ext>
            </a:extLst>
          </p:cNvPr>
          <p:cNvSpPr/>
          <p:nvPr/>
        </p:nvSpPr>
        <p:spPr>
          <a:xfrm>
            <a:off x="-1" y="2593750"/>
            <a:ext cx="7199313" cy="10905556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C948A5B1-CB00-C229-6A39-BE883968386A}"/>
              </a:ext>
            </a:extLst>
          </p:cNvPr>
          <p:cNvCxnSpPr>
            <a:cxnSpLocks/>
          </p:cNvCxnSpPr>
          <p:nvPr/>
        </p:nvCxnSpPr>
        <p:spPr>
          <a:xfrm>
            <a:off x="-1" y="2565646"/>
            <a:ext cx="7199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78E56089-596C-21C4-E8DF-180274EB5E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r="251"/>
          <a:stretch/>
        </p:blipFill>
        <p:spPr>
          <a:xfrm>
            <a:off x="-1" y="2591586"/>
            <a:ext cx="7199313" cy="329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B9770A-3EE5-EBF4-8A5D-6BD96135B136}"/>
              </a:ext>
            </a:extLst>
          </p:cNvPr>
          <p:cNvSpPr txBox="1"/>
          <p:nvPr/>
        </p:nvSpPr>
        <p:spPr>
          <a:xfrm>
            <a:off x="213617" y="3024667"/>
            <a:ext cx="1109824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EE8B8A-910D-7F6D-BDBA-CD3B3EF85194}"/>
              </a:ext>
            </a:extLst>
          </p:cNvPr>
          <p:cNvSpPr txBox="1"/>
          <p:nvPr/>
        </p:nvSpPr>
        <p:spPr>
          <a:xfrm>
            <a:off x="1476515" y="3026376"/>
            <a:ext cx="1248260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A0518E-F173-6B20-07B8-F5EB683C9119}"/>
              </a:ext>
            </a:extLst>
          </p:cNvPr>
          <p:cNvSpPr txBox="1"/>
          <p:nvPr/>
        </p:nvSpPr>
        <p:spPr>
          <a:xfrm>
            <a:off x="3978099" y="3024667"/>
            <a:ext cx="569238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837C33-7351-9DE9-17F5-5A4B75D25FB7}"/>
              </a:ext>
            </a:extLst>
          </p:cNvPr>
          <p:cNvSpPr txBox="1"/>
          <p:nvPr/>
        </p:nvSpPr>
        <p:spPr>
          <a:xfrm>
            <a:off x="1373611" y="3524269"/>
            <a:ext cx="4452088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인기 요리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재료 부터 테마 추천까지 한눈에 확인하세요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  <a:endParaRPr lang="ko-KR" altLang="en-US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681A35-0583-E8D9-54A7-DB0499E689DF}"/>
              </a:ext>
            </a:extLst>
          </p:cNvPr>
          <p:cNvSpPr txBox="1"/>
          <p:nvPr/>
        </p:nvSpPr>
        <p:spPr>
          <a:xfrm>
            <a:off x="4650690" y="2985634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ⓐ</a:t>
            </a:r>
          </a:p>
        </p:txBody>
      </p:sp>
      <p:sp>
        <p:nvSpPr>
          <p:cNvPr id="4136" name="TextBox 4135">
            <a:extLst>
              <a:ext uri="{FF2B5EF4-FFF2-40B4-BE49-F238E27FC236}">
                <a16:creationId xmlns:a16="http://schemas.microsoft.com/office/drawing/2014/main" id="{BBBA0C53-AFB5-3916-3F2D-9689E92CC7E8}"/>
              </a:ext>
            </a:extLst>
          </p:cNvPr>
          <p:cNvSpPr txBox="1"/>
          <p:nvPr/>
        </p:nvSpPr>
        <p:spPr>
          <a:xfrm>
            <a:off x="2" y="1980409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UI 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구성</a:t>
            </a:r>
            <a:endParaRPr lang="ko-KR" altLang="en-US" sz="2267" dirty="0"/>
          </a:p>
        </p:txBody>
      </p:sp>
      <p:sp>
        <p:nvSpPr>
          <p:cNvPr id="4137" name="TextBox 4136">
            <a:extLst>
              <a:ext uri="{FF2B5EF4-FFF2-40B4-BE49-F238E27FC236}">
                <a16:creationId xmlns:a16="http://schemas.microsoft.com/office/drawing/2014/main" id="{6D9AB4DF-FD86-C5EF-8202-645863DD26C7}"/>
              </a:ext>
            </a:extLst>
          </p:cNvPr>
          <p:cNvSpPr txBox="1"/>
          <p:nvPr/>
        </p:nvSpPr>
        <p:spPr>
          <a:xfrm>
            <a:off x="2" y="15572716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2267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FA7C8A-8FB0-6A8D-F18E-C5FB44016627}"/>
              </a:ext>
            </a:extLst>
          </p:cNvPr>
          <p:cNvSpPr txBox="1"/>
          <p:nvPr/>
        </p:nvSpPr>
        <p:spPr>
          <a:xfrm>
            <a:off x="2896176" y="3024667"/>
            <a:ext cx="928852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76CACB-A5BB-FA54-E687-1123FD7E0389}"/>
              </a:ext>
            </a:extLst>
          </p:cNvPr>
          <p:cNvSpPr txBox="1"/>
          <p:nvPr/>
        </p:nvSpPr>
        <p:spPr>
          <a:xfrm>
            <a:off x="482116" y="4607450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전체 인기 레시피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1CFFC-60CA-3B9E-15BE-842094DF8853}"/>
              </a:ext>
            </a:extLst>
          </p:cNvPr>
          <p:cNvSpPr txBox="1"/>
          <p:nvPr/>
        </p:nvSpPr>
        <p:spPr>
          <a:xfrm>
            <a:off x="476224" y="6019515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틱톡에서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유행하는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초간단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안주레시피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88ECE4D-22F6-65CF-E79E-DEA6EBBA2B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27" b="35174"/>
          <a:stretch/>
        </p:blipFill>
        <p:spPr bwMode="auto">
          <a:xfrm>
            <a:off x="571097" y="5069467"/>
            <a:ext cx="2153678" cy="966998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9289932D-8960-C010-E18D-DD0877AA67C3}"/>
              </a:ext>
            </a:extLst>
          </p:cNvPr>
          <p:cNvGrpSpPr/>
          <p:nvPr/>
        </p:nvGrpSpPr>
        <p:grpSpPr>
          <a:xfrm>
            <a:off x="2172635" y="5752234"/>
            <a:ext cx="518048" cy="260567"/>
            <a:chOff x="7257057" y="1627391"/>
            <a:chExt cx="411240" cy="206845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FD74512-4C52-E4B1-02E9-53E7F98F2A9D}"/>
                </a:ext>
              </a:extLst>
            </p:cNvPr>
            <p:cNvSpPr/>
            <p:nvPr/>
          </p:nvSpPr>
          <p:spPr>
            <a:xfrm>
              <a:off x="7257057" y="1634035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418E107C-7E37-72E9-150A-E78DD099B0E1}"/>
                </a:ext>
              </a:extLst>
            </p:cNvPr>
            <p:cNvSpPr/>
            <p:nvPr/>
          </p:nvSpPr>
          <p:spPr>
            <a:xfrm>
              <a:off x="7462838" y="1627391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1AD45AD6-B680-79F4-72C9-BE956388D6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</a:blip>
            <a:srcRect r="58948"/>
            <a:stretch/>
          </p:blipFill>
          <p:spPr>
            <a:xfrm>
              <a:off x="7266582" y="1675726"/>
              <a:ext cx="167681" cy="158510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BEE7C47E-E18B-8284-6212-CDE47DE82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rcRect l="51274"/>
            <a:stretch/>
          </p:blipFill>
          <p:spPr>
            <a:xfrm>
              <a:off x="7469267" y="1656353"/>
              <a:ext cx="199030" cy="158510"/>
            </a:xfrm>
            <a:prstGeom prst="rect">
              <a:avLst/>
            </a:prstGeom>
          </p:spPr>
        </p:pic>
      </p:grp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C440D14-367C-CB04-C753-071981B4A7E6}"/>
              </a:ext>
            </a:extLst>
          </p:cNvPr>
          <p:cNvSpPr/>
          <p:nvPr/>
        </p:nvSpPr>
        <p:spPr>
          <a:xfrm>
            <a:off x="1786016" y="628135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초간단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B6D22F8-ADA3-DC94-8217-6F1B729A432F}"/>
              </a:ext>
            </a:extLst>
          </p:cNvPr>
          <p:cNvSpPr/>
          <p:nvPr/>
        </p:nvSpPr>
        <p:spPr>
          <a:xfrm>
            <a:off x="2262239" y="628135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술안주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EB7B1A-7DD4-656D-F22A-D87F11963B12}"/>
              </a:ext>
            </a:extLst>
          </p:cNvPr>
          <p:cNvSpPr txBox="1"/>
          <p:nvPr/>
        </p:nvSpPr>
        <p:spPr>
          <a:xfrm>
            <a:off x="482117" y="6261376"/>
            <a:ext cx="1422228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좋아요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110 /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댓글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13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7F8DB7A1-57AA-12A8-5116-A6BC9CAC210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1854" b="11854"/>
          <a:stretch/>
        </p:blipFill>
        <p:spPr>
          <a:xfrm>
            <a:off x="3086138" y="5072912"/>
            <a:ext cx="2182517" cy="963555"/>
          </a:xfrm>
          <a:prstGeom prst="roundRect">
            <a:avLst/>
          </a:prstGeom>
          <a:noFill/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3993438-CAC1-7099-B339-D5B53D7BB108}"/>
              </a:ext>
            </a:extLst>
          </p:cNvPr>
          <p:cNvSpPr txBox="1"/>
          <p:nvPr/>
        </p:nvSpPr>
        <p:spPr>
          <a:xfrm>
            <a:off x="2988690" y="6019515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다이어트 김밥 만들기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오이김밥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09502A6A-5B97-3694-41EC-1252763F1173}"/>
              </a:ext>
            </a:extLst>
          </p:cNvPr>
          <p:cNvGrpSpPr/>
          <p:nvPr/>
        </p:nvGrpSpPr>
        <p:grpSpPr>
          <a:xfrm>
            <a:off x="4673632" y="5752234"/>
            <a:ext cx="518048" cy="260567"/>
            <a:chOff x="7257057" y="1627391"/>
            <a:chExt cx="411240" cy="206845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D5E2AC43-5C29-ED5B-AFAE-40F7CF2BB8A1}"/>
                </a:ext>
              </a:extLst>
            </p:cNvPr>
            <p:cNvSpPr/>
            <p:nvPr/>
          </p:nvSpPr>
          <p:spPr>
            <a:xfrm>
              <a:off x="7257057" y="1634035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4910E811-2F51-A237-783A-E02E93B1E5F8}"/>
                </a:ext>
              </a:extLst>
            </p:cNvPr>
            <p:cNvSpPr/>
            <p:nvPr/>
          </p:nvSpPr>
          <p:spPr>
            <a:xfrm>
              <a:off x="7462838" y="1627391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8AF2F855-5BC6-696C-A921-BA948FB0E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</a:blip>
            <a:srcRect r="58948"/>
            <a:stretch/>
          </p:blipFill>
          <p:spPr>
            <a:xfrm>
              <a:off x="7266582" y="1675726"/>
              <a:ext cx="167681" cy="158510"/>
            </a:xfrm>
            <a:prstGeom prst="rect">
              <a:avLst/>
            </a:prstGeom>
          </p:spPr>
        </p:pic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7604685E-B57E-A1DD-FA37-D59B55CA0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rcRect l="51274"/>
            <a:stretch/>
          </p:blipFill>
          <p:spPr>
            <a:xfrm>
              <a:off x="7469267" y="1656353"/>
              <a:ext cx="199030" cy="158510"/>
            </a:xfrm>
            <a:prstGeom prst="rect">
              <a:avLst/>
            </a:prstGeom>
          </p:spPr>
        </p:pic>
      </p:grp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4CCC8CEE-D743-1DCD-F080-493EF9577A37}"/>
              </a:ext>
            </a:extLst>
          </p:cNvPr>
          <p:cNvSpPr/>
          <p:nvPr/>
        </p:nvSpPr>
        <p:spPr>
          <a:xfrm>
            <a:off x="4298482" y="628135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다이어트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876FF6C9-F4CB-9419-1666-F4299A21184E}"/>
              </a:ext>
            </a:extLst>
          </p:cNvPr>
          <p:cNvSpPr/>
          <p:nvPr/>
        </p:nvSpPr>
        <p:spPr>
          <a:xfrm>
            <a:off x="4774705" y="628135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저염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FE14DEA-CE2B-D1AC-2A88-454D45CD6B41}"/>
              </a:ext>
            </a:extLst>
          </p:cNvPr>
          <p:cNvSpPr txBox="1"/>
          <p:nvPr/>
        </p:nvSpPr>
        <p:spPr>
          <a:xfrm>
            <a:off x="2994583" y="6261376"/>
            <a:ext cx="1422228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좋아요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90 /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댓글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10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000F97F4-9E1C-1300-45E0-C15563D687F6}"/>
              </a:ext>
            </a:extLst>
          </p:cNvPr>
          <p:cNvSpPr/>
          <p:nvPr/>
        </p:nvSpPr>
        <p:spPr>
          <a:xfrm>
            <a:off x="563178" y="5065846"/>
            <a:ext cx="941666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80%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7E96B92D-31D2-003E-587F-56E1EBA5266A}"/>
              </a:ext>
            </a:extLst>
          </p:cNvPr>
          <p:cNvSpPr/>
          <p:nvPr/>
        </p:nvSpPr>
        <p:spPr>
          <a:xfrm>
            <a:off x="564192" y="6878821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E9382D6A-4651-80B8-4516-49866C155CB4}"/>
              </a:ext>
            </a:extLst>
          </p:cNvPr>
          <p:cNvSpPr/>
          <p:nvPr/>
        </p:nvSpPr>
        <p:spPr>
          <a:xfrm>
            <a:off x="1617925" y="6878821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나초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또띠아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096" name="사각형: 둥근 모서리 4095">
            <a:extLst>
              <a:ext uri="{FF2B5EF4-FFF2-40B4-BE49-F238E27FC236}">
                <a16:creationId xmlns:a16="http://schemas.microsoft.com/office/drawing/2014/main" id="{45D1C670-2D8D-AD02-8ACD-90D19CDD86B4}"/>
              </a:ext>
            </a:extLst>
          </p:cNvPr>
          <p:cNvSpPr/>
          <p:nvPr/>
        </p:nvSpPr>
        <p:spPr>
          <a:xfrm>
            <a:off x="563178" y="6613102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4097" name="사각형: 둥근 모서리 4096">
            <a:extLst>
              <a:ext uri="{FF2B5EF4-FFF2-40B4-BE49-F238E27FC236}">
                <a16:creationId xmlns:a16="http://schemas.microsoft.com/office/drawing/2014/main" id="{B1E5A968-C09F-8641-9F24-1FE5D15940EA}"/>
              </a:ext>
            </a:extLst>
          </p:cNvPr>
          <p:cNvSpPr/>
          <p:nvPr/>
        </p:nvSpPr>
        <p:spPr>
          <a:xfrm>
            <a:off x="1616913" y="6613102"/>
            <a:ext cx="380901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나초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098" name="사각형: 둥근 모서리 4097">
            <a:extLst>
              <a:ext uri="{FF2B5EF4-FFF2-40B4-BE49-F238E27FC236}">
                <a16:creationId xmlns:a16="http://schemas.microsoft.com/office/drawing/2014/main" id="{A8AA5418-3C54-4376-1220-A3512D935C00}"/>
              </a:ext>
            </a:extLst>
          </p:cNvPr>
          <p:cNvSpPr/>
          <p:nvPr/>
        </p:nvSpPr>
        <p:spPr>
          <a:xfrm>
            <a:off x="2039445" y="6613102"/>
            <a:ext cx="380901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치즈</a:t>
            </a:r>
          </a:p>
        </p:txBody>
      </p:sp>
      <p:sp>
        <p:nvSpPr>
          <p:cNvPr id="4102" name="사각형: 둥근 모서리 4101">
            <a:extLst>
              <a:ext uri="{FF2B5EF4-FFF2-40B4-BE49-F238E27FC236}">
                <a16:creationId xmlns:a16="http://schemas.microsoft.com/office/drawing/2014/main" id="{EEA1A44E-641B-5200-BFAE-BD5BF26FBEEE}"/>
              </a:ext>
            </a:extLst>
          </p:cNvPr>
          <p:cNvSpPr/>
          <p:nvPr/>
        </p:nvSpPr>
        <p:spPr>
          <a:xfrm>
            <a:off x="3113720" y="6878821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4103" name="사각형: 둥근 모서리 4102">
            <a:extLst>
              <a:ext uri="{FF2B5EF4-FFF2-40B4-BE49-F238E27FC236}">
                <a16:creationId xmlns:a16="http://schemas.microsoft.com/office/drawing/2014/main" id="{8A19F5FF-C253-F0E3-0364-C1070DCBF3CC}"/>
              </a:ext>
            </a:extLst>
          </p:cNvPr>
          <p:cNvSpPr/>
          <p:nvPr/>
        </p:nvSpPr>
        <p:spPr>
          <a:xfrm>
            <a:off x="4167451" y="6878821"/>
            <a:ext cx="740880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현미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백미</a:t>
            </a:r>
          </a:p>
        </p:txBody>
      </p:sp>
      <p:sp>
        <p:nvSpPr>
          <p:cNvPr id="4104" name="사각형: 둥근 모서리 4103">
            <a:extLst>
              <a:ext uri="{FF2B5EF4-FFF2-40B4-BE49-F238E27FC236}">
                <a16:creationId xmlns:a16="http://schemas.microsoft.com/office/drawing/2014/main" id="{0951BF65-F3FB-A303-7F36-DED1E70C9631}"/>
              </a:ext>
            </a:extLst>
          </p:cNvPr>
          <p:cNvSpPr/>
          <p:nvPr/>
        </p:nvSpPr>
        <p:spPr>
          <a:xfrm>
            <a:off x="3112706" y="6613102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4105" name="사각형: 둥근 모서리 4104">
            <a:extLst>
              <a:ext uri="{FF2B5EF4-FFF2-40B4-BE49-F238E27FC236}">
                <a16:creationId xmlns:a16="http://schemas.microsoft.com/office/drawing/2014/main" id="{DB8D32AD-E974-371F-F723-78E48C958763}"/>
              </a:ext>
            </a:extLst>
          </p:cNvPr>
          <p:cNvSpPr/>
          <p:nvPr/>
        </p:nvSpPr>
        <p:spPr>
          <a:xfrm>
            <a:off x="4166440" y="6613102"/>
            <a:ext cx="380901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현미</a:t>
            </a:r>
          </a:p>
        </p:txBody>
      </p:sp>
      <p:sp>
        <p:nvSpPr>
          <p:cNvPr id="4107" name="사각형: 둥근 모서리 4106">
            <a:extLst>
              <a:ext uri="{FF2B5EF4-FFF2-40B4-BE49-F238E27FC236}">
                <a16:creationId xmlns:a16="http://schemas.microsoft.com/office/drawing/2014/main" id="{9D3DC211-BFA8-F569-4C81-F315F1170D53}"/>
              </a:ext>
            </a:extLst>
          </p:cNvPr>
          <p:cNvSpPr/>
          <p:nvPr/>
        </p:nvSpPr>
        <p:spPr>
          <a:xfrm>
            <a:off x="3072033" y="5078817"/>
            <a:ext cx="941666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90%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11" name="그림 4110">
            <a:extLst>
              <a:ext uri="{FF2B5EF4-FFF2-40B4-BE49-F238E27FC236}">
                <a16:creationId xmlns:a16="http://schemas.microsoft.com/office/drawing/2014/main" id="{BA8D66B7-C018-49F1-9028-6FCA5A87BF0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38224"/>
          <a:stretch/>
        </p:blipFill>
        <p:spPr>
          <a:xfrm>
            <a:off x="5632756" y="5049812"/>
            <a:ext cx="1566558" cy="986767"/>
          </a:xfrm>
          <a:prstGeom prst="rect">
            <a:avLst/>
          </a:prstGeom>
        </p:spPr>
      </p:pic>
      <p:sp>
        <p:nvSpPr>
          <p:cNvPr id="4112" name="사각형: 둥근 모서리 4111">
            <a:extLst>
              <a:ext uri="{FF2B5EF4-FFF2-40B4-BE49-F238E27FC236}">
                <a16:creationId xmlns:a16="http://schemas.microsoft.com/office/drawing/2014/main" id="{0F218C71-3F1A-1F84-5B4B-3491EB404CB4}"/>
              </a:ext>
            </a:extLst>
          </p:cNvPr>
          <p:cNvSpPr/>
          <p:nvPr/>
        </p:nvSpPr>
        <p:spPr>
          <a:xfrm>
            <a:off x="5647833" y="5041102"/>
            <a:ext cx="941666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75%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13" name="TextBox 4112">
            <a:extLst>
              <a:ext uri="{FF2B5EF4-FFF2-40B4-BE49-F238E27FC236}">
                <a16:creationId xmlns:a16="http://schemas.microsoft.com/office/drawing/2014/main" id="{F490005F-C9AC-52CF-AE5F-8CF74CECA6BA}"/>
              </a:ext>
            </a:extLst>
          </p:cNvPr>
          <p:cNvSpPr txBox="1"/>
          <p:nvPr/>
        </p:nvSpPr>
        <p:spPr>
          <a:xfrm>
            <a:off x="5552654" y="6018040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숙취해소로 최고인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황태해장국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14" name="사각형: 둥근 모서리 4113">
            <a:extLst>
              <a:ext uri="{FF2B5EF4-FFF2-40B4-BE49-F238E27FC236}">
                <a16:creationId xmlns:a16="http://schemas.microsoft.com/office/drawing/2014/main" id="{2BED311D-BA50-8263-2C44-4189570B55B2}"/>
              </a:ext>
            </a:extLst>
          </p:cNvPr>
          <p:cNvSpPr/>
          <p:nvPr/>
        </p:nvSpPr>
        <p:spPr>
          <a:xfrm>
            <a:off x="6759716" y="6287457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숙취해소</a:t>
            </a:r>
          </a:p>
        </p:txBody>
      </p:sp>
      <p:sp>
        <p:nvSpPr>
          <p:cNvPr id="4116" name="TextBox 4115">
            <a:extLst>
              <a:ext uri="{FF2B5EF4-FFF2-40B4-BE49-F238E27FC236}">
                <a16:creationId xmlns:a16="http://schemas.microsoft.com/office/drawing/2014/main" id="{C35CE3F2-272F-E76C-E977-BE2C5DE9704E}"/>
              </a:ext>
            </a:extLst>
          </p:cNvPr>
          <p:cNvSpPr txBox="1"/>
          <p:nvPr/>
        </p:nvSpPr>
        <p:spPr>
          <a:xfrm>
            <a:off x="5594206" y="6267474"/>
            <a:ext cx="1422228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좋아요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80 /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댓글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9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117" name="사각형: 둥근 모서리 4116">
            <a:extLst>
              <a:ext uri="{FF2B5EF4-FFF2-40B4-BE49-F238E27FC236}">
                <a16:creationId xmlns:a16="http://schemas.microsoft.com/office/drawing/2014/main" id="{7315F874-C7F5-9F87-2AB4-85E0C8B2C2D5}"/>
              </a:ext>
            </a:extLst>
          </p:cNvPr>
          <p:cNvSpPr/>
          <p:nvPr/>
        </p:nvSpPr>
        <p:spPr>
          <a:xfrm>
            <a:off x="5713343" y="6884920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4119" name="사각형: 둥근 모서리 4118">
            <a:extLst>
              <a:ext uri="{FF2B5EF4-FFF2-40B4-BE49-F238E27FC236}">
                <a16:creationId xmlns:a16="http://schemas.microsoft.com/office/drawing/2014/main" id="{16DD123C-9523-EC50-3B66-A090637E2AC6}"/>
              </a:ext>
            </a:extLst>
          </p:cNvPr>
          <p:cNvSpPr/>
          <p:nvPr/>
        </p:nvSpPr>
        <p:spPr>
          <a:xfrm>
            <a:off x="5712329" y="6619200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4120" name="사각형: 둥근 모서리 4119">
            <a:extLst>
              <a:ext uri="{FF2B5EF4-FFF2-40B4-BE49-F238E27FC236}">
                <a16:creationId xmlns:a16="http://schemas.microsoft.com/office/drawing/2014/main" id="{E1B0F77D-7027-8E6E-7DD4-51B5A8862878}"/>
              </a:ext>
            </a:extLst>
          </p:cNvPr>
          <p:cNvSpPr/>
          <p:nvPr/>
        </p:nvSpPr>
        <p:spPr>
          <a:xfrm>
            <a:off x="6766064" y="6619200"/>
            <a:ext cx="380901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황태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4121" name="직선 연결선 4120">
            <a:extLst>
              <a:ext uri="{FF2B5EF4-FFF2-40B4-BE49-F238E27FC236}">
                <a16:creationId xmlns:a16="http://schemas.microsoft.com/office/drawing/2014/main" id="{4EBC3AC5-E57E-2149-7826-330898FE4976}"/>
              </a:ext>
            </a:extLst>
          </p:cNvPr>
          <p:cNvCxnSpPr>
            <a:cxnSpLocks/>
          </p:cNvCxnSpPr>
          <p:nvPr/>
        </p:nvCxnSpPr>
        <p:spPr>
          <a:xfrm>
            <a:off x="625147" y="4917618"/>
            <a:ext cx="65741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23" name="사각형: 둥근 모서리 4122">
            <a:extLst>
              <a:ext uri="{FF2B5EF4-FFF2-40B4-BE49-F238E27FC236}">
                <a16:creationId xmlns:a16="http://schemas.microsoft.com/office/drawing/2014/main" id="{BB5856E1-9B1D-24D9-70AA-213DFE307C94}"/>
              </a:ext>
            </a:extLst>
          </p:cNvPr>
          <p:cNvSpPr/>
          <p:nvPr/>
        </p:nvSpPr>
        <p:spPr>
          <a:xfrm>
            <a:off x="6074790" y="4541915"/>
            <a:ext cx="1029421" cy="329624"/>
          </a:xfrm>
          <a:prstGeom prst="roundRect">
            <a:avLst/>
          </a:prstGeom>
          <a:solidFill>
            <a:srgbClr val="464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519"/>
          </a:p>
        </p:txBody>
      </p:sp>
      <p:sp>
        <p:nvSpPr>
          <p:cNvPr id="4124" name="사각형: 둥근 모서리 4123">
            <a:extLst>
              <a:ext uri="{FF2B5EF4-FFF2-40B4-BE49-F238E27FC236}">
                <a16:creationId xmlns:a16="http://schemas.microsoft.com/office/drawing/2014/main" id="{529BE574-9A57-B435-6D11-8AA23735ABDB}"/>
              </a:ext>
            </a:extLst>
          </p:cNvPr>
          <p:cNvSpPr/>
          <p:nvPr/>
        </p:nvSpPr>
        <p:spPr>
          <a:xfrm>
            <a:off x="6241838" y="4604691"/>
            <a:ext cx="695316" cy="20407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    필터</a:t>
            </a:r>
          </a:p>
        </p:txBody>
      </p:sp>
      <p:grpSp>
        <p:nvGrpSpPr>
          <p:cNvPr id="4125" name="그룹 4124">
            <a:extLst>
              <a:ext uri="{FF2B5EF4-FFF2-40B4-BE49-F238E27FC236}">
                <a16:creationId xmlns:a16="http://schemas.microsoft.com/office/drawing/2014/main" id="{5B4F74F6-D50F-8818-2293-53D0FC66C373}"/>
              </a:ext>
            </a:extLst>
          </p:cNvPr>
          <p:cNvGrpSpPr/>
          <p:nvPr/>
        </p:nvGrpSpPr>
        <p:grpSpPr>
          <a:xfrm>
            <a:off x="6377598" y="4673923"/>
            <a:ext cx="117978" cy="65609"/>
            <a:chOff x="4773621" y="1614488"/>
            <a:chExt cx="128101" cy="80962"/>
          </a:xfrm>
        </p:grpSpPr>
        <p:cxnSp>
          <p:nvCxnSpPr>
            <p:cNvPr id="4126" name="직선 연결선 4125">
              <a:extLst>
                <a:ext uri="{FF2B5EF4-FFF2-40B4-BE49-F238E27FC236}">
                  <a16:creationId xmlns:a16="http://schemas.microsoft.com/office/drawing/2014/main" id="{6CE55A58-546B-8240-EB30-CDE67ED8A0DE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14488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7" name="직선 연결선 4126">
              <a:extLst>
                <a:ext uri="{FF2B5EF4-FFF2-40B4-BE49-F238E27FC236}">
                  <a16:creationId xmlns:a16="http://schemas.microsoft.com/office/drawing/2014/main" id="{829AED3B-E064-066A-1F93-7B616DDDBD9E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56289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8" name="직선 연결선 4127">
              <a:extLst>
                <a:ext uri="{FF2B5EF4-FFF2-40B4-BE49-F238E27FC236}">
                  <a16:creationId xmlns:a16="http://schemas.microsoft.com/office/drawing/2014/main" id="{9A0296DD-9B9B-04A5-8908-45FBFF563447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95450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29" name="TextBox 4128">
            <a:extLst>
              <a:ext uri="{FF2B5EF4-FFF2-40B4-BE49-F238E27FC236}">
                <a16:creationId xmlns:a16="http://schemas.microsoft.com/office/drawing/2014/main" id="{5FE81734-4ACB-FA8D-67C4-719D4CA73DBB}"/>
              </a:ext>
            </a:extLst>
          </p:cNvPr>
          <p:cNvSpPr txBox="1"/>
          <p:nvPr/>
        </p:nvSpPr>
        <p:spPr>
          <a:xfrm>
            <a:off x="482116" y="7536813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인기 재료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4130" name="직선 연결선 4129">
            <a:extLst>
              <a:ext uri="{FF2B5EF4-FFF2-40B4-BE49-F238E27FC236}">
                <a16:creationId xmlns:a16="http://schemas.microsoft.com/office/drawing/2014/main" id="{06D5EAD7-A410-45E8-5A68-D66595B64C71}"/>
              </a:ext>
            </a:extLst>
          </p:cNvPr>
          <p:cNvCxnSpPr>
            <a:cxnSpLocks/>
          </p:cNvCxnSpPr>
          <p:nvPr/>
        </p:nvCxnSpPr>
        <p:spPr>
          <a:xfrm>
            <a:off x="625147" y="7846982"/>
            <a:ext cx="65741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뿌리부터 껍질까지 버릴 것 없는 영양만점 '두릅' [헬스키친] &lt; 현장탐방 &lt; 기획리포트 &lt; 기사본문 - 매경헬스">
            <a:extLst>
              <a:ext uri="{FF2B5EF4-FFF2-40B4-BE49-F238E27FC236}">
                <a16:creationId xmlns:a16="http://schemas.microsoft.com/office/drawing/2014/main" id="{88F80BD9-B947-A76D-6115-07971482BE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60" b="14560"/>
          <a:stretch/>
        </p:blipFill>
        <p:spPr bwMode="auto">
          <a:xfrm>
            <a:off x="554674" y="7959518"/>
            <a:ext cx="2155909" cy="995178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33" name="TextBox 4132">
            <a:extLst>
              <a:ext uri="{FF2B5EF4-FFF2-40B4-BE49-F238E27FC236}">
                <a16:creationId xmlns:a16="http://schemas.microsoft.com/office/drawing/2014/main" id="{FC9A4AEF-288D-5498-7E35-18E737F79D81}"/>
              </a:ext>
            </a:extLst>
          </p:cNvPr>
          <p:cNvSpPr txBox="1"/>
          <p:nvPr/>
        </p:nvSpPr>
        <p:spPr>
          <a:xfrm>
            <a:off x="476225" y="8978416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</a:t>
            </a:r>
          </a:p>
        </p:txBody>
      </p:sp>
      <p:sp>
        <p:nvSpPr>
          <p:cNvPr id="4134" name="TextBox 4133">
            <a:extLst>
              <a:ext uri="{FF2B5EF4-FFF2-40B4-BE49-F238E27FC236}">
                <a16:creationId xmlns:a16="http://schemas.microsoft.com/office/drawing/2014/main" id="{5CF1633F-1E52-7298-09D0-70999E915C8D}"/>
              </a:ext>
            </a:extLst>
          </p:cNvPr>
          <p:cNvSpPr txBox="1"/>
          <p:nvPr/>
        </p:nvSpPr>
        <p:spPr>
          <a:xfrm>
            <a:off x="482117" y="9177112"/>
            <a:ext cx="2193896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관련 레시피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총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200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건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기간 대비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언급량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20%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상승</a:t>
            </a:r>
          </a:p>
        </p:txBody>
      </p:sp>
      <p:grpSp>
        <p:nvGrpSpPr>
          <p:cNvPr id="4135" name="그룹 4134">
            <a:extLst>
              <a:ext uri="{FF2B5EF4-FFF2-40B4-BE49-F238E27FC236}">
                <a16:creationId xmlns:a16="http://schemas.microsoft.com/office/drawing/2014/main" id="{42C4508F-D7B5-181E-17BB-F88263B8CE0F}"/>
              </a:ext>
            </a:extLst>
          </p:cNvPr>
          <p:cNvGrpSpPr/>
          <p:nvPr/>
        </p:nvGrpSpPr>
        <p:grpSpPr>
          <a:xfrm>
            <a:off x="2697963" y="4541918"/>
            <a:ext cx="3209770" cy="329625"/>
            <a:chOff x="6421652" y="5212399"/>
            <a:chExt cx="885726" cy="116154"/>
          </a:xfrm>
        </p:grpSpPr>
        <p:sp>
          <p:nvSpPr>
            <p:cNvPr id="4138" name="사각형: 둥근 모서리 4137">
              <a:extLst>
                <a:ext uri="{FF2B5EF4-FFF2-40B4-BE49-F238E27FC236}">
                  <a16:creationId xmlns:a16="http://schemas.microsoft.com/office/drawing/2014/main" id="{358C70A1-5E29-1B29-335B-665FD4152D89}"/>
                </a:ext>
              </a:extLst>
            </p:cNvPr>
            <p:cNvSpPr/>
            <p:nvPr/>
          </p:nvSpPr>
          <p:spPr>
            <a:xfrm>
              <a:off x="6421652" y="5212399"/>
              <a:ext cx="885726" cy="116154"/>
            </a:xfrm>
            <a:prstGeom prst="roundRect">
              <a:avLst/>
            </a:prstGeom>
            <a:solidFill>
              <a:srgbClr val="4644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519"/>
            </a:p>
          </p:txBody>
        </p:sp>
        <p:sp>
          <p:nvSpPr>
            <p:cNvPr id="4139" name="사각형: 둥근 모서리 4138">
              <a:extLst>
                <a:ext uri="{FF2B5EF4-FFF2-40B4-BE49-F238E27FC236}">
                  <a16:creationId xmlns:a16="http://schemas.microsoft.com/office/drawing/2014/main" id="{37711D9B-E104-9AF3-CE92-89158054D7FA}"/>
                </a:ext>
              </a:extLst>
            </p:cNvPr>
            <p:cNvSpPr/>
            <p:nvPr/>
          </p:nvSpPr>
          <p:spPr>
            <a:xfrm>
              <a:off x="6640069" y="5231921"/>
              <a:ext cx="190610" cy="7191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이번주</a:t>
              </a:r>
            </a:p>
          </p:txBody>
        </p:sp>
        <p:sp>
          <p:nvSpPr>
            <p:cNvPr id="4140" name="사각형: 둥근 모서리 4139">
              <a:extLst>
                <a:ext uri="{FF2B5EF4-FFF2-40B4-BE49-F238E27FC236}">
                  <a16:creationId xmlns:a16="http://schemas.microsoft.com/office/drawing/2014/main" id="{F46A0671-1D4D-F432-D50A-6B1E98DC2F31}"/>
                </a:ext>
              </a:extLst>
            </p:cNvPr>
            <p:cNvSpPr/>
            <p:nvPr/>
          </p:nvSpPr>
          <p:spPr>
            <a:xfrm>
              <a:off x="6839597" y="5231921"/>
              <a:ext cx="214801" cy="7191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b="1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이번달</a:t>
              </a:r>
              <a:endPara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141" name="사각형: 둥근 모서리 4140">
              <a:extLst>
                <a:ext uri="{FF2B5EF4-FFF2-40B4-BE49-F238E27FC236}">
                  <a16:creationId xmlns:a16="http://schemas.microsoft.com/office/drawing/2014/main" id="{80A02E25-A609-BD33-31D2-12840897825A}"/>
                </a:ext>
              </a:extLst>
            </p:cNvPr>
            <p:cNvSpPr/>
            <p:nvPr/>
          </p:nvSpPr>
          <p:spPr>
            <a:xfrm>
              <a:off x="6441200" y="5231921"/>
              <a:ext cx="190610" cy="7191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오늘</a:t>
              </a:r>
            </a:p>
          </p:txBody>
        </p:sp>
      </p:grpSp>
      <p:pic>
        <p:nvPicPr>
          <p:cNvPr id="1030" name="Picture 6" descr="간단한 밑반찬 머위나물 무침">
            <a:extLst>
              <a:ext uri="{FF2B5EF4-FFF2-40B4-BE49-F238E27FC236}">
                <a16:creationId xmlns:a16="http://schemas.microsoft.com/office/drawing/2014/main" id="{9D130E68-676C-5F3B-C6F0-B94B0C2B9E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1" r="6283" b="37665"/>
          <a:stretch/>
        </p:blipFill>
        <p:spPr bwMode="auto">
          <a:xfrm>
            <a:off x="2838526" y="7964934"/>
            <a:ext cx="2147404" cy="983243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43" name="TextBox 4142">
            <a:extLst>
              <a:ext uri="{FF2B5EF4-FFF2-40B4-BE49-F238E27FC236}">
                <a16:creationId xmlns:a16="http://schemas.microsoft.com/office/drawing/2014/main" id="{58D97D61-7E5A-FA97-0CD5-0A26BCC3DB25}"/>
              </a:ext>
            </a:extLst>
          </p:cNvPr>
          <p:cNvSpPr txBox="1"/>
          <p:nvPr/>
        </p:nvSpPr>
        <p:spPr>
          <a:xfrm>
            <a:off x="2797896" y="8978416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머위나물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44" name="TextBox 4143">
            <a:extLst>
              <a:ext uri="{FF2B5EF4-FFF2-40B4-BE49-F238E27FC236}">
                <a16:creationId xmlns:a16="http://schemas.microsoft.com/office/drawing/2014/main" id="{5C9FE9CB-4C85-491C-88E9-518C8D764D2F}"/>
              </a:ext>
            </a:extLst>
          </p:cNvPr>
          <p:cNvSpPr txBox="1"/>
          <p:nvPr/>
        </p:nvSpPr>
        <p:spPr>
          <a:xfrm>
            <a:off x="2803788" y="9177112"/>
            <a:ext cx="2113392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관련 레시피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총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150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건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기간 대비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언급량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16%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상승</a:t>
            </a:r>
          </a:p>
        </p:txBody>
      </p:sp>
      <p:pic>
        <p:nvPicPr>
          <p:cNvPr id="4147" name="그림 4146">
            <a:extLst>
              <a:ext uri="{FF2B5EF4-FFF2-40B4-BE49-F238E27FC236}">
                <a16:creationId xmlns:a16="http://schemas.microsoft.com/office/drawing/2014/main" id="{EE8DDF80-5178-0940-1FF6-F5EA485537D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5725"/>
          <a:stretch/>
        </p:blipFill>
        <p:spPr>
          <a:xfrm>
            <a:off x="5092399" y="7961200"/>
            <a:ext cx="2106917" cy="990711"/>
          </a:xfrm>
          <a:prstGeom prst="rect">
            <a:avLst/>
          </a:prstGeom>
        </p:spPr>
      </p:pic>
      <p:sp>
        <p:nvSpPr>
          <p:cNvPr id="4148" name="TextBox 4147">
            <a:extLst>
              <a:ext uri="{FF2B5EF4-FFF2-40B4-BE49-F238E27FC236}">
                <a16:creationId xmlns:a16="http://schemas.microsoft.com/office/drawing/2014/main" id="{E8459FCC-18B9-877A-4400-FB5DD3C7F2E2}"/>
              </a:ext>
            </a:extLst>
          </p:cNvPr>
          <p:cNvSpPr txBox="1"/>
          <p:nvPr/>
        </p:nvSpPr>
        <p:spPr>
          <a:xfrm>
            <a:off x="4984924" y="8987808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도다리</a:t>
            </a:r>
          </a:p>
        </p:txBody>
      </p:sp>
      <p:sp>
        <p:nvSpPr>
          <p:cNvPr id="4149" name="TextBox 4148">
            <a:extLst>
              <a:ext uri="{FF2B5EF4-FFF2-40B4-BE49-F238E27FC236}">
                <a16:creationId xmlns:a16="http://schemas.microsoft.com/office/drawing/2014/main" id="{199A46C0-F71D-BC9F-36E5-7383AAB02554}"/>
              </a:ext>
            </a:extLst>
          </p:cNvPr>
          <p:cNvSpPr txBox="1"/>
          <p:nvPr/>
        </p:nvSpPr>
        <p:spPr>
          <a:xfrm>
            <a:off x="4990816" y="9186505"/>
            <a:ext cx="2113392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관련 레시피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총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44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건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기간 대비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언급량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8%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상승</a:t>
            </a:r>
          </a:p>
        </p:txBody>
      </p:sp>
      <p:sp>
        <p:nvSpPr>
          <p:cNvPr id="4150" name="사각형: 둥근 모서리 4149">
            <a:extLst>
              <a:ext uri="{FF2B5EF4-FFF2-40B4-BE49-F238E27FC236}">
                <a16:creationId xmlns:a16="http://schemas.microsoft.com/office/drawing/2014/main" id="{B3C8AE55-2C96-E4ED-37DB-1590C3777993}"/>
              </a:ext>
            </a:extLst>
          </p:cNvPr>
          <p:cNvSpPr/>
          <p:nvPr/>
        </p:nvSpPr>
        <p:spPr>
          <a:xfrm>
            <a:off x="5026043" y="4597381"/>
            <a:ext cx="778414" cy="20407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기간선택</a:t>
            </a:r>
          </a:p>
        </p:txBody>
      </p:sp>
      <p:grpSp>
        <p:nvGrpSpPr>
          <p:cNvPr id="1031" name="그룹 1030">
            <a:extLst>
              <a:ext uri="{FF2B5EF4-FFF2-40B4-BE49-F238E27FC236}">
                <a16:creationId xmlns:a16="http://schemas.microsoft.com/office/drawing/2014/main" id="{E10037CB-4042-86CA-2523-F92C1F6544A6}"/>
              </a:ext>
            </a:extLst>
          </p:cNvPr>
          <p:cNvGrpSpPr/>
          <p:nvPr/>
        </p:nvGrpSpPr>
        <p:grpSpPr>
          <a:xfrm>
            <a:off x="3883297" y="7480173"/>
            <a:ext cx="3209770" cy="329625"/>
            <a:chOff x="6421652" y="5212399"/>
            <a:chExt cx="885726" cy="116154"/>
          </a:xfrm>
        </p:grpSpPr>
        <p:sp>
          <p:nvSpPr>
            <p:cNvPr id="1033" name="사각형: 둥근 모서리 1032">
              <a:extLst>
                <a:ext uri="{FF2B5EF4-FFF2-40B4-BE49-F238E27FC236}">
                  <a16:creationId xmlns:a16="http://schemas.microsoft.com/office/drawing/2014/main" id="{B8332844-FCD7-C13E-236E-219A56442468}"/>
                </a:ext>
              </a:extLst>
            </p:cNvPr>
            <p:cNvSpPr/>
            <p:nvPr/>
          </p:nvSpPr>
          <p:spPr>
            <a:xfrm>
              <a:off x="6421652" y="5212399"/>
              <a:ext cx="885726" cy="116154"/>
            </a:xfrm>
            <a:prstGeom prst="roundRect">
              <a:avLst/>
            </a:prstGeom>
            <a:solidFill>
              <a:srgbClr val="4644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519"/>
            </a:p>
          </p:txBody>
        </p:sp>
        <p:sp>
          <p:nvSpPr>
            <p:cNvPr id="1034" name="사각형: 둥근 모서리 1033">
              <a:extLst>
                <a:ext uri="{FF2B5EF4-FFF2-40B4-BE49-F238E27FC236}">
                  <a16:creationId xmlns:a16="http://schemas.microsoft.com/office/drawing/2014/main" id="{847293D1-0604-4B28-2A3F-55F5D6BA3A25}"/>
                </a:ext>
              </a:extLst>
            </p:cNvPr>
            <p:cNvSpPr/>
            <p:nvPr/>
          </p:nvSpPr>
          <p:spPr>
            <a:xfrm>
              <a:off x="6640069" y="5231921"/>
              <a:ext cx="190610" cy="7191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이번주</a:t>
              </a:r>
            </a:p>
          </p:txBody>
        </p:sp>
        <p:sp>
          <p:nvSpPr>
            <p:cNvPr id="1035" name="사각형: 둥근 모서리 1034">
              <a:extLst>
                <a:ext uri="{FF2B5EF4-FFF2-40B4-BE49-F238E27FC236}">
                  <a16:creationId xmlns:a16="http://schemas.microsoft.com/office/drawing/2014/main" id="{5CE82225-20E7-2AB4-8523-035C5A392CD6}"/>
                </a:ext>
              </a:extLst>
            </p:cNvPr>
            <p:cNvSpPr/>
            <p:nvPr/>
          </p:nvSpPr>
          <p:spPr>
            <a:xfrm>
              <a:off x="6839597" y="5231921"/>
              <a:ext cx="214801" cy="7191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b="1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이번달</a:t>
              </a:r>
              <a:endPara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1036" name="사각형: 둥근 모서리 1035">
              <a:extLst>
                <a:ext uri="{FF2B5EF4-FFF2-40B4-BE49-F238E27FC236}">
                  <a16:creationId xmlns:a16="http://schemas.microsoft.com/office/drawing/2014/main" id="{4209C29F-F68A-3C72-0E8F-8D58555FFE11}"/>
                </a:ext>
              </a:extLst>
            </p:cNvPr>
            <p:cNvSpPr/>
            <p:nvPr/>
          </p:nvSpPr>
          <p:spPr>
            <a:xfrm>
              <a:off x="6441200" y="5231921"/>
              <a:ext cx="190610" cy="7191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오늘</a:t>
              </a:r>
            </a:p>
          </p:txBody>
        </p:sp>
      </p:grpSp>
      <p:sp>
        <p:nvSpPr>
          <p:cNvPr id="1037" name="사각형: 둥근 모서리 1036">
            <a:extLst>
              <a:ext uri="{FF2B5EF4-FFF2-40B4-BE49-F238E27FC236}">
                <a16:creationId xmlns:a16="http://schemas.microsoft.com/office/drawing/2014/main" id="{B99C7D86-3772-411D-8950-140A6460AB5F}"/>
              </a:ext>
            </a:extLst>
          </p:cNvPr>
          <p:cNvSpPr/>
          <p:nvPr/>
        </p:nvSpPr>
        <p:spPr>
          <a:xfrm>
            <a:off x="6211377" y="7535637"/>
            <a:ext cx="778414" cy="20407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비교 기간선택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76EBA81D-7001-8A11-3392-A3538DE142A5}"/>
              </a:ext>
            </a:extLst>
          </p:cNvPr>
          <p:cNvSpPr txBox="1"/>
          <p:nvPr/>
        </p:nvSpPr>
        <p:spPr>
          <a:xfrm>
            <a:off x="494006" y="12442881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특정 재료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키워드 기반으로 인기 레시피 찾아보기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1039" name="직선 연결선 1038">
            <a:extLst>
              <a:ext uri="{FF2B5EF4-FFF2-40B4-BE49-F238E27FC236}">
                <a16:creationId xmlns:a16="http://schemas.microsoft.com/office/drawing/2014/main" id="{78816468-7E08-D89D-F464-9E0522D0ED52}"/>
              </a:ext>
            </a:extLst>
          </p:cNvPr>
          <p:cNvCxnSpPr>
            <a:cxnSpLocks/>
          </p:cNvCxnSpPr>
          <p:nvPr/>
        </p:nvCxnSpPr>
        <p:spPr>
          <a:xfrm>
            <a:off x="637038" y="12753049"/>
            <a:ext cx="65741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0" name="사각형: 둥근 모서리 1039">
            <a:extLst>
              <a:ext uri="{FF2B5EF4-FFF2-40B4-BE49-F238E27FC236}">
                <a16:creationId xmlns:a16="http://schemas.microsoft.com/office/drawing/2014/main" id="{BAA33920-E4E0-C49F-8EBB-182F73C1C661}"/>
              </a:ext>
            </a:extLst>
          </p:cNvPr>
          <p:cNvSpPr/>
          <p:nvPr/>
        </p:nvSpPr>
        <p:spPr>
          <a:xfrm>
            <a:off x="612201" y="12870237"/>
            <a:ext cx="4713603" cy="310174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790F0112-204F-C78D-E6EB-A4C235E47E5D}"/>
              </a:ext>
            </a:extLst>
          </p:cNvPr>
          <p:cNvSpPr txBox="1"/>
          <p:nvPr/>
        </p:nvSpPr>
        <p:spPr>
          <a:xfrm>
            <a:off x="638144" y="12880869"/>
            <a:ext cx="3738548" cy="24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[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사용자 닉네임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]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님이 관심있는 재료나 키워드를 입력하세요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A690E236-00CA-ED1D-0CF5-A1F545EE71DE}"/>
              </a:ext>
            </a:extLst>
          </p:cNvPr>
          <p:cNvSpPr txBox="1"/>
          <p:nvPr/>
        </p:nvSpPr>
        <p:spPr>
          <a:xfrm>
            <a:off x="490620" y="10079432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인기 테마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1043" name="직선 연결선 1042">
            <a:extLst>
              <a:ext uri="{FF2B5EF4-FFF2-40B4-BE49-F238E27FC236}">
                <a16:creationId xmlns:a16="http://schemas.microsoft.com/office/drawing/2014/main" id="{1987C08D-ED96-A4D8-1FB6-31D4B1B9DA73}"/>
              </a:ext>
            </a:extLst>
          </p:cNvPr>
          <p:cNvCxnSpPr>
            <a:cxnSpLocks/>
          </p:cNvCxnSpPr>
          <p:nvPr/>
        </p:nvCxnSpPr>
        <p:spPr>
          <a:xfrm>
            <a:off x="633652" y="10389601"/>
            <a:ext cx="65741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5" name="TextBox 1044">
            <a:extLst>
              <a:ext uri="{FF2B5EF4-FFF2-40B4-BE49-F238E27FC236}">
                <a16:creationId xmlns:a16="http://schemas.microsoft.com/office/drawing/2014/main" id="{24AA85A6-CF35-F631-D925-A90A49F6C9E5}"/>
              </a:ext>
            </a:extLst>
          </p:cNvPr>
          <p:cNvSpPr txBox="1"/>
          <p:nvPr/>
        </p:nvSpPr>
        <p:spPr>
          <a:xfrm>
            <a:off x="484731" y="11521036"/>
            <a:ext cx="2116622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저속노화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47D202A2-02F8-ECFF-1568-1E4DAB2C546C}"/>
              </a:ext>
            </a:extLst>
          </p:cNvPr>
          <p:cNvSpPr txBox="1"/>
          <p:nvPr/>
        </p:nvSpPr>
        <p:spPr>
          <a:xfrm>
            <a:off x="490621" y="11719732"/>
            <a:ext cx="1833662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관련 레시피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총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403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건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기간 대비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언급량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21%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상승</a:t>
            </a: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6ED1BD7A-5778-5DE9-C34B-386FE9AB3DC9}"/>
              </a:ext>
            </a:extLst>
          </p:cNvPr>
          <p:cNvSpPr txBox="1"/>
          <p:nvPr/>
        </p:nvSpPr>
        <p:spPr>
          <a:xfrm>
            <a:off x="2806402" y="11521036"/>
            <a:ext cx="1955458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어버이날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CD832D6B-0AD6-D04C-C850-F80ED42F9E0E}"/>
              </a:ext>
            </a:extLst>
          </p:cNvPr>
          <p:cNvSpPr txBox="1"/>
          <p:nvPr/>
        </p:nvSpPr>
        <p:spPr>
          <a:xfrm>
            <a:off x="2812292" y="11719732"/>
            <a:ext cx="1833662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관련 레시피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총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205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건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기간 대비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언급량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15%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상승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0011D2B8-B3E2-6813-250A-0ED5891210FD}"/>
              </a:ext>
            </a:extLst>
          </p:cNvPr>
          <p:cNvSpPr txBox="1"/>
          <p:nvPr/>
        </p:nvSpPr>
        <p:spPr>
          <a:xfrm>
            <a:off x="4993428" y="11530428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기관지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5FF6C558-28B6-D4AF-2F55-05A1FE606F1C}"/>
              </a:ext>
            </a:extLst>
          </p:cNvPr>
          <p:cNvSpPr txBox="1"/>
          <p:nvPr/>
        </p:nvSpPr>
        <p:spPr>
          <a:xfrm>
            <a:off x="4999319" y="11729125"/>
            <a:ext cx="1833662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관련 레시피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총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654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건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기간 대비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언급량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7%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상승</a:t>
            </a:r>
          </a:p>
        </p:txBody>
      </p:sp>
      <p:grpSp>
        <p:nvGrpSpPr>
          <p:cNvPr id="1059" name="그룹 1058">
            <a:extLst>
              <a:ext uri="{FF2B5EF4-FFF2-40B4-BE49-F238E27FC236}">
                <a16:creationId xmlns:a16="http://schemas.microsoft.com/office/drawing/2014/main" id="{BE2C4957-E7D0-C140-3BB2-67791F488C46}"/>
              </a:ext>
            </a:extLst>
          </p:cNvPr>
          <p:cNvGrpSpPr/>
          <p:nvPr/>
        </p:nvGrpSpPr>
        <p:grpSpPr>
          <a:xfrm>
            <a:off x="3906436" y="10022793"/>
            <a:ext cx="3209770" cy="329625"/>
            <a:chOff x="6421652" y="5212399"/>
            <a:chExt cx="885726" cy="116154"/>
          </a:xfrm>
        </p:grpSpPr>
        <p:sp>
          <p:nvSpPr>
            <p:cNvPr id="1060" name="사각형: 둥근 모서리 1059">
              <a:extLst>
                <a:ext uri="{FF2B5EF4-FFF2-40B4-BE49-F238E27FC236}">
                  <a16:creationId xmlns:a16="http://schemas.microsoft.com/office/drawing/2014/main" id="{61688E23-C240-EA74-FC3A-D438C0439507}"/>
                </a:ext>
              </a:extLst>
            </p:cNvPr>
            <p:cNvSpPr/>
            <p:nvPr/>
          </p:nvSpPr>
          <p:spPr>
            <a:xfrm>
              <a:off x="6421652" y="5212399"/>
              <a:ext cx="885726" cy="116154"/>
            </a:xfrm>
            <a:prstGeom prst="roundRect">
              <a:avLst/>
            </a:prstGeom>
            <a:solidFill>
              <a:srgbClr val="4644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519"/>
            </a:p>
          </p:txBody>
        </p:sp>
        <p:sp>
          <p:nvSpPr>
            <p:cNvPr id="1061" name="사각형: 둥근 모서리 1060">
              <a:extLst>
                <a:ext uri="{FF2B5EF4-FFF2-40B4-BE49-F238E27FC236}">
                  <a16:creationId xmlns:a16="http://schemas.microsoft.com/office/drawing/2014/main" id="{711A7C60-642B-8599-9587-297451E69C0B}"/>
                </a:ext>
              </a:extLst>
            </p:cNvPr>
            <p:cNvSpPr/>
            <p:nvPr/>
          </p:nvSpPr>
          <p:spPr>
            <a:xfrm>
              <a:off x="6640069" y="5231921"/>
              <a:ext cx="190610" cy="7191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이번주</a:t>
              </a:r>
            </a:p>
          </p:txBody>
        </p:sp>
        <p:sp>
          <p:nvSpPr>
            <p:cNvPr id="1062" name="사각형: 둥근 모서리 1061">
              <a:extLst>
                <a:ext uri="{FF2B5EF4-FFF2-40B4-BE49-F238E27FC236}">
                  <a16:creationId xmlns:a16="http://schemas.microsoft.com/office/drawing/2014/main" id="{BBFA9B5A-454C-0B00-414C-A06A8F0D6296}"/>
                </a:ext>
              </a:extLst>
            </p:cNvPr>
            <p:cNvSpPr/>
            <p:nvPr/>
          </p:nvSpPr>
          <p:spPr>
            <a:xfrm>
              <a:off x="6839597" y="5231921"/>
              <a:ext cx="214801" cy="7191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b="1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이번달</a:t>
              </a:r>
              <a:endPara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1063" name="사각형: 둥근 모서리 1062">
              <a:extLst>
                <a:ext uri="{FF2B5EF4-FFF2-40B4-BE49-F238E27FC236}">
                  <a16:creationId xmlns:a16="http://schemas.microsoft.com/office/drawing/2014/main" id="{E140CFC6-A8D6-623E-BCC1-C7A2E0B18D30}"/>
                </a:ext>
              </a:extLst>
            </p:cNvPr>
            <p:cNvSpPr/>
            <p:nvPr/>
          </p:nvSpPr>
          <p:spPr>
            <a:xfrm>
              <a:off x="6441200" y="5231921"/>
              <a:ext cx="190610" cy="7191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오늘</a:t>
              </a:r>
            </a:p>
          </p:txBody>
        </p:sp>
      </p:grpSp>
      <p:sp>
        <p:nvSpPr>
          <p:cNvPr id="1064" name="사각형: 둥근 모서리 1063">
            <a:extLst>
              <a:ext uri="{FF2B5EF4-FFF2-40B4-BE49-F238E27FC236}">
                <a16:creationId xmlns:a16="http://schemas.microsoft.com/office/drawing/2014/main" id="{88241D28-B0F0-B7E7-F680-ED17FB17F042}"/>
              </a:ext>
            </a:extLst>
          </p:cNvPr>
          <p:cNvSpPr/>
          <p:nvPr/>
        </p:nvSpPr>
        <p:spPr>
          <a:xfrm>
            <a:off x="6234515" y="10078256"/>
            <a:ext cx="778414" cy="20407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기간선택</a:t>
            </a:r>
          </a:p>
        </p:txBody>
      </p:sp>
      <p:pic>
        <p:nvPicPr>
          <p:cNvPr id="1070" name="Picture 10" descr="저속 노화 식단을 아시나요? 느리게 나이들 수 있는 비결 | KB의 생각">
            <a:extLst>
              <a:ext uri="{FF2B5EF4-FFF2-40B4-BE49-F238E27FC236}">
                <a16:creationId xmlns:a16="http://schemas.microsoft.com/office/drawing/2014/main" id="{1D00E789-670E-18F0-A777-C1679C744A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61" b="19099"/>
          <a:stretch/>
        </p:blipFill>
        <p:spPr bwMode="auto">
          <a:xfrm>
            <a:off x="558670" y="10473412"/>
            <a:ext cx="2166102" cy="1046087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1" name="Picture 12" descr="어버이날 특별한요리/미나리강회">
            <a:extLst>
              <a:ext uri="{FF2B5EF4-FFF2-40B4-BE49-F238E27FC236}">
                <a16:creationId xmlns:a16="http://schemas.microsoft.com/office/drawing/2014/main" id="{13CDAF50-21E3-8BC1-3675-6074417BB6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5" t="16851" r="4004" b="23671"/>
          <a:stretch/>
        </p:blipFill>
        <p:spPr bwMode="auto">
          <a:xfrm>
            <a:off x="2842149" y="10485216"/>
            <a:ext cx="2142777" cy="101628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2" name="그림 1071">
            <a:extLst>
              <a:ext uri="{FF2B5EF4-FFF2-40B4-BE49-F238E27FC236}">
                <a16:creationId xmlns:a16="http://schemas.microsoft.com/office/drawing/2014/main" id="{83A39B7C-8BB8-935E-E64B-C7568D63B717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r="7003"/>
          <a:stretch/>
        </p:blipFill>
        <p:spPr>
          <a:xfrm>
            <a:off x="5092399" y="10499415"/>
            <a:ext cx="2106917" cy="1006071"/>
          </a:xfrm>
          <a:prstGeom prst="rect">
            <a:avLst/>
          </a:prstGeom>
        </p:spPr>
      </p:pic>
      <p:sp>
        <p:nvSpPr>
          <p:cNvPr id="1074" name="타원 1073">
            <a:extLst>
              <a:ext uri="{FF2B5EF4-FFF2-40B4-BE49-F238E27FC236}">
                <a16:creationId xmlns:a16="http://schemas.microsoft.com/office/drawing/2014/main" id="{B12810E3-9450-91F6-FBAB-06F497082AFD}"/>
              </a:ext>
            </a:extLst>
          </p:cNvPr>
          <p:cNvSpPr/>
          <p:nvPr/>
        </p:nvSpPr>
        <p:spPr>
          <a:xfrm>
            <a:off x="1852814" y="5738719"/>
            <a:ext cx="289997" cy="289997"/>
          </a:xfrm>
          <a:prstGeom prst="ellipse">
            <a:avLst/>
          </a:prstGeom>
          <a:solidFill>
            <a:schemeClr val="tx1">
              <a:lumMod val="75000"/>
              <a:lumOff val="2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pic>
        <p:nvPicPr>
          <p:cNvPr id="1083" name="그림 1082">
            <a:extLst>
              <a:ext uri="{FF2B5EF4-FFF2-40B4-BE49-F238E27FC236}">
                <a16:creationId xmlns:a16="http://schemas.microsoft.com/office/drawing/2014/main" id="{CF06080F-B9E8-C63A-3F07-A17813CC6837}"/>
              </a:ext>
            </a:extLst>
          </p:cNvPr>
          <p:cNvPicPr>
            <a:picLocks noChangeAspect="1"/>
          </p:cNvPicPr>
          <p:nvPr/>
        </p:nvPicPr>
        <p:blipFill>
          <a:blip r:embed="rId15">
            <a:lum bright="70000" contrast="-70000"/>
          </a:blip>
          <a:stretch>
            <a:fillRect/>
          </a:stretch>
        </p:blipFill>
        <p:spPr>
          <a:xfrm>
            <a:off x="1903669" y="5829052"/>
            <a:ext cx="188287" cy="136037"/>
          </a:xfrm>
          <a:prstGeom prst="rect">
            <a:avLst/>
          </a:prstGeom>
        </p:spPr>
      </p:pic>
      <p:grpSp>
        <p:nvGrpSpPr>
          <p:cNvPr id="1086" name="그룹 1085">
            <a:extLst>
              <a:ext uri="{FF2B5EF4-FFF2-40B4-BE49-F238E27FC236}">
                <a16:creationId xmlns:a16="http://schemas.microsoft.com/office/drawing/2014/main" id="{EEC421A4-F0B7-79C9-D813-43314A84863E}"/>
              </a:ext>
            </a:extLst>
          </p:cNvPr>
          <p:cNvGrpSpPr/>
          <p:nvPr/>
        </p:nvGrpSpPr>
        <p:grpSpPr>
          <a:xfrm>
            <a:off x="4410001" y="5760459"/>
            <a:ext cx="242037" cy="249666"/>
            <a:chOff x="3474331" y="2985865"/>
            <a:chExt cx="230207" cy="230207"/>
          </a:xfrm>
        </p:grpSpPr>
        <p:sp>
          <p:nvSpPr>
            <p:cNvPr id="1084" name="타원 1083">
              <a:extLst>
                <a:ext uri="{FF2B5EF4-FFF2-40B4-BE49-F238E27FC236}">
                  <a16:creationId xmlns:a16="http://schemas.microsoft.com/office/drawing/2014/main" id="{A9C3D477-E526-F74F-74D7-47E1455F2251}"/>
                </a:ext>
              </a:extLst>
            </p:cNvPr>
            <p:cNvSpPr/>
            <p:nvPr/>
          </p:nvSpPr>
          <p:spPr>
            <a:xfrm>
              <a:off x="3474331" y="2985865"/>
              <a:ext cx="230207" cy="23020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72027240-4A13-418D-4989-7BBBB3C935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lum bright="70000" contrast="-70000"/>
            </a:blip>
            <a:stretch>
              <a:fillRect/>
            </a:stretch>
          </p:blipFill>
          <p:spPr>
            <a:xfrm>
              <a:off x="3514701" y="3057575"/>
              <a:ext cx="149467" cy="107990"/>
            </a:xfrm>
            <a:prstGeom prst="rect">
              <a:avLst/>
            </a:prstGeom>
          </p:spPr>
        </p:pic>
      </p:grpSp>
      <p:sp>
        <p:nvSpPr>
          <p:cNvPr id="1087" name="TextBox 1086">
            <a:extLst>
              <a:ext uri="{FF2B5EF4-FFF2-40B4-BE49-F238E27FC236}">
                <a16:creationId xmlns:a16="http://schemas.microsoft.com/office/drawing/2014/main" id="{4C8FA251-3467-FF32-FE67-D8D45C9A0D76}"/>
              </a:ext>
            </a:extLst>
          </p:cNvPr>
          <p:cNvSpPr txBox="1"/>
          <p:nvPr/>
        </p:nvSpPr>
        <p:spPr>
          <a:xfrm>
            <a:off x="263299" y="4705670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ⓑ</a:t>
            </a:r>
          </a:p>
        </p:txBody>
      </p:sp>
      <p:sp>
        <p:nvSpPr>
          <p:cNvPr id="4160" name="TextBox 4159">
            <a:extLst>
              <a:ext uri="{FF2B5EF4-FFF2-40B4-BE49-F238E27FC236}">
                <a16:creationId xmlns:a16="http://schemas.microsoft.com/office/drawing/2014/main" id="{D4749DA9-7811-0C72-669C-97D3BAD3BBB8}"/>
              </a:ext>
            </a:extLst>
          </p:cNvPr>
          <p:cNvSpPr txBox="1"/>
          <p:nvPr/>
        </p:nvSpPr>
        <p:spPr>
          <a:xfrm>
            <a:off x="234307" y="7535637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Ⓒ</a:t>
            </a:r>
          </a:p>
        </p:txBody>
      </p:sp>
      <p:sp>
        <p:nvSpPr>
          <p:cNvPr id="4161" name="TextBox 4160">
            <a:extLst>
              <a:ext uri="{FF2B5EF4-FFF2-40B4-BE49-F238E27FC236}">
                <a16:creationId xmlns:a16="http://schemas.microsoft.com/office/drawing/2014/main" id="{D66027D6-7511-496F-1E63-C99720543161}"/>
              </a:ext>
            </a:extLst>
          </p:cNvPr>
          <p:cNvSpPr txBox="1"/>
          <p:nvPr/>
        </p:nvSpPr>
        <p:spPr>
          <a:xfrm>
            <a:off x="147087" y="10136939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ⓓ</a:t>
            </a:r>
          </a:p>
        </p:txBody>
      </p:sp>
      <p:sp>
        <p:nvSpPr>
          <p:cNvPr id="4162" name="TextBox 4161">
            <a:extLst>
              <a:ext uri="{FF2B5EF4-FFF2-40B4-BE49-F238E27FC236}">
                <a16:creationId xmlns:a16="http://schemas.microsoft.com/office/drawing/2014/main" id="{A5519E20-7E4C-EBBD-37D4-55435942354F}"/>
              </a:ext>
            </a:extLst>
          </p:cNvPr>
          <p:cNvSpPr txBox="1"/>
          <p:nvPr/>
        </p:nvSpPr>
        <p:spPr>
          <a:xfrm>
            <a:off x="195823" y="12480174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ⓔ</a:t>
            </a:r>
          </a:p>
        </p:txBody>
      </p:sp>
      <p:sp>
        <p:nvSpPr>
          <p:cNvPr id="4163" name="TextBox 4162">
            <a:extLst>
              <a:ext uri="{FF2B5EF4-FFF2-40B4-BE49-F238E27FC236}">
                <a16:creationId xmlns:a16="http://schemas.microsoft.com/office/drawing/2014/main" id="{EADF2EFF-92B8-99A6-800B-8B1FC6904877}"/>
              </a:ext>
            </a:extLst>
          </p:cNvPr>
          <p:cNvSpPr txBox="1"/>
          <p:nvPr/>
        </p:nvSpPr>
        <p:spPr>
          <a:xfrm>
            <a:off x="-1" y="15936294"/>
            <a:ext cx="7199313" cy="6064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홈페이지 메뉴 네비게이션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비로그인 상태 가능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현재 페이지는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페이지의 첫 페이지에 해당한다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</a:p>
          <a:p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386" dirty="0">
                <a:solidFill>
                  <a:srgbClr val="FF0000"/>
                </a:solidFill>
                <a:highlight>
                  <a:srgbClr val="FFFF00"/>
                </a:highlight>
              </a:rPr>
              <a:t>ⓑ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전체 인기 레시피	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like+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댓글수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기준으로 자동 정렬 (최근 24시간 기준을 기본으로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셋팅하되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위에 정렬 기준인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오늘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이번주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이번달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기간선택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얘는 달력 팝업 뜨도록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)’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을 하게 되면 기간 기준을 새로 설정한다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혹은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필터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앞에서도 사용했던 필터와 동일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기능을 클릭하면 앞에서 처럼 팝업창이 뜨며 여러가지를 선택할 수 있는데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해당 기준으로 필터가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되기도한다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하단에는 레시피의 썸네일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제목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좋아요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댓글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레시피의 특징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두어가지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사야할재료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가능한 재료 등을 나열한다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그리고 게시글의 나열은 옆으로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쭈욱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늘어져있는데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드래그를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옆으로하면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새로운 게시글이 계속 나오는 형태이다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이걸 뭐라하지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?)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그리고 썸네일 그림 위에는 완료하기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공유하기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기록하기 버튼이 있다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앞서 정의한 기능과 동일하다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endParaRPr lang="en-US" altLang="ko-KR" sz="1386" dirty="0"/>
          </a:p>
          <a:p>
            <a:r>
              <a:rPr lang="ko-KR" altLang="en-US" sz="1386" dirty="0">
                <a:solidFill>
                  <a:srgbClr val="FF0000"/>
                </a:solidFill>
                <a:highlight>
                  <a:srgbClr val="FFFF00"/>
                </a:highlight>
              </a:rPr>
              <a:t>Ⓒ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인기 재료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	</a:t>
            </a: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레시피 본문들 중 재료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언급량이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전주 대비 몇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%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상승했는지를 기반으로 인기재료를 선정한다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기간은 어제대비 오늘을 할 수 도 있고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저번주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대비 이번주를 할 수도 있고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저번달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대비 이번달을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할수도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있다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달력 팝업을 띄어 비교 기간 선택도 할 수 있다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언급량이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높았던 순으로 재료를 나열한다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재료의 이름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관련 레시피 건수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기간대비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언급량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정도만 정보를 기술한다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그리고 게시글의 나열은 옆으로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쭈욱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늘어져있는데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드래그를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옆으로하면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새로운 게시글이 계속 나오는 형태이다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이걸 뭐라하지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?) </a:t>
            </a:r>
          </a:p>
          <a:p>
            <a:endParaRPr lang="en-US" altLang="ko-KR" sz="1386" dirty="0"/>
          </a:p>
          <a:p>
            <a:r>
              <a:rPr lang="ko-KR" altLang="en-US" sz="1386" dirty="0">
                <a:solidFill>
                  <a:srgbClr val="FF0000"/>
                </a:solidFill>
                <a:highlight>
                  <a:srgbClr val="FFFF00"/>
                </a:highlight>
              </a:rPr>
              <a:t>ⓓ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인기 테마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	</a:t>
            </a: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 본문들 중 테마와 관련된 키워드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보통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필터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에 들어있던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요리효능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’,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요리영양분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’,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요리 식사 대상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‘,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요리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TPO’,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요리스타일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과 관련된 모든 키워드들이 고려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언급량이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전주 대비 몇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%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상승했는지를 기반으로 인기재료를 선정한다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기간은 어제대비 오늘을 할 수 도 있고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저번주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대비 이번주를 할 수도 있고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저번달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대비 이번달을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할수도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있다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달력 팝업을 띄어 비교 기간 선택도 할 수 있다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언급량이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높았던 순으로 재료를 나열한다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재료의 이름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관련 레시피 건수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기간대비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언급량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정도만 정보를 기술한다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그리고 게시글의 나열은 옆으로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쭈욱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늘어져있는데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드래그를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옆으로하면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새로운 게시글이 계속 나오는 형태이다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이걸 뭐라하지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?) </a:t>
            </a:r>
          </a:p>
          <a:p>
            <a:pPr marL="215976" indent="-215976">
              <a:buFontTx/>
              <a:buChar char="-"/>
            </a:pPr>
            <a:endParaRPr lang="en-US" altLang="ko-KR" sz="1386" dirty="0"/>
          </a:p>
          <a:p>
            <a:r>
              <a:rPr lang="ko-KR" altLang="en-US" sz="1386" dirty="0">
                <a:solidFill>
                  <a:srgbClr val="FF0000"/>
                </a:solidFill>
                <a:highlight>
                  <a:srgbClr val="FFFF00"/>
                </a:highlight>
              </a:rPr>
              <a:t>ⓔ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특정 재료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키워드 기반으로 인기 레시피 찾아보기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관심있는 키워드를 검색하면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관련된 레시피들이 보여진다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보여지는 형식은 아까 위에서 보여준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“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전체 인기 레시피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”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와 같은 형식으로 페이지가 전환되는 방식이다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endParaRPr lang="ko-KR" altLang="en-US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8159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A7586-FC93-6FF1-011D-0F98D8BF0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3" name="직사각형 4152">
            <a:extLst>
              <a:ext uri="{FF2B5EF4-FFF2-40B4-BE49-F238E27FC236}">
                <a16:creationId xmlns:a16="http://schemas.microsoft.com/office/drawing/2014/main" id="{AC0CBCDB-E44D-BA34-E7FD-B5959160E352}"/>
              </a:ext>
            </a:extLst>
          </p:cNvPr>
          <p:cNvSpPr/>
          <p:nvPr/>
        </p:nvSpPr>
        <p:spPr>
          <a:xfrm>
            <a:off x="-1" y="1980408"/>
            <a:ext cx="7199313" cy="11808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3D35BD4-7798-54A3-5C77-CC36624DFC28}"/>
              </a:ext>
            </a:extLst>
          </p:cNvPr>
          <p:cNvSpPr/>
          <p:nvPr/>
        </p:nvSpPr>
        <p:spPr>
          <a:xfrm>
            <a:off x="-1" y="2593750"/>
            <a:ext cx="7199313" cy="919372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575CF23-402D-2D3F-1DE2-88CB17D72785}"/>
              </a:ext>
            </a:extLst>
          </p:cNvPr>
          <p:cNvCxnSpPr>
            <a:cxnSpLocks/>
          </p:cNvCxnSpPr>
          <p:nvPr/>
        </p:nvCxnSpPr>
        <p:spPr>
          <a:xfrm>
            <a:off x="-1" y="2565646"/>
            <a:ext cx="7199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C4D984BF-D3DE-A982-7007-4BC345A87D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251"/>
          <a:stretch/>
        </p:blipFill>
        <p:spPr>
          <a:xfrm>
            <a:off x="-1" y="2591586"/>
            <a:ext cx="7199313" cy="329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805B82-0363-8D79-C119-71404F8CEB48}"/>
              </a:ext>
            </a:extLst>
          </p:cNvPr>
          <p:cNvSpPr txBox="1"/>
          <p:nvPr/>
        </p:nvSpPr>
        <p:spPr>
          <a:xfrm>
            <a:off x="213617" y="3024667"/>
            <a:ext cx="1109824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2EB7AC-0E39-AFBF-6FD9-E9F462FB6CDD}"/>
              </a:ext>
            </a:extLst>
          </p:cNvPr>
          <p:cNvSpPr txBox="1"/>
          <p:nvPr/>
        </p:nvSpPr>
        <p:spPr>
          <a:xfrm>
            <a:off x="1476515" y="3026376"/>
            <a:ext cx="1248260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78D791-F157-0312-E7F5-FF2F98673BB3}"/>
              </a:ext>
            </a:extLst>
          </p:cNvPr>
          <p:cNvSpPr txBox="1"/>
          <p:nvPr/>
        </p:nvSpPr>
        <p:spPr>
          <a:xfrm>
            <a:off x="3978103" y="3024667"/>
            <a:ext cx="598561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7D472C-91A7-799A-95EF-E44C3CED928E}"/>
              </a:ext>
            </a:extLst>
          </p:cNvPr>
          <p:cNvSpPr txBox="1"/>
          <p:nvPr/>
        </p:nvSpPr>
        <p:spPr>
          <a:xfrm>
            <a:off x="1373611" y="3524269"/>
            <a:ext cx="4452088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인기 요리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재료 부터 테마 추천까지 한눈에 확인하세요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  <a:endParaRPr lang="ko-KR" altLang="en-US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2E43DF-5A39-0C1F-9E13-7E533F868376}"/>
              </a:ext>
            </a:extLst>
          </p:cNvPr>
          <p:cNvSpPr txBox="1"/>
          <p:nvPr/>
        </p:nvSpPr>
        <p:spPr>
          <a:xfrm>
            <a:off x="4650690" y="2985634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ⓐ</a:t>
            </a:r>
          </a:p>
        </p:txBody>
      </p:sp>
      <p:sp>
        <p:nvSpPr>
          <p:cNvPr id="4136" name="TextBox 4135">
            <a:extLst>
              <a:ext uri="{FF2B5EF4-FFF2-40B4-BE49-F238E27FC236}">
                <a16:creationId xmlns:a16="http://schemas.microsoft.com/office/drawing/2014/main" id="{FD1D44E8-A38C-7115-FF8D-08F497AE1B7E}"/>
              </a:ext>
            </a:extLst>
          </p:cNvPr>
          <p:cNvSpPr txBox="1"/>
          <p:nvPr/>
        </p:nvSpPr>
        <p:spPr>
          <a:xfrm>
            <a:off x="2" y="1980409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UI 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구성</a:t>
            </a:r>
            <a:endParaRPr lang="ko-KR" altLang="en-US" sz="2267" dirty="0"/>
          </a:p>
        </p:txBody>
      </p:sp>
      <p:sp>
        <p:nvSpPr>
          <p:cNvPr id="4137" name="TextBox 4136">
            <a:extLst>
              <a:ext uri="{FF2B5EF4-FFF2-40B4-BE49-F238E27FC236}">
                <a16:creationId xmlns:a16="http://schemas.microsoft.com/office/drawing/2014/main" id="{B66D11F3-7268-ADDC-2BE2-FD452161D049}"/>
              </a:ext>
            </a:extLst>
          </p:cNvPr>
          <p:cNvSpPr txBox="1"/>
          <p:nvPr/>
        </p:nvSpPr>
        <p:spPr>
          <a:xfrm>
            <a:off x="2" y="11841434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2267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9B8DD7-15A1-FBBE-D5DB-A8A42D5E9A8F}"/>
              </a:ext>
            </a:extLst>
          </p:cNvPr>
          <p:cNvSpPr txBox="1"/>
          <p:nvPr/>
        </p:nvSpPr>
        <p:spPr>
          <a:xfrm>
            <a:off x="2896176" y="3024667"/>
            <a:ext cx="928852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8002B7-98BD-0DED-2424-3CFCEC95AD91}"/>
              </a:ext>
            </a:extLst>
          </p:cNvPr>
          <p:cNvSpPr txBox="1"/>
          <p:nvPr/>
        </p:nvSpPr>
        <p:spPr>
          <a:xfrm>
            <a:off x="131153" y="4572810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관련 인기 레시피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TOP 30 </a:t>
            </a:r>
          </a:p>
        </p:txBody>
      </p:sp>
      <p:cxnSp>
        <p:nvCxnSpPr>
          <p:cNvPr id="4121" name="직선 연결선 4120">
            <a:extLst>
              <a:ext uri="{FF2B5EF4-FFF2-40B4-BE49-F238E27FC236}">
                <a16:creationId xmlns:a16="http://schemas.microsoft.com/office/drawing/2014/main" id="{BC564222-2F49-45A8-B5F1-CBA190865E61}"/>
              </a:ext>
            </a:extLst>
          </p:cNvPr>
          <p:cNvCxnSpPr>
            <a:cxnSpLocks/>
          </p:cNvCxnSpPr>
          <p:nvPr/>
        </p:nvCxnSpPr>
        <p:spPr>
          <a:xfrm>
            <a:off x="263353" y="4917618"/>
            <a:ext cx="670782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6" name="사각형: 둥근 모서리 1085">
            <a:extLst>
              <a:ext uri="{FF2B5EF4-FFF2-40B4-BE49-F238E27FC236}">
                <a16:creationId xmlns:a16="http://schemas.microsoft.com/office/drawing/2014/main" id="{6DB62404-DE68-E9CB-00D5-F36C0AE84C9F}"/>
              </a:ext>
            </a:extLst>
          </p:cNvPr>
          <p:cNvSpPr/>
          <p:nvPr/>
        </p:nvSpPr>
        <p:spPr>
          <a:xfrm>
            <a:off x="263353" y="5167182"/>
            <a:ext cx="6707827" cy="2087464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4160" name="TextBox 4159">
            <a:extLst>
              <a:ext uri="{FF2B5EF4-FFF2-40B4-BE49-F238E27FC236}">
                <a16:creationId xmlns:a16="http://schemas.microsoft.com/office/drawing/2014/main" id="{BBF2B31D-6D10-24AA-B843-70252A1C26E6}"/>
              </a:ext>
            </a:extLst>
          </p:cNvPr>
          <p:cNvSpPr txBox="1"/>
          <p:nvPr/>
        </p:nvSpPr>
        <p:spPr>
          <a:xfrm>
            <a:off x="1424025" y="5281524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바삭한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두릅전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부치는 법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방풍나물 데치는 법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61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9CBCA9E4-628E-D883-4738-10D20C872B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5836876" y="5349723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62" name="사각형: 둥근 모서리 4161">
            <a:extLst>
              <a:ext uri="{FF2B5EF4-FFF2-40B4-BE49-F238E27FC236}">
                <a16:creationId xmlns:a16="http://schemas.microsoft.com/office/drawing/2014/main" id="{F704CAD5-DFB7-40FD-2A4D-4FFE70124D48}"/>
              </a:ext>
            </a:extLst>
          </p:cNvPr>
          <p:cNvSpPr/>
          <p:nvPr/>
        </p:nvSpPr>
        <p:spPr>
          <a:xfrm>
            <a:off x="430719" y="6255388"/>
            <a:ext cx="871892" cy="79505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90%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63" name="TextBox 4162">
            <a:extLst>
              <a:ext uri="{FF2B5EF4-FFF2-40B4-BE49-F238E27FC236}">
                <a16:creationId xmlns:a16="http://schemas.microsoft.com/office/drawing/2014/main" id="{FEE0C3C8-3058-7119-36F1-B9838C11C8F2}"/>
              </a:ext>
            </a:extLst>
          </p:cNvPr>
          <p:cNvSpPr txBox="1"/>
          <p:nvPr/>
        </p:nvSpPr>
        <p:spPr>
          <a:xfrm>
            <a:off x="5918780" y="5281523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777ls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25-03-08</a:t>
            </a:r>
            <a:endParaRPr lang="en-US" altLang="ko-KR" sz="126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4164" name="TextBox 4163">
            <a:extLst>
              <a:ext uri="{FF2B5EF4-FFF2-40B4-BE49-F238E27FC236}">
                <a16:creationId xmlns:a16="http://schemas.microsoft.com/office/drawing/2014/main" id="{B37512E5-2C90-EAFD-4CB9-0015BE56409E}"/>
              </a:ext>
            </a:extLst>
          </p:cNvPr>
          <p:cNvSpPr txBox="1"/>
          <p:nvPr/>
        </p:nvSpPr>
        <p:spPr>
          <a:xfrm>
            <a:off x="1405927" y="5625921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buNone/>
            </a:pP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4 / 5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월은 두릅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방풍나물철이예요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저는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집밭에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두릅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방풍나물을 키우는데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마침 새싹이 올라온 걸 보고 두릅으로 전을 부치고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방풍나물은 데쳐서  초고추장이랑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먹어야겠다는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생각이 들었어요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165" name="사각형: 둥근 모서리 4164">
            <a:extLst>
              <a:ext uri="{FF2B5EF4-FFF2-40B4-BE49-F238E27FC236}">
                <a16:creationId xmlns:a16="http://schemas.microsoft.com/office/drawing/2014/main" id="{C1127E18-4B15-3D19-F312-D79619AA6840}"/>
              </a:ext>
            </a:extLst>
          </p:cNvPr>
          <p:cNvSpPr/>
          <p:nvPr/>
        </p:nvSpPr>
        <p:spPr>
          <a:xfrm>
            <a:off x="1443258" y="6251330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4166" name="사각형: 둥근 모서리 4165">
            <a:extLst>
              <a:ext uri="{FF2B5EF4-FFF2-40B4-BE49-F238E27FC236}">
                <a16:creationId xmlns:a16="http://schemas.microsoft.com/office/drawing/2014/main" id="{DE67758C-B31F-45E3-06BF-490DA05D4702}"/>
              </a:ext>
            </a:extLst>
          </p:cNvPr>
          <p:cNvSpPr/>
          <p:nvPr/>
        </p:nvSpPr>
        <p:spPr>
          <a:xfrm>
            <a:off x="1443258" y="6547337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4167" name="사각형: 둥근 모서리 4166">
            <a:extLst>
              <a:ext uri="{FF2B5EF4-FFF2-40B4-BE49-F238E27FC236}">
                <a16:creationId xmlns:a16="http://schemas.microsoft.com/office/drawing/2014/main" id="{4975EF3C-5692-C7C0-0E2A-AF2B244FD842}"/>
              </a:ext>
            </a:extLst>
          </p:cNvPr>
          <p:cNvSpPr/>
          <p:nvPr/>
        </p:nvSpPr>
        <p:spPr>
          <a:xfrm>
            <a:off x="2496990" y="654451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</a:t>
            </a:r>
          </a:p>
        </p:txBody>
      </p:sp>
      <p:sp>
        <p:nvSpPr>
          <p:cNvPr id="4168" name="사각형: 둥근 모서리 4167">
            <a:extLst>
              <a:ext uri="{FF2B5EF4-FFF2-40B4-BE49-F238E27FC236}">
                <a16:creationId xmlns:a16="http://schemas.microsoft.com/office/drawing/2014/main" id="{5B65274B-541F-99AB-2BC8-41B1ED6B3D55}"/>
              </a:ext>
            </a:extLst>
          </p:cNvPr>
          <p:cNvSpPr/>
          <p:nvPr/>
        </p:nvSpPr>
        <p:spPr>
          <a:xfrm>
            <a:off x="2496990" y="625310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방풍나물</a:t>
            </a:r>
          </a:p>
        </p:txBody>
      </p:sp>
      <p:sp>
        <p:nvSpPr>
          <p:cNvPr id="4169" name="사각형: 둥근 모서리 4168">
            <a:extLst>
              <a:ext uri="{FF2B5EF4-FFF2-40B4-BE49-F238E27FC236}">
                <a16:creationId xmlns:a16="http://schemas.microsoft.com/office/drawing/2014/main" id="{E38D8400-FDAF-ACAC-EE33-4991D8BFE9F4}"/>
              </a:ext>
            </a:extLst>
          </p:cNvPr>
          <p:cNvSpPr/>
          <p:nvPr/>
        </p:nvSpPr>
        <p:spPr>
          <a:xfrm>
            <a:off x="2999339" y="625310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소금</a:t>
            </a:r>
          </a:p>
        </p:txBody>
      </p:sp>
      <p:sp>
        <p:nvSpPr>
          <p:cNvPr id="4170" name="사각형: 둥근 모서리 4169">
            <a:extLst>
              <a:ext uri="{FF2B5EF4-FFF2-40B4-BE49-F238E27FC236}">
                <a16:creationId xmlns:a16="http://schemas.microsoft.com/office/drawing/2014/main" id="{24313332-B83B-2A98-C16D-932BED1EDEE5}"/>
              </a:ext>
            </a:extLst>
          </p:cNvPr>
          <p:cNvSpPr/>
          <p:nvPr/>
        </p:nvSpPr>
        <p:spPr>
          <a:xfrm>
            <a:off x="3501689" y="625310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초장</a:t>
            </a:r>
          </a:p>
        </p:txBody>
      </p:sp>
      <p:sp>
        <p:nvSpPr>
          <p:cNvPr id="4171" name="사각형: 둥근 모서리 4170">
            <a:extLst>
              <a:ext uri="{FF2B5EF4-FFF2-40B4-BE49-F238E27FC236}">
                <a16:creationId xmlns:a16="http://schemas.microsoft.com/office/drawing/2014/main" id="{4E99A7B7-987D-A982-B9DC-0F647212BD66}"/>
              </a:ext>
            </a:extLst>
          </p:cNvPr>
          <p:cNvSpPr/>
          <p:nvPr/>
        </p:nvSpPr>
        <p:spPr>
          <a:xfrm>
            <a:off x="4004038" y="625310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다진마늘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72" name="사각형: 둥근 모서리 4171">
            <a:extLst>
              <a:ext uri="{FF2B5EF4-FFF2-40B4-BE49-F238E27FC236}">
                <a16:creationId xmlns:a16="http://schemas.microsoft.com/office/drawing/2014/main" id="{874D26B3-3B25-C1CA-7967-6411BCEE098C}"/>
              </a:ext>
            </a:extLst>
          </p:cNvPr>
          <p:cNvSpPr/>
          <p:nvPr/>
        </p:nvSpPr>
        <p:spPr>
          <a:xfrm>
            <a:off x="4506388" y="625310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매실청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73" name="사각형: 둥근 모서리 4172">
            <a:extLst>
              <a:ext uri="{FF2B5EF4-FFF2-40B4-BE49-F238E27FC236}">
                <a16:creationId xmlns:a16="http://schemas.microsoft.com/office/drawing/2014/main" id="{EBE1A077-B730-E1F3-15EF-8057E2A0C94A}"/>
              </a:ext>
            </a:extLst>
          </p:cNvPr>
          <p:cNvSpPr/>
          <p:nvPr/>
        </p:nvSpPr>
        <p:spPr>
          <a:xfrm>
            <a:off x="5008737" y="625310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참기름</a:t>
            </a:r>
          </a:p>
        </p:txBody>
      </p:sp>
      <p:sp>
        <p:nvSpPr>
          <p:cNvPr id="4174" name="사각형: 둥근 모서리 4173">
            <a:extLst>
              <a:ext uri="{FF2B5EF4-FFF2-40B4-BE49-F238E27FC236}">
                <a16:creationId xmlns:a16="http://schemas.microsoft.com/office/drawing/2014/main" id="{019C7121-E9F6-9B91-13DB-79196F513266}"/>
              </a:ext>
            </a:extLst>
          </p:cNvPr>
          <p:cNvSpPr/>
          <p:nvPr/>
        </p:nvSpPr>
        <p:spPr>
          <a:xfrm>
            <a:off x="5511087" y="625310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참꺠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77" name="그림 4176">
            <a:extLst>
              <a:ext uri="{FF2B5EF4-FFF2-40B4-BE49-F238E27FC236}">
                <a16:creationId xmlns:a16="http://schemas.microsoft.com/office/drawing/2014/main" id="{F014983A-57F0-CB2E-C6F2-7C3298F63F6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1920"/>
          <a:stretch/>
        </p:blipFill>
        <p:spPr>
          <a:xfrm flipH="1">
            <a:off x="6669029" y="5643098"/>
            <a:ext cx="116844" cy="547211"/>
          </a:xfrm>
          <a:prstGeom prst="rect">
            <a:avLst/>
          </a:prstGeom>
        </p:spPr>
      </p:pic>
      <p:sp>
        <p:nvSpPr>
          <p:cNvPr id="4178" name="사각형: 둥근 모서리 4177">
            <a:extLst>
              <a:ext uri="{FF2B5EF4-FFF2-40B4-BE49-F238E27FC236}">
                <a16:creationId xmlns:a16="http://schemas.microsoft.com/office/drawing/2014/main" id="{E23376AF-86B0-F9BA-25CC-42CEDC18DD9C}"/>
              </a:ext>
            </a:extLst>
          </p:cNvPr>
          <p:cNvSpPr/>
          <p:nvPr/>
        </p:nvSpPr>
        <p:spPr>
          <a:xfrm>
            <a:off x="263353" y="7362957"/>
            <a:ext cx="6707827" cy="2054821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4179" name="TextBox 4178">
            <a:extLst>
              <a:ext uri="{FF2B5EF4-FFF2-40B4-BE49-F238E27FC236}">
                <a16:creationId xmlns:a16="http://schemas.microsoft.com/office/drawing/2014/main" id="{25126B41-273F-2A33-9D3E-6E2F31E73FB2}"/>
              </a:ext>
            </a:extLst>
          </p:cNvPr>
          <p:cNvSpPr txBox="1"/>
          <p:nvPr/>
        </p:nvSpPr>
        <p:spPr>
          <a:xfrm>
            <a:off x="1424025" y="7477298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 장아찌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만드는법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80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67E386F6-EB77-E1A2-C3BB-0B9F2DD1BE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5836876" y="7545498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81" name="사각형: 둥근 모서리 4180">
            <a:extLst>
              <a:ext uri="{FF2B5EF4-FFF2-40B4-BE49-F238E27FC236}">
                <a16:creationId xmlns:a16="http://schemas.microsoft.com/office/drawing/2014/main" id="{E9778C7D-A11B-08EA-82A2-16DACDC790FA}"/>
              </a:ext>
            </a:extLst>
          </p:cNvPr>
          <p:cNvSpPr/>
          <p:nvPr/>
        </p:nvSpPr>
        <p:spPr>
          <a:xfrm>
            <a:off x="430719" y="8451164"/>
            <a:ext cx="871892" cy="82696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84%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82" name="TextBox 4181">
            <a:extLst>
              <a:ext uri="{FF2B5EF4-FFF2-40B4-BE49-F238E27FC236}">
                <a16:creationId xmlns:a16="http://schemas.microsoft.com/office/drawing/2014/main" id="{2A5E16AF-6709-0C80-F530-CBC0C3768C5B}"/>
              </a:ext>
            </a:extLst>
          </p:cNvPr>
          <p:cNvSpPr txBox="1"/>
          <p:nvPr/>
        </p:nvSpPr>
        <p:spPr>
          <a:xfrm>
            <a:off x="5918780" y="7477298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꼬마츄츄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25-04-09</a:t>
            </a:r>
          </a:p>
        </p:txBody>
      </p:sp>
      <p:sp>
        <p:nvSpPr>
          <p:cNvPr id="4183" name="TextBox 4182">
            <a:extLst>
              <a:ext uri="{FF2B5EF4-FFF2-40B4-BE49-F238E27FC236}">
                <a16:creationId xmlns:a16="http://schemas.microsoft.com/office/drawing/2014/main" id="{78FFA9F5-74D2-ECDF-62DC-6F651BD8B408}"/>
              </a:ext>
            </a:extLst>
          </p:cNvPr>
          <p:cNvSpPr txBox="1"/>
          <p:nvPr/>
        </p:nvSpPr>
        <p:spPr>
          <a:xfrm>
            <a:off x="1405927" y="7821696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buNone/>
            </a:pP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두릅장아찌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만드는법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두릅데치기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참두릅장아찌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쉽고 맛있게 만들기 안녕하세요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제제에요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  <a:p>
            <a:pPr fontAlgn="base">
              <a:buNone/>
            </a:pP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봄나물의 제왕이라고 하는 두릅이 나는 계절에는 두릅으로 여러가지 요리를 해서 </a:t>
            </a:r>
          </a:p>
          <a:p>
            <a:pPr fontAlgn="base">
              <a:buNone/>
            </a:pP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먹지만 밑반찬으로는 역시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두릅장아찌만한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것이 없어요</a:t>
            </a:r>
          </a:p>
        </p:txBody>
      </p:sp>
      <p:sp>
        <p:nvSpPr>
          <p:cNvPr id="4184" name="사각형: 둥근 모서리 4183">
            <a:extLst>
              <a:ext uri="{FF2B5EF4-FFF2-40B4-BE49-F238E27FC236}">
                <a16:creationId xmlns:a16="http://schemas.microsoft.com/office/drawing/2014/main" id="{7AA44B1F-C1C3-BB3A-7B84-5DF348DF1F89}"/>
              </a:ext>
            </a:extLst>
          </p:cNvPr>
          <p:cNvSpPr/>
          <p:nvPr/>
        </p:nvSpPr>
        <p:spPr>
          <a:xfrm>
            <a:off x="1443258" y="8447105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4185" name="사각형: 둥근 모서리 4184">
            <a:extLst>
              <a:ext uri="{FF2B5EF4-FFF2-40B4-BE49-F238E27FC236}">
                <a16:creationId xmlns:a16="http://schemas.microsoft.com/office/drawing/2014/main" id="{F03D73D4-8BC0-E462-1327-891D9C0D9CB2}"/>
              </a:ext>
            </a:extLst>
          </p:cNvPr>
          <p:cNvSpPr/>
          <p:nvPr/>
        </p:nvSpPr>
        <p:spPr>
          <a:xfrm>
            <a:off x="1443258" y="8743112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4186" name="사각형: 둥근 모서리 4185">
            <a:extLst>
              <a:ext uri="{FF2B5EF4-FFF2-40B4-BE49-F238E27FC236}">
                <a16:creationId xmlns:a16="http://schemas.microsoft.com/office/drawing/2014/main" id="{07138D17-05BD-C345-1053-F952DEBD5BF4}"/>
              </a:ext>
            </a:extLst>
          </p:cNvPr>
          <p:cNvSpPr/>
          <p:nvPr/>
        </p:nvSpPr>
        <p:spPr>
          <a:xfrm>
            <a:off x="2496990" y="874028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</a:t>
            </a:r>
          </a:p>
        </p:txBody>
      </p:sp>
      <p:sp>
        <p:nvSpPr>
          <p:cNvPr id="4187" name="사각형: 둥근 모서리 4186">
            <a:extLst>
              <a:ext uri="{FF2B5EF4-FFF2-40B4-BE49-F238E27FC236}">
                <a16:creationId xmlns:a16="http://schemas.microsoft.com/office/drawing/2014/main" id="{26600F6B-C828-1954-9C92-770C46C1C748}"/>
              </a:ext>
            </a:extLst>
          </p:cNvPr>
          <p:cNvSpPr/>
          <p:nvPr/>
        </p:nvSpPr>
        <p:spPr>
          <a:xfrm>
            <a:off x="2992029" y="874028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88" name="사각형: 둥근 모서리 4187">
            <a:extLst>
              <a:ext uri="{FF2B5EF4-FFF2-40B4-BE49-F238E27FC236}">
                <a16:creationId xmlns:a16="http://schemas.microsoft.com/office/drawing/2014/main" id="{F801EA94-401A-A1C6-1F30-0957EFC6EACE}"/>
              </a:ext>
            </a:extLst>
          </p:cNvPr>
          <p:cNvSpPr/>
          <p:nvPr/>
        </p:nvSpPr>
        <p:spPr>
          <a:xfrm>
            <a:off x="2496990" y="844887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건고추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89" name="사각형: 둥근 모서리 4188">
            <a:extLst>
              <a:ext uri="{FF2B5EF4-FFF2-40B4-BE49-F238E27FC236}">
                <a16:creationId xmlns:a16="http://schemas.microsoft.com/office/drawing/2014/main" id="{66661EDF-C71A-3802-31D5-D7E8E7DE59AF}"/>
              </a:ext>
            </a:extLst>
          </p:cNvPr>
          <p:cNvSpPr/>
          <p:nvPr/>
        </p:nvSpPr>
        <p:spPr>
          <a:xfrm>
            <a:off x="2999339" y="844887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간장</a:t>
            </a:r>
          </a:p>
        </p:txBody>
      </p:sp>
      <p:sp>
        <p:nvSpPr>
          <p:cNvPr id="4190" name="사각형: 둥근 모서리 4189">
            <a:extLst>
              <a:ext uri="{FF2B5EF4-FFF2-40B4-BE49-F238E27FC236}">
                <a16:creationId xmlns:a16="http://schemas.microsoft.com/office/drawing/2014/main" id="{BF2F018D-F58B-64BE-E46A-40612638D241}"/>
              </a:ext>
            </a:extLst>
          </p:cNvPr>
          <p:cNvSpPr/>
          <p:nvPr/>
        </p:nvSpPr>
        <p:spPr>
          <a:xfrm>
            <a:off x="3501689" y="844887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설탕</a:t>
            </a:r>
          </a:p>
        </p:txBody>
      </p:sp>
      <p:sp>
        <p:nvSpPr>
          <p:cNvPr id="4191" name="사각형: 둥근 모서리 4190">
            <a:extLst>
              <a:ext uri="{FF2B5EF4-FFF2-40B4-BE49-F238E27FC236}">
                <a16:creationId xmlns:a16="http://schemas.microsoft.com/office/drawing/2014/main" id="{1E35860C-8D31-C78D-DE81-3270B0C60F34}"/>
              </a:ext>
            </a:extLst>
          </p:cNvPr>
          <p:cNvSpPr/>
          <p:nvPr/>
        </p:nvSpPr>
        <p:spPr>
          <a:xfrm>
            <a:off x="4004038" y="844887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식초</a:t>
            </a:r>
          </a:p>
        </p:txBody>
      </p:sp>
      <p:sp>
        <p:nvSpPr>
          <p:cNvPr id="4196" name="TextBox 4195">
            <a:extLst>
              <a:ext uri="{FF2B5EF4-FFF2-40B4-BE49-F238E27FC236}">
                <a16:creationId xmlns:a16="http://schemas.microsoft.com/office/drawing/2014/main" id="{5AF21B41-5427-67B6-C45B-F4B08E5C1550}"/>
              </a:ext>
            </a:extLst>
          </p:cNvPr>
          <p:cNvSpPr txBox="1"/>
          <p:nvPr/>
        </p:nvSpPr>
        <p:spPr>
          <a:xfrm>
            <a:off x="6504328" y="8403262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197" name="그림 4196">
            <a:extLst>
              <a:ext uri="{FF2B5EF4-FFF2-40B4-BE49-F238E27FC236}">
                <a16:creationId xmlns:a16="http://schemas.microsoft.com/office/drawing/2014/main" id="{18440835-37F9-9A5E-3520-CC46CBE20F2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1920"/>
          <a:stretch/>
        </p:blipFill>
        <p:spPr>
          <a:xfrm flipH="1">
            <a:off x="6669029" y="7838873"/>
            <a:ext cx="116844" cy="547211"/>
          </a:xfrm>
          <a:prstGeom prst="rect">
            <a:avLst/>
          </a:prstGeom>
        </p:spPr>
      </p:pic>
      <p:sp>
        <p:nvSpPr>
          <p:cNvPr id="4198" name="사각형: 둥근 모서리 4197">
            <a:extLst>
              <a:ext uri="{FF2B5EF4-FFF2-40B4-BE49-F238E27FC236}">
                <a16:creationId xmlns:a16="http://schemas.microsoft.com/office/drawing/2014/main" id="{F63CE6B2-1A5F-082D-73B3-1DFC1829C38D}"/>
              </a:ext>
            </a:extLst>
          </p:cNvPr>
          <p:cNvSpPr/>
          <p:nvPr/>
        </p:nvSpPr>
        <p:spPr>
          <a:xfrm>
            <a:off x="263353" y="9523655"/>
            <a:ext cx="6707827" cy="1992490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4199" name="TextBox 4198">
            <a:extLst>
              <a:ext uri="{FF2B5EF4-FFF2-40B4-BE49-F238E27FC236}">
                <a16:creationId xmlns:a16="http://schemas.microsoft.com/office/drawing/2014/main" id="{80EBD2DD-2635-63CB-6B87-833D593163D8}"/>
              </a:ext>
            </a:extLst>
          </p:cNvPr>
          <p:cNvSpPr txBox="1"/>
          <p:nvPr/>
        </p:nvSpPr>
        <p:spPr>
          <a:xfrm>
            <a:off x="1424025" y="9637999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두릅파스타로 향긋하게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200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B83490A4-B6CE-958F-FCE3-176C492EF6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5836876" y="9706199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01" name="사각형: 둥근 모서리 4200">
            <a:extLst>
              <a:ext uri="{FF2B5EF4-FFF2-40B4-BE49-F238E27FC236}">
                <a16:creationId xmlns:a16="http://schemas.microsoft.com/office/drawing/2014/main" id="{570FF9F1-6864-4BE7-CD44-BFCCFD56428D}"/>
              </a:ext>
            </a:extLst>
          </p:cNvPr>
          <p:cNvSpPr/>
          <p:nvPr/>
        </p:nvSpPr>
        <p:spPr>
          <a:xfrm>
            <a:off x="430719" y="10611867"/>
            <a:ext cx="871892" cy="80776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70%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202" name="TextBox 4201">
            <a:extLst>
              <a:ext uri="{FF2B5EF4-FFF2-40B4-BE49-F238E27FC236}">
                <a16:creationId xmlns:a16="http://schemas.microsoft.com/office/drawing/2014/main" id="{64DBC50C-AEB4-3240-2E03-34E40BA5984D}"/>
              </a:ext>
            </a:extLst>
          </p:cNvPr>
          <p:cNvSpPr txBox="1"/>
          <p:nvPr/>
        </p:nvSpPr>
        <p:spPr>
          <a:xfrm>
            <a:off x="5918780" y="9637999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껌딱지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25-04-06</a:t>
            </a:r>
          </a:p>
        </p:txBody>
      </p:sp>
      <p:sp>
        <p:nvSpPr>
          <p:cNvPr id="4203" name="TextBox 4202">
            <a:extLst>
              <a:ext uri="{FF2B5EF4-FFF2-40B4-BE49-F238E27FC236}">
                <a16:creationId xmlns:a16="http://schemas.microsoft.com/office/drawing/2014/main" id="{22FF6FCC-11AF-F091-9715-A26CFB45732C}"/>
              </a:ext>
            </a:extLst>
          </p:cNvPr>
          <p:cNvSpPr txBox="1"/>
          <p:nvPr/>
        </p:nvSpPr>
        <p:spPr>
          <a:xfrm>
            <a:off x="1405927" y="9982397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안녕하세요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~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40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의 즐거운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요리에요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오늘은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봄제철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나물 두릅으로 만든 향긋한 파스타 요리를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소개할게요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마트에 갔더니 봄나물들이 저를 반기네요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ㅎ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그 중에서도 두릅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~~~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봄에 제일 맛나게 먹을 수 있는 두릅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당장사야죠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ㅎㅎ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204" name="사각형: 둥근 모서리 4203">
            <a:extLst>
              <a:ext uri="{FF2B5EF4-FFF2-40B4-BE49-F238E27FC236}">
                <a16:creationId xmlns:a16="http://schemas.microsoft.com/office/drawing/2014/main" id="{F11AA4A2-33F9-852E-09F8-563E038E14BB}"/>
              </a:ext>
            </a:extLst>
          </p:cNvPr>
          <p:cNvSpPr/>
          <p:nvPr/>
        </p:nvSpPr>
        <p:spPr>
          <a:xfrm>
            <a:off x="1443258" y="10607806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4205" name="사각형: 둥근 모서리 4204">
            <a:extLst>
              <a:ext uri="{FF2B5EF4-FFF2-40B4-BE49-F238E27FC236}">
                <a16:creationId xmlns:a16="http://schemas.microsoft.com/office/drawing/2014/main" id="{5DA6A801-A79E-03CC-3B4A-1886E469EE8A}"/>
              </a:ext>
            </a:extLst>
          </p:cNvPr>
          <p:cNvSpPr/>
          <p:nvPr/>
        </p:nvSpPr>
        <p:spPr>
          <a:xfrm>
            <a:off x="1443258" y="10903813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4206" name="사각형: 둥근 모서리 4205">
            <a:extLst>
              <a:ext uri="{FF2B5EF4-FFF2-40B4-BE49-F238E27FC236}">
                <a16:creationId xmlns:a16="http://schemas.microsoft.com/office/drawing/2014/main" id="{815F5F7C-EFB2-2D76-6D9B-2C9E3427823C}"/>
              </a:ext>
            </a:extLst>
          </p:cNvPr>
          <p:cNvSpPr/>
          <p:nvPr/>
        </p:nvSpPr>
        <p:spPr>
          <a:xfrm>
            <a:off x="2496990" y="1090098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새우</a:t>
            </a:r>
          </a:p>
        </p:txBody>
      </p:sp>
      <p:sp>
        <p:nvSpPr>
          <p:cNvPr id="4207" name="사각형: 둥근 모서리 4206">
            <a:extLst>
              <a:ext uri="{FF2B5EF4-FFF2-40B4-BE49-F238E27FC236}">
                <a16:creationId xmlns:a16="http://schemas.microsoft.com/office/drawing/2014/main" id="{4082C1AA-28A8-AF9C-BC19-07094CBDA414}"/>
              </a:ext>
            </a:extLst>
          </p:cNvPr>
          <p:cNvSpPr/>
          <p:nvPr/>
        </p:nvSpPr>
        <p:spPr>
          <a:xfrm>
            <a:off x="2992029" y="1090098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</a:t>
            </a:r>
          </a:p>
        </p:txBody>
      </p:sp>
      <p:sp>
        <p:nvSpPr>
          <p:cNvPr id="4208" name="사각형: 둥근 모서리 4207">
            <a:extLst>
              <a:ext uri="{FF2B5EF4-FFF2-40B4-BE49-F238E27FC236}">
                <a16:creationId xmlns:a16="http://schemas.microsoft.com/office/drawing/2014/main" id="{E5EF79CA-5FD4-05B2-14AC-3C60EF1C57B1}"/>
              </a:ext>
            </a:extLst>
          </p:cNvPr>
          <p:cNvSpPr/>
          <p:nvPr/>
        </p:nvSpPr>
        <p:spPr>
          <a:xfrm>
            <a:off x="2496990" y="1060957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마늘</a:t>
            </a:r>
          </a:p>
        </p:txBody>
      </p:sp>
      <p:sp>
        <p:nvSpPr>
          <p:cNvPr id="4209" name="사각형: 둥근 모서리 4208">
            <a:extLst>
              <a:ext uri="{FF2B5EF4-FFF2-40B4-BE49-F238E27FC236}">
                <a16:creationId xmlns:a16="http://schemas.microsoft.com/office/drawing/2014/main" id="{C965CAEB-540D-E332-6949-90C536FF7443}"/>
              </a:ext>
            </a:extLst>
          </p:cNvPr>
          <p:cNvSpPr/>
          <p:nvPr/>
        </p:nvSpPr>
        <p:spPr>
          <a:xfrm>
            <a:off x="2999339" y="1060957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오일</a:t>
            </a:r>
          </a:p>
        </p:txBody>
      </p:sp>
      <p:sp>
        <p:nvSpPr>
          <p:cNvPr id="4210" name="사각형: 둥근 모서리 4209">
            <a:extLst>
              <a:ext uri="{FF2B5EF4-FFF2-40B4-BE49-F238E27FC236}">
                <a16:creationId xmlns:a16="http://schemas.microsoft.com/office/drawing/2014/main" id="{58C4E744-3AFD-61F5-B503-5B9A5549928E}"/>
              </a:ext>
            </a:extLst>
          </p:cNvPr>
          <p:cNvSpPr/>
          <p:nvPr/>
        </p:nvSpPr>
        <p:spPr>
          <a:xfrm>
            <a:off x="3501689" y="1060957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후추</a:t>
            </a:r>
          </a:p>
        </p:txBody>
      </p:sp>
      <p:sp>
        <p:nvSpPr>
          <p:cNvPr id="4211" name="사각형: 둥근 모서리 4210">
            <a:extLst>
              <a:ext uri="{FF2B5EF4-FFF2-40B4-BE49-F238E27FC236}">
                <a16:creationId xmlns:a16="http://schemas.microsoft.com/office/drawing/2014/main" id="{39231109-0563-572E-D5C5-4FFB604A1B7C}"/>
              </a:ext>
            </a:extLst>
          </p:cNvPr>
          <p:cNvSpPr/>
          <p:nvPr/>
        </p:nvSpPr>
        <p:spPr>
          <a:xfrm>
            <a:off x="4004038" y="1060957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소금</a:t>
            </a:r>
          </a:p>
        </p:txBody>
      </p:sp>
      <p:sp>
        <p:nvSpPr>
          <p:cNvPr id="4216" name="TextBox 4215">
            <a:extLst>
              <a:ext uri="{FF2B5EF4-FFF2-40B4-BE49-F238E27FC236}">
                <a16:creationId xmlns:a16="http://schemas.microsoft.com/office/drawing/2014/main" id="{D36CDD99-C8F0-7B8C-036E-B0816E6F40FC}"/>
              </a:ext>
            </a:extLst>
          </p:cNvPr>
          <p:cNvSpPr txBox="1"/>
          <p:nvPr/>
        </p:nvSpPr>
        <p:spPr>
          <a:xfrm>
            <a:off x="6504328" y="10563963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217" name="그림 4216">
            <a:extLst>
              <a:ext uri="{FF2B5EF4-FFF2-40B4-BE49-F238E27FC236}">
                <a16:creationId xmlns:a16="http://schemas.microsoft.com/office/drawing/2014/main" id="{AD8A4A33-9F47-720F-AD87-D83CD186991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1920"/>
          <a:stretch/>
        </p:blipFill>
        <p:spPr>
          <a:xfrm flipH="1">
            <a:off x="6669029" y="9999574"/>
            <a:ext cx="116844" cy="547211"/>
          </a:xfrm>
          <a:prstGeom prst="rect">
            <a:avLst/>
          </a:prstGeom>
        </p:spPr>
      </p:pic>
      <p:sp>
        <p:nvSpPr>
          <p:cNvPr id="4221" name="사각형: 둥근 모서리 4220">
            <a:extLst>
              <a:ext uri="{FF2B5EF4-FFF2-40B4-BE49-F238E27FC236}">
                <a16:creationId xmlns:a16="http://schemas.microsoft.com/office/drawing/2014/main" id="{1C1AC7AC-8425-173D-807B-2372D9FE6411}"/>
              </a:ext>
            </a:extLst>
          </p:cNvPr>
          <p:cNvSpPr/>
          <p:nvPr/>
        </p:nvSpPr>
        <p:spPr>
          <a:xfrm>
            <a:off x="3490981" y="1090098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베이컨</a:t>
            </a:r>
          </a:p>
        </p:txBody>
      </p:sp>
      <p:sp>
        <p:nvSpPr>
          <p:cNvPr id="4222" name="사각형: 둥근 모서리 4221">
            <a:extLst>
              <a:ext uri="{FF2B5EF4-FFF2-40B4-BE49-F238E27FC236}">
                <a16:creationId xmlns:a16="http://schemas.microsoft.com/office/drawing/2014/main" id="{ED82D75A-9FD2-6337-E4A7-D9B3D7E36589}"/>
              </a:ext>
            </a:extLst>
          </p:cNvPr>
          <p:cNvSpPr/>
          <p:nvPr/>
        </p:nvSpPr>
        <p:spPr>
          <a:xfrm>
            <a:off x="4004038" y="10900987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파스타면</a:t>
            </a:r>
          </a:p>
        </p:txBody>
      </p:sp>
      <p:pic>
        <p:nvPicPr>
          <p:cNvPr id="4225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2DABC20F-9592-C23C-A7DE-2D8F4F7635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5195160" y="9695761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26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6EB007D8-8958-9B11-D928-7890A16825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5203123" y="7528924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27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5907CE7D-046C-9BA1-279D-2EB2E148ED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5212301" y="5349723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8" name="사각형: 둥근 모서리 4227">
            <a:extLst>
              <a:ext uri="{FF2B5EF4-FFF2-40B4-BE49-F238E27FC236}">
                <a16:creationId xmlns:a16="http://schemas.microsoft.com/office/drawing/2014/main" id="{9AFC3A7D-C8F8-849E-0F35-9B202C353CB0}"/>
              </a:ext>
            </a:extLst>
          </p:cNvPr>
          <p:cNvSpPr/>
          <p:nvPr/>
        </p:nvSpPr>
        <p:spPr>
          <a:xfrm>
            <a:off x="1443258" y="6843272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4230" name="사각형: 둥근 모서리 4229">
            <a:extLst>
              <a:ext uri="{FF2B5EF4-FFF2-40B4-BE49-F238E27FC236}">
                <a16:creationId xmlns:a16="http://schemas.microsoft.com/office/drawing/2014/main" id="{CD9C0BC8-0490-B005-B91D-BE2FE6090EB2}"/>
              </a:ext>
            </a:extLst>
          </p:cNvPr>
          <p:cNvSpPr/>
          <p:nvPr/>
        </p:nvSpPr>
        <p:spPr>
          <a:xfrm>
            <a:off x="1443258" y="9040293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4231" name="사각형: 둥근 모서리 4230">
            <a:extLst>
              <a:ext uri="{FF2B5EF4-FFF2-40B4-BE49-F238E27FC236}">
                <a16:creationId xmlns:a16="http://schemas.microsoft.com/office/drawing/2014/main" id="{2E95840D-CC10-FCBE-BE9D-833CB067983F}"/>
              </a:ext>
            </a:extLst>
          </p:cNvPr>
          <p:cNvSpPr/>
          <p:nvPr/>
        </p:nvSpPr>
        <p:spPr>
          <a:xfrm>
            <a:off x="2496990" y="9063463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소주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232" name="사각형: 둥근 모서리 4231">
            <a:extLst>
              <a:ext uri="{FF2B5EF4-FFF2-40B4-BE49-F238E27FC236}">
                <a16:creationId xmlns:a16="http://schemas.microsoft.com/office/drawing/2014/main" id="{8594A08C-C0F6-F2C7-2F17-5A8EFD6BA0AE}"/>
              </a:ext>
            </a:extLst>
          </p:cNvPr>
          <p:cNvSpPr/>
          <p:nvPr/>
        </p:nvSpPr>
        <p:spPr>
          <a:xfrm>
            <a:off x="3332030" y="9067346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청주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234" name="사각형: 둥근 모서리 4233">
            <a:extLst>
              <a:ext uri="{FF2B5EF4-FFF2-40B4-BE49-F238E27FC236}">
                <a16:creationId xmlns:a16="http://schemas.microsoft.com/office/drawing/2014/main" id="{24F7294B-30A2-E40C-6F1B-69EA24A2080E}"/>
              </a:ext>
            </a:extLst>
          </p:cNvPr>
          <p:cNvSpPr/>
          <p:nvPr/>
        </p:nvSpPr>
        <p:spPr>
          <a:xfrm>
            <a:off x="1443258" y="11198452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4235" name="사각형: 둥근 모서리 4234">
            <a:extLst>
              <a:ext uri="{FF2B5EF4-FFF2-40B4-BE49-F238E27FC236}">
                <a16:creationId xmlns:a16="http://schemas.microsoft.com/office/drawing/2014/main" id="{B44613FF-6D83-3B7B-FD52-AAE0299CE50C}"/>
              </a:ext>
            </a:extLst>
          </p:cNvPr>
          <p:cNvSpPr/>
          <p:nvPr/>
        </p:nvSpPr>
        <p:spPr>
          <a:xfrm>
            <a:off x="2496991" y="11221622"/>
            <a:ext cx="993993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파스타면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두부면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236" name="사각형: 둥근 모서리 4235">
            <a:extLst>
              <a:ext uri="{FF2B5EF4-FFF2-40B4-BE49-F238E27FC236}">
                <a16:creationId xmlns:a16="http://schemas.microsoft.com/office/drawing/2014/main" id="{EEB97BDB-C52F-79C6-83D6-48F4C67F30E9}"/>
              </a:ext>
            </a:extLst>
          </p:cNvPr>
          <p:cNvSpPr/>
          <p:nvPr/>
        </p:nvSpPr>
        <p:spPr>
          <a:xfrm>
            <a:off x="3514290" y="11225504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베이컨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햄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239" name="Picture 2">
            <a:extLst>
              <a:ext uri="{FF2B5EF4-FFF2-40B4-BE49-F238E27FC236}">
                <a16:creationId xmlns:a16="http://schemas.microsoft.com/office/drawing/2014/main" id="{3C85A1E6-34F0-59FA-D121-AF43765DBA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612"/>
          <a:stretch/>
        </p:blipFill>
        <p:spPr bwMode="auto">
          <a:xfrm>
            <a:off x="434742" y="5322018"/>
            <a:ext cx="861902" cy="845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242" name="그룹 4241">
            <a:extLst>
              <a:ext uri="{FF2B5EF4-FFF2-40B4-BE49-F238E27FC236}">
                <a16:creationId xmlns:a16="http://schemas.microsoft.com/office/drawing/2014/main" id="{80FF3BB6-8034-C70A-98B8-178965E17D7B}"/>
              </a:ext>
            </a:extLst>
          </p:cNvPr>
          <p:cNvGrpSpPr/>
          <p:nvPr/>
        </p:nvGrpSpPr>
        <p:grpSpPr>
          <a:xfrm>
            <a:off x="1251185" y="4114181"/>
            <a:ext cx="4220929" cy="329624"/>
            <a:chOff x="5907972" y="5212399"/>
            <a:chExt cx="1164752" cy="116154"/>
          </a:xfrm>
        </p:grpSpPr>
        <p:sp>
          <p:nvSpPr>
            <p:cNvPr id="4243" name="사각형: 둥근 모서리 4242">
              <a:extLst>
                <a:ext uri="{FF2B5EF4-FFF2-40B4-BE49-F238E27FC236}">
                  <a16:creationId xmlns:a16="http://schemas.microsoft.com/office/drawing/2014/main" id="{BD8ECBD5-4D7A-1E9A-1831-E5FB456D1EF0}"/>
                </a:ext>
              </a:extLst>
            </p:cNvPr>
            <p:cNvSpPr/>
            <p:nvPr/>
          </p:nvSpPr>
          <p:spPr>
            <a:xfrm>
              <a:off x="5907972" y="5212399"/>
              <a:ext cx="1164752" cy="116154"/>
            </a:xfrm>
            <a:prstGeom prst="roundRect">
              <a:avLst/>
            </a:prstGeom>
            <a:solidFill>
              <a:srgbClr val="4644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519"/>
            </a:p>
          </p:txBody>
        </p:sp>
        <p:sp>
          <p:nvSpPr>
            <p:cNvPr id="4244" name="사각형: 둥근 모서리 4243">
              <a:extLst>
                <a:ext uri="{FF2B5EF4-FFF2-40B4-BE49-F238E27FC236}">
                  <a16:creationId xmlns:a16="http://schemas.microsoft.com/office/drawing/2014/main" id="{8666726A-090D-2BE1-B068-52763CEC1316}"/>
                </a:ext>
              </a:extLst>
            </p:cNvPr>
            <p:cNvSpPr/>
            <p:nvPr/>
          </p:nvSpPr>
          <p:spPr>
            <a:xfrm>
              <a:off x="6640069" y="5231921"/>
              <a:ext cx="190610" cy="7191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b="1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댓글순</a:t>
              </a:r>
              <a:endPara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245" name="사각형: 둥근 모서리 4244">
              <a:extLst>
                <a:ext uri="{FF2B5EF4-FFF2-40B4-BE49-F238E27FC236}">
                  <a16:creationId xmlns:a16="http://schemas.microsoft.com/office/drawing/2014/main" id="{63DD738C-9BD9-26CF-1846-0E0DB5650F89}"/>
                </a:ext>
              </a:extLst>
            </p:cNvPr>
            <p:cNvSpPr/>
            <p:nvPr/>
          </p:nvSpPr>
          <p:spPr>
            <a:xfrm>
              <a:off x="6839597" y="5231921"/>
              <a:ext cx="214801" cy="7191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최신순</a:t>
              </a:r>
            </a:p>
          </p:txBody>
        </p:sp>
        <p:sp>
          <p:nvSpPr>
            <p:cNvPr id="4246" name="사각형: 둥근 모서리 4245">
              <a:extLst>
                <a:ext uri="{FF2B5EF4-FFF2-40B4-BE49-F238E27FC236}">
                  <a16:creationId xmlns:a16="http://schemas.microsoft.com/office/drawing/2014/main" id="{45DBEDCE-D5D0-7350-F49E-0C5594768D84}"/>
                </a:ext>
              </a:extLst>
            </p:cNvPr>
            <p:cNvSpPr/>
            <p:nvPr/>
          </p:nvSpPr>
          <p:spPr>
            <a:xfrm>
              <a:off x="6441200" y="5231921"/>
              <a:ext cx="190610" cy="7191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b="1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좋아요순</a:t>
              </a:r>
              <a:endPara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247" name="사각형: 둥근 모서리 4246">
              <a:extLst>
                <a:ext uri="{FF2B5EF4-FFF2-40B4-BE49-F238E27FC236}">
                  <a16:creationId xmlns:a16="http://schemas.microsoft.com/office/drawing/2014/main" id="{9886CF9B-FC10-19F7-6527-52269064BAE0}"/>
                </a:ext>
              </a:extLst>
            </p:cNvPr>
            <p:cNvSpPr/>
            <p:nvPr/>
          </p:nvSpPr>
          <p:spPr>
            <a:xfrm>
              <a:off x="5920297" y="5231921"/>
              <a:ext cx="217424" cy="71912"/>
            </a:xfrm>
            <a:prstGeom prst="roundRect">
              <a:avLst/>
            </a:prstGeom>
            <a:solidFill>
              <a:srgbClr val="1F1F22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b="1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재료매칭률순</a:t>
              </a:r>
              <a:endPara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</p:grpSp>
      <p:sp>
        <p:nvSpPr>
          <p:cNvPr id="4248" name="사각형: 둥근 모서리 4247">
            <a:extLst>
              <a:ext uri="{FF2B5EF4-FFF2-40B4-BE49-F238E27FC236}">
                <a16:creationId xmlns:a16="http://schemas.microsoft.com/office/drawing/2014/main" id="{9B74F01D-16A2-C249-3E7C-E7590A5C14C4}"/>
              </a:ext>
            </a:extLst>
          </p:cNvPr>
          <p:cNvSpPr/>
          <p:nvPr/>
        </p:nvSpPr>
        <p:spPr>
          <a:xfrm>
            <a:off x="5823134" y="4104294"/>
            <a:ext cx="1029421" cy="329624"/>
          </a:xfrm>
          <a:prstGeom prst="roundRect">
            <a:avLst/>
          </a:prstGeom>
          <a:solidFill>
            <a:srgbClr val="464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519"/>
          </a:p>
        </p:txBody>
      </p:sp>
      <p:sp>
        <p:nvSpPr>
          <p:cNvPr id="4249" name="사각형: 둥근 모서리 4248">
            <a:extLst>
              <a:ext uri="{FF2B5EF4-FFF2-40B4-BE49-F238E27FC236}">
                <a16:creationId xmlns:a16="http://schemas.microsoft.com/office/drawing/2014/main" id="{0BCE7C1C-134B-76B6-0273-53D9826172B0}"/>
              </a:ext>
            </a:extLst>
          </p:cNvPr>
          <p:cNvSpPr/>
          <p:nvPr/>
        </p:nvSpPr>
        <p:spPr>
          <a:xfrm>
            <a:off x="5990182" y="4167070"/>
            <a:ext cx="695316" cy="20407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    필터</a:t>
            </a:r>
          </a:p>
        </p:txBody>
      </p:sp>
      <p:sp>
        <p:nvSpPr>
          <p:cNvPr id="4250" name="TextBox 4249">
            <a:extLst>
              <a:ext uri="{FF2B5EF4-FFF2-40B4-BE49-F238E27FC236}">
                <a16:creationId xmlns:a16="http://schemas.microsoft.com/office/drawing/2014/main" id="{100880E9-5069-622E-0623-9F39AC864711}"/>
              </a:ext>
            </a:extLst>
          </p:cNvPr>
          <p:cNvSpPr txBox="1"/>
          <p:nvPr/>
        </p:nvSpPr>
        <p:spPr>
          <a:xfrm>
            <a:off x="63677" y="4372571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ⓑ</a:t>
            </a:r>
          </a:p>
        </p:txBody>
      </p:sp>
      <p:grpSp>
        <p:nvGrpSpPr>
          <p:cNvPr id="4251" name="그룹 4250">
            <a:extLst>
              <a:ext uri="{FF2B5EF4-FFF2-40B4-BE49-F238E27FC236}">
                <a16:creationId xmlns:a16="http://schemas.microsoft.com/office/drawing/2014/main" id="{11D565FF-A906-9DC2-65F5-7DF5DCB468A2}"/>
              </a:ext>
            </a:extLst>
          </p:cNvPr>
          <p:cNvGrpSpPr/>
          <p:nvPr/>
        </p:nvGrpSpPr>
        <p:grpSpPr>
          <a:xfrm>
            <a:off x="6125942" y="4236302"/>
            <a:ext cx="117978" cy="65609"/>
            <a:chOff x="4773621" y="1614488"/>
            <a:chExt cx="128101" cy="80962"/>
          </a:xfrm>
        </p:grpSpPr>
        <p:cxnSp>
          <p:nvCxnSpPr>
            <p:cNvPr id="4252" name="직선 연결선 4251">
              <a:extLst>
                <a:ext uri="{FF2B5EF4-FFF2-40B4-BE49-F238E27FC236}">
                  <a16:creationId xmlns:a16="http://schemas.microsoft.com/office/drawing/2014/main" id="{3BE5064C-7C8E-88C8-FD6D-15B3ACCFB159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14488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3" name="직선 연결선 4252">
              <a:extLst>
                <a:ext uri="{FF2B5EF4-FFF2-40B4-BE49-F238E27FC236}">
                  <a16:creationId xmlns:a16="http://schemas.microsoft.com/office/drawing/2014/main" id="{4A074A4F-CB07-9C94-EF95-A7B92080266D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56289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4" name="직선 연결선 4253">
              <a:extLst>
                <a:ext uri="{FF2B5EF4-FFF2-40B4-BE49-F238E27FC236}">
                  <a16:creationId xmlns:a16="http://schemas.microsoft.com/office/drawing/2014/main" id="{944931EB-26B4-5175-A97C-4EFE2DCA2666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95450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55" name="사각형: 둥근 모서리 4254">
            <a:extLst>
              <a:ext uri="{FF2B5EF4-FFF2-40B4-BE49-F238E27FC236}">
                <a16:creationId xmlns:a16="http://schemas.microsoft.com/office/drawing/2014/main" id="{EBB09199-219B-2C64-4897-1C28F824DBE0}"/>
              </a:ext>
            </a:extLst>
          </p:cNvPr>
          <p:cNvSpPr/>
          <p:nvPr/>
        </p:nvSpPr>
        <p:spPr>
          <a:xfrm>
            <a:off x="2118493" y="4168466"/>
            <a:ext cx="1021232" cy="20407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유통기한 임박 재료 순</a:t>
            </a:r>
          </a:p>
        </p:txBody>
      </p:sp>
      <p:pic>
        <p:nvPicPr>
          <p:cNvPr id="4258" name="Picture 4">
            <a:extLst>
              <a:ext uri="{FF2B5EF4-FFF2-40B4-BE49-F238E27FC236}">
                <a16:creationId xmlns:a16="http://schemas.microsoft.com/office/drawing/2014/main" id="{6DEA5520-0C12-3EB1-99AC-9B77E2AC41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6" t="7866" r="7866" b="7866"/>
          <a:stretch/>
        </p:blipFill>
        <p:spPr bwMode="auto">
          <a:xfrm>
            <a:off x="452996" y="7508009"/>
            <a:ext cx="874698" cy="79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59" name="사각형: 둥근 모서리 4258">
            <a:extLst>
              <a:ext uri="{FF2B5EF4-FFF2-40B4-BE49-F238E27FC236}">
                <a16:creationId xmlns:a16="http://schemas.microsoft.com/office/drawing/2014/main" id="{122D8F70-A0EC-FA81-FD49-4C1CA6D85821}"/>
              </a:ext>
            </a:extLst>
          </p:cNvPr>
          <p:cNvSpPr/>
          <p:nvPr/>
        </p:nvSpPr>
        <p:spPr>
          <a:xfrm>
            <a:off x="3497222" y="874028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</a:t>
            </a:r>
          </a:p>
        </p:txBody>
      </p:sp>
      <p:pic>
        <p:nvPicPr>
          <p:cNvPr id="4264" name="그림 4263">
            <a:extLst>
              <a:ext uri="{FF2B5EF4-FFF2-40B4-BE49-F238E27FC236}">
                <a16:creationId xmlns:a16="http://schemas.microsoft.com/office/drawing/2014/main" id="{8244CB98-9957-5522-4EDE-2248B51A7B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719" y="9646953"/>
            <a:ext cx="871892" cy="842362"/>
          </a:xfrm>
          <a:prstGeom prst="rect">
            <a:avLst/>
          </a:prstGeom>
        </p:spPr>
      </p:pic>
      <p:pic>
        <p:nvPicPr>
          <p:cNvPr id="4265" name="Picture 4" descr="확인하다 - 무료 ui개 아이콘">
            <a:extLst>
              <a:ext uri="{FF2B5EF4-FFF2-40B4-BE49-F238E27FC236}">
                <a16:creationId xmlns:a16="http://schemas.microsoft.com/office/drawing/2014/main" id="{5F132759-AD66-4077-F8FE-E4B652D81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585" y="5322902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66" name="Picture 4" descr="확인하다 - 무료 ui개 아이콘">
            <a:extLst>
              <a:ext uri="{FF2B5EF4-FFF2-40B4-BE49-F238E27FC236}">
                <a16:creationId xmlns:a16="http://schemas.microsoft.com/office/drawing/2014/main" id="{3558615D-0EE7-1672-FD62-11C4C8DFF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4135" y="7496554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67" name="Picture 4" descr="확인하다 - 무료 ui개 아이콘">
            <a:extLst>
              <a:ext uri="{FF2B5EF4-FFF2-40B4-BE49-F238E27FC236}">
                <a16:creationId xmlns:a16="http://schemas.microsoft.com/office/drawing/2014/main" id="{6616E102-D317-442A-8281-C08E5A805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7858" y="9664112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69" name="TextBox 4268">
            <a:extLst>
              <a:ext uri="{FF2B5EF4-FFF2-40B4-BE49-F238E27FC236}">
                <a16:creationId xmlns:a16="http://schemas.microsoft.com/office/drawing/2014/main" id="{FF83713D-DDEA-32A1-1E5A-BE33448019A6}"/>
              </a:ext>
            </a:extLst>
          </p:cNvPr>
          <p:cNvSpPr txBox="1"/>
          <p:nvPr/>
        </p:nvSpPr>
        <p:spPr>
          <a:xfrm>
            <a:off x="17610" y="12341252"/>
            <a:ext cx="7199313" cy="1876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solidFill>
                  <a:srgbClr val="FF0000"/>
                </a:solidFill>
                <a:highlight>
                  <a:srgbClr val="FFFF00"/>
                </a:highlight>
              </a:rPr>
              <a:t>Ⓐ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홈페이지 메뉴 네비게이션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비로그인 상태 가능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현재 페이지는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페이지의 첫 페이지에 해당한다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</a:p>
          <a:p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386" dirty="0">
                <a:solidFill>
                  <a:srgbClr val="FF0000"/>
                </a:solidFill>
                <a:highlight>
                  <a:srgbClr val="FFFF00"/>
                </a:highlight>
              </a:rPr>
              <a:t>ⓑ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000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관련 인기 레시피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TOP30</a:t>
            </a:r>
          </a:p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해당페이지는 앞 페이지에서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인기재료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인기테마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특정 재료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키워드 기반으로 인기 레시피 찾아보기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부분에서 특정 재료나 키워드나 테마를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선택했을시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넘어오는 페이지이다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해당 키워드를 기준으로 레시피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TOP30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을 나열해준다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레시피를 보여주는 형식은 앞에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탭에서 레시피를 열거하고 보여줬던 형식과 똑같이 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정렬 버튼이나 필터 버튼도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탭의 페이지와 마찬가지로 같은 기능을 넣는다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                                                                                                </a:t>
            </a:r>
          </a:p>
          <a:p>
            <a:endParaRPr lang="ko-KR" altLang="en-US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260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5A765-EE5C-7575-8A54-806CC04FE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3" name="직사각형 4152">
            <a:extLst>
              <a:ext uri="{FF2B5EF4-FFF2-40B4-BE49-F238E27FC236}">
                <a16:creationId xmlns:a16="http://schemas.microsoft.com/office/drawing/2014/main" id="{6F897E51-01EA-5488-F291-4FF4FB496912}"/>
              </a:ext>
            </a:extLst>
          </p:cNvPr>
          <p:cNvSpPr/>
          <p:nvPr/>
        </p:nvSpPr>
        <p:spPr>
          <a:xfrm>
            <a:off x="-1" y="1980408"/>
            <a:ext cx="7199313" cy="155505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3A4369-55D2-E691-8060-CE3759BD5EE6}"/>
              </a:ext>
            </a:extLst>
          </p:cNvPr>
          <p:cNvSpPr/>
          <p:nvPr/>
        </p:nvSpPr>
        <p:spPr>
          <a:xfrm>
            <a:off x="-1" y="2593750"/>
            <a:ext cx="7199313" cy="8125692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B39543D-5FBF-8087-E970-193903080F8F}"/>
              </a:ext>
            </a:extLst>
          </p:cNvPr>
          <p:cNvCxnSpPr>
            <a:cxnSpLocks/>
          </p:cNvCxnSpPr>
          <p:nvPr/>
        </p:nvCxnSpPr>
        <p:spPr>
          <a:xfrm>
            <a:off x="-1" y="2565646"/>
            <a:ext cx="7199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B88A39B1-7443-3C73-5703-C8061A1F5A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251"/>
          <a:stretch/>
        </p:blipFill>
        <p:spPr>
          <a:xfrm>
            <a:off x="-1" y="2591586"/>
            <a:ext cx="7199313" cy="329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56199D-D6E6-4001-919B-E4DF786C1B96}"/>
              </a:ext>
            </a:extLst>
          </p:cNvPr>
          <p:cNvSpPr txBox="1"/>
          <p:nvPr/>
        </p:nvSpPr>
        <p:spPr>
          <a:xfrm>
            <a:off x="213617" y="3024667"/>
            <a:ext cx="1109824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EE8969-2114-AE86-0757-3A335314A436}"/>
              </a:ext>
            </a:extLst>
          </p:cNvPr>
          <p:cNvSpPr txBox="1"/>
          <p:nvPr/>
        </p:nvSpPr>
        <p:spPr>
          <a:xfrm>
            <a:off x="1476515" y="3026376"/>
            <a:ext cx="1248260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DDBC23-0BC8-9584-7669-D6E0DE68A590}"/>
              </a:ext>
            </a:extLst>
          </p:cNvPr>
          <p:cNvSpPr txBox="1"/>
          <p:nvPr/>
        </p:nvSpPr>
        <p:spPr>
          <a:xfrm>
            <a:off x="3978103" y="3024667"/>
            <a:ext cx="496443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D9E9A9-F0DB-3D71-2968-83F59800DD83}"/>
              </a:ext>
            </a:extLst>
          </p:cNvPr>
          <p:cNvSpPr txBox="1"/>
          <p:nvPr/>
        </p:nvSpPr>
        <p:spPr>
          <a:xfrm>
            <a:off x="1396631" y="5343746"/>
            <a:ext cx="4452088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[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사용자 닉네임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]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님이 기록하고 살펴본 요리들을 모아봤어요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.</a:t>
            </a:r>
            <a:endParaRPr lang="ko-KR" altLang="en-US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Medium" panose="02020603020101020101" pitchFamily="18" charset="-127"/>
              <a:ea typeface="KoPub돋움체 Medium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12B9D4-4867-961C-BE74-026C1019ECDE}"/>
              </a:ext>
            </a:extLst>
          </p:cNvPr>
          <p:cNvSpPr txBox="1"/>
          <p:nvPr/>
        </p:nvSpPr>
        <p:spPr>
          <a:xfrm>
            <a:off x="4650690" y="2985634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ⓐ</a:t>
            </a:r>
          </a:p>
        </p:txBody>
      </p:sp>
      <p:sp>
        <p:nvSpPr>
          <p:cNvPr id="4136" name="TextBox 4135">
            <a:extLst>
              <a:ext uri="{FF2B5EF4-FFF2-40B4-BE49-F238E27FC236}">
                <a16:creationId xmlns:a16="http://schemas.microsoft.com/office/drawing/2014/main" id="{BC472D6A-DDD7-4724-8D21-1AE74AE5067C}"/>
              </a:ext>
            </a:extLst>
          </p:cNvPr>
          <p:cNvSpPr txBox="1"/>
          <p:nvPr/>
        </p:nvSpPr>
        <p:spPr>
          <a:xfrm>
            <a:off x="2" y="1980409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UI 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구성</a:t>
            </a:r>
            <a:endParaRPr lang="ko-KR" altLang="en-US" sz="2267" dirty="0"/>
          </a:p>
        </p:txBody>
      </p:sp>
      <p:sp>
        <p:nvSpPr>
          <p:cNvPr id="4137" name="TextBox 4136">
            <a:extLst>
              <a:ext uri="{FF2B5EF4-FFF2-40B4-BE49-F238E27FC236}">
                <a16:creationId xmlns:a16="http://schemas.microsoft.com/office/drawing/2014/main" id="{971FA50D-8146-399F-1350-EF5E0D5097EA}"/>
              </a:ext>
            </a:extLst>
          </p:cNvPr>
          <p:cNvSpPr txBox="1"/>
          <p:nvPr/>
        </p:nvSpPr>
        <p:spPr>
          <a:xfrm>
            <a:off x="2" y="10799768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2267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E87C4C-07B5-EE36-5BD6-2FE9E1CEF3D5}"/>
              </a:ext>
            </a:extLst>
          </p:cNvPr>
          <p:cNvSpPr txBox="1"/>
          <p:nvPr/>
        </p:nvSpPr>
        <p:spPr>
          <a:xfrm>
            <a:off x="2896176" y="3024667"/>
            <a:ext cx="928852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  <p:pic>
        <p:nvPicPr>
          <p:cNvPr id="4098" name="Picture 2" descr="유튜브로 배우는 ppt ] 뽀글이아저씨 일러스트 캐릭터 ppt 로 만들어보기 : 네이버 블로그">
            <a:extLst>
              <a:ext uri="{FF2B5EF4-FFF2-40B4-BE49-F238E27FC236}">
                <a16:creationId xmlns:a16="http://schemas.microsoft.com/office/drawing/2014/main" id="{4FCC3734-A02B-9B2D-00B6-CCA2E26349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45" r="22445"/>
          <a:stretch/>
        </p:blipFill>
        <p:spPr bwMode="auto">
          <a:xfrm>
            <a:off x="1872841" y="3811272"/>
            <a:ext cx="1069964" cy="109207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962E83-53AA-9E78-80BB-18D7267F0F60}"/>
              </a:ext>
            </a:extLst>
          </p:cNvPr>
          <p:cNvSpPr txBox="1"/>
          <p:nvPr/>
        </p:nvSpPr>
        <p:spPr>
          <a:xfrm>
            <a:off x="482120" y="6209935"/>
            <a:ext cx="1442625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기록한 레시피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C9C70C5-EC76-53EC-941A-7DE0BB695A46}"/>
              </a:ext>
            </a:extLst>
          </p:cNvPr>
          <p:cNvCxnSpPr>
            <a:cxnSpLocks/>
          </p:cNvCxnSpPr>
          <p:nvPr/>
        </p:nvCxnSpPr>
        <p:spPr>
          <a:xfrm>
            <a:off x="625147" y="6520104"/>
            <a:ext cx="65741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77EC3B7-52B9-C0ED-8351-7F973C661A21}"/>
              </a:ext>
            </a:extLst>
          </p:cNvPr>
          <p:cNvSpPr txBox="1"/>
          <p:nvPr/>
        </p:nvSpPr>
        <p:spPr>
          <a:xfrm>
            <a:off x="6798858" y="6208850"/>
            <a:ext cx="1442625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&gt;</a:t>
            </a:r>
          </a:p>
        </p:txBody>
      </p:sp>
      <p:pic>
        <p:nvPicPr>
          <p:cNvPr id="29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02DB889E-123D-218C-B7B7-57C9201C6F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56" t="18382" r="37064" b="61373"/>
          <a:stretch/>
        </p:blipFill>
        <p:spPr bwMode="auto">
          <a:xfrm>
            <a:off x="1812023" y="6273027"/>
            <a:ext cx="248953" cy="206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DCDF198-6039-A02F-B247-2C0D6F099FFC}"/>
              </a:ext>
            </a:extLst>
          </p:cNvPr>
          <p:cNvSpPr txBox="1"/>
          <p:nvPr/>
        </p:nvSpPr>
        <p:spPr>
          <a:xfrm>
            <a:off x="482120" y="8451036"/>
            <a:ext cx="1442625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완료한 레시피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C4DD264-9499-A767-7223-CE13ED38BFD6}"/>
              </a:ext>
            </a:extLst>
          </p:cNvPr>
          <p:cNvCxnSpPr>
            <a:cxnSpLocks/>
          </p:cNvCxnSpPr>
          <p:nvPr/>
        </p:nvCxnSpPr>
        <p:spPr>
          <a:xfrm>
            <a:off x="625147" y="8761205"/>
            <a:ext cx="65741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EE24698-F05A-B9AF-8498-B758883D46CE}"/>
              </a:ext>
            </a:extLst>
          </p:cNvPr>
          <p:cNvSpPr txBox="1"/>
          <p:nvPr/>
        </p:nvSpPr>
        <p:spPr>
          <a:xfrm>
            <a:off x="6798858" y="8449951"/>
            <a:ext cx="1442625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&gt;</a:t>
            </a:r>
          </a:p>
        </p:txBody>
      </p:sp>
      <p:pic>
        <p:nvPicPr>
          <p:cNvPr id="37" name="Picture 4" descr="확인하다 - 무료 ui개 아이콘">
            <a:extLst>
              <a:ext uri="{FF2B5EF4-FFF2-40B4-BE49-F238E27FC236}">
                <a16:creationId xmlns:a16="http://schemas.microsoft.com/office/drawing/2014/main" id="{95C9564B-8D85-4B09-C121-111333102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11" y="8493470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76E3330E-4844-885C-FF61-8198593B0EE6}"/>
              </a:ext>
            </a:extLst>
          </p:cNvPr>
          <p:cNvSpPr/>
          <p:nvPr/>
        </p:nvSpPr>
        <p:spPr>
          <a:xfrm>
            <a:off x="4399880" y="4201138"/>
            <a:ext cx="928852" cy="310170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내 정보 수정 </a:t>
            </a:r>
            <a:r>
              <a:rPr lang="en-US" altLang="ko-KR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&gt;</a:t>
            </a:r>
            <a:endParaRPr lang="ko-KR" altLang="en-US" sz="882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1014B7A-7849-5B1B-61F7-BBBF81692B0B}"/>
              </a:ext>
            </a:extLst>
          </p:cNvPr>
          <p:cNvSpPr txBox="1"/>
          <p:nvPr/>
        </p:nvSpPr>
        <p:spPr>
          <a:xfrm>
            <a:off x="3095817" y="3998794"/>
            <a:ext cx="1360337" cy="29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</a:t>
            </a:r>
            <a:r>
              <a:rPr lang="ko-KR" altLang="en-US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사용자 닉네임</a:t>
            </a:r>
            <a:r>
              <a:rPr lang="en-US" altLang="ko-KR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</a:t>
            </a:r>
            <a:endParaRPr lang="ko-KR" altLang="en-US" sz="1323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8AADB7F-BDA3-BE98-9335-C8833A45235C}"/>
              </a:ext>
            </a:extLst>
          </p:cNvPr>
          <p:cNvSpPr txBox="1"/>
          <p:nvPr/>
        </p:nvSpPr>
        <p:spPr>
          <a:xfrm>
            <a:off x="3095817" y="4357307"/>
            <a:ext cx="1360337" cy="29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</a:t>
            </a:r>
            <a:r>
              <a:rPr lang="ko-KR" altLang="en-US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사용자 아이디</a:t>
            </a:r>
            <a:r>
              <a:rPr lang="en-US" altLang="ko-KR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</a:t>
            </a:r>
            <a:endParaRPr lang="ko-KR" altLang="en-US" sz="1323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4103" name="Picture 2">
            <a:extLst>
              <a:ext uri="{FF2B5EF4-FFF2-40B4-BE49-F238E27FC236}">
                <a16:creationId xmlns:a16="http://schemas.microsoft.com/office/drawing/2014/main" id="{B1D5AE1C-00AF-F7F5-8950-118BCDBBAC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27" b="35174"/>
          <a:stretch/>
        </p:blipFill>
        <p:spPr bwMode="auto">
          <a:xfrm>
            <a:off x="571097" y="6654631"/>
            <a:ext cx="2153678" cy="966998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9" name="그림 4108">
            <a:extLst>
              <a:ext uri="{FF2B5EF4-FFF2-40B4-BE49-F238E27FC236}">
                <a16:creationId xmlns:a16="http://schemas.microsoft.com/office/drawing/2014/main" id="{D01BCE97-33D0-7A99-3A77-164B2F087C4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1854" b="11854"/>
          <a:stretch/>
        </p:blipFill>
        <p:spPr>
          <a:xfrm>
            <a:off x="3086138" y="6658076"/>
            <a:ext cx="2182517" cy="963555"/>
          </a:xfrm>
          <a:prstGeom prst="roundRect">
            <a:avLst/>
          </a:prstGeom>
          <a:noFill/>
        </p:spPr>
      </p:pic>
      <p:sp>
        <p:nvSpPr>
          <p:cNvPr id="4115" name="사각형: 둥근 모서리 4114">
            <a:extLst>
              <a:ext uri="{FF2B5EF4-FFF2-40B4-BE49-F238E27FC236}">
                <a16:creationId xmlns:a16="http://schemas.microsoft.com/office/drawing/2014/main" id="{C0B5945D-A95A-DB5C-297B-486F9B57A7D3}"/>
              </a:ext>
            </a:extLst>
          </p:cNvPr>
          <p:cNvSpPr/>
          <p:nvPr/>
        </p:nvSpPr>
        <p:spPr>
          <a:xfrm>
            <a:off x="563178" y="6651010"/>
            <a:ext cx="941666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80%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16" name="사각형: 둥근 모서리 4115">
            <a:extLst>
              <a:ext uri="{FF2B5EF4-FFF2-40B4-BE49-F238E27FC236}">
                <a16:creationId xmlns:a16="http://schemas.microsoft.com/office/drawing/2014/main" id="{5F145076-461D-4C6F-C2AF-08D0A61336D8}"/>
              </a:ext>
            </a:extLst>
          </p:cNvPr>
          <p:cNvSpPr/>
          <p:nvPr/>
        </p:nvSpPr>
        <p:spPr>
          <a:xfrm>
            <a:off x="3072033" y="6663981"/>
            <a:ext cx="941666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90%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17" name="그림 4116">
            <a:extLst>
              <a:ext uri="{FF2B5EF4-FFF2-40B4-BE49-F238E27FC236}">
                <a16:creationId xmlns:a16="http://schemas.microsoft.com/office/drawing/2014/main" id="{15130D9C-9B80-45EF-D7AF-006BAA79E9D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38224"/>
          <a:stretch/>
        </p:blipFill>
        <p:spPr>
          <a:xfrm>
            <a:off x="5632756" y="6634976"/>
            <a:ext cx="1566558" cy="986767"/>
          </a:xfrm>
          <a:prstGeom prst="rect">
            <a:avLst/>
          </a:prstGeom>
        </p:spPr>
      </p:pic>
      <p:sp>
        <p:nvSpPr>
          <p:cNvPr id="4118" name="사각형: 둥근 모서리 4117">
            <a:extLst>
              <a:ext uri="{FF2B5EF4-FFF2-40B4-BE49-F238E27FC236}">
                <a16:creationId xmlns:a16="http://schemas.microsoft.com/office/drawing/2014/main" id="{B768F6F1-E7E0-6FD6-5CFA-C78878A40ECA}"/>
              </a:ext>
            </a:extLst>
          </p:cNvPr>
          <p:cNvSpPr/>
          <p:nvPr/>
        </p:nvSpPr>
        <p:spPr>
          <a:xfrm>
            <a:off x="5647833" y="6626266"/>
            <a:ext cx="941666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75%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4142" name="그룹 4141">
            <a:extLst>
              <a:ext uri="{FF2B5EF4-FFF2-40B4-BE49-F238E27FC236}">
                <a16:creationId xmlns:a16="http://schemas.microsoft.com/office/drawing/2014/main" id="{B3939554-4D6F-AD85-E8E9-4C1CA1484E5F}"/>
              </a:ext>
            </a:extLst>
          </p:cNvPr>
          <p:cNvGrpSpPr/>
          <p:nvPr/>
        </p:nvGrpSpPr>
        <p:grpSpPr>
          <a:xfrm>
            <a:off x="2100646" y="7323883"/>
            <a:ext cx="570547" cy="289997"/>
            <a:chOff x="1470809" y="4241787"/>
            <a:chExt cx="452915" cy="230207"/>
          </a:xfrm>
        </p:grpSpPr>
        <p:grpSp>
          <p:nvGrpSpPr>
            <p:cNvPr id="4104" name="그룹 4103">
              <a:extLst>
                <a:ext uri="{FF2B5EF4-FFF2-40B4-BE49-F238E27FC236}">
                  <a16:creationId xmlns:a16="http://schemas.microsoft.com/office/drawing/2014/main" id="{38796015-428B-4FDE-56FA-967BC538D1D3}"/>
                </a:ext>
              </a:extLst>
            </p:cNvPr>
            <p:cNvGrpSpPr/>
            <p:nvPr/>
          </p:nvGrpSpPr>
          <p:grpSpPr>
            <a:xfrm>
              <a:off x="1724694" y="4259159"/>
              <a:ext cx="199030" cy="200201"/>
              <a:chOff x="7257057" y="1634035"/>
              <a:chExt cx="199030" cy="200201"/>
            </a:xfrm>
          </p:grpSpPr>
          <p:sp>
            <p:nvSpPr>
              <p:cNvPr id="4105" name="타원 4104">
                <a:extLst>
                  <a:ext uri="{FF2B5EF4-FFF2-40B4-BE49-F238E27FC236}">
                    <a16:creationId xmlns:a16="http://schemas.microsoft.com/office/drawing/2014/main" id="{726E7EBA-55FC-9F8B-F9B2-C5199B50FB19}"/>
                  </a:ext>
                </a:extLst>
              </p:cNvPr>
              <p:cNvSpPr/>
              <p:nvPr/>
            </p:nvSpPr>
            <p:spPr>
              <a:xfrm>
                <a:off x="7257057" y="1634035"/>
                <a:ext cx="199030" cy="19903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  <a:alpha val="6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67"/>
              </a:p>
            </p:txBody>
          </p:sp>
          <p:pic>
            <p:nvPicPr>
              <p:cNvPr id="4107" name="그림 4106">
                <a:extLst>
                  <a:ext uri="{FF2B5EF4-FFF2-40B4-BE49-F238E27FC236}">
                    <a16:creationId xmlns:a16="http://schemas.microsoft.com/office/drawing/2014/main" id="{3727FDDD-10A4-1CF3-C967-372424DDA7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lum bright="70000" contrast="-70000"/>
              </a:blip>
              <a:srcRect r="58948"/>
              <a:stretch/>
            </p:blipFill>
            <p:spPr>
              <a:xfrm>
                <a:off x="7266582" y="1675726"/>
                <a:ext cx="167681" cy="158510"/>
              </a:xfrm>
              <a:prstGeom prst="rect">
                <a:avLst/>
              </a:prstGeom>
            </p:spPr>
          </p:pic>
        </p:grpSp>
        <p:sp>
          <p:nvSpPr>
            <p:cNvPr id="4119" name="타원 4118">
              <a:extLst>
                <a:ext uri="{FF2B5EF4-FFF2-40B4-BE49-F238E27FC236}">
                  <a16:creationId xmlns:a16="http://schemas.microsoft.com/office/drawing/2014/main" id="{746EF4B7-D58D-59B2-2D84-2F650AECCFA6}"/>
                </a:ext>
              </a:extLst>
            </p:cNvPr>
            <p:cNvSpPr/>
            <p:nvPr/>
          </p:nvSpPr>
          <p:spPr>
            <a:xfrm>
              <a:off x="1470809" y="4241787"/>
              <a:ext cx="230207" cy="23020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pic>
          <p:nvPicPr>
            <p:cNvPr id="4120" name="그림 4119">
              <a:extLst>
                <a:ext uri="{FF2B5EF4-FFF2-40B4-BE49-F238E27FC236}">
                  <a16:creationId xmlns:a16="http://schemas.microsoft.com/office/drawing/2014/main" id="{0525F2B1-06C1-4F1A-6870-255689116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lum bright="70000" contrast="-70000"/>
            </a:blip>
            <a:stretch>
              <a:fillRect/>
            </a:stretch>
          </p:blipFill>
          <p:spPr>
            <a:xfrm>
              <a:off x="1511179" y="4313497"/>
              <a:ext cx="149467" cy="107990"/>
            </a:xfrm>
            <a:prstGeom prst="rect">
              <a:avLst/>
            </a:prstGeom>
          </p:spPr>
        </p:pic>
      </p:grpSp>
      <p:sp>
        <p:nvSpPr>
          <p:cNvPr id="4124" name="TextBox 4123">
            <a:extLst>
              <a:ext uri="{FF2B5EF4-FFF2-40B4-BE49-F238E27FC236}">
                <a16:creationId xmlns:a16="http://schemas.microsoft.com/office/drawing/2014/main" id="{7A367770-1B95-A1B7-D061-BB4096D85871}"/>
              </a:ext>
            </a:extLst>
          </p:cNvPr>
          <p:cNvSpPr txBox="1"/>
          <p:nvPr/>
        </p:nvSpPr>
        <p:spPr>
          <a:xfrm>
            <a:off x="476224" y="7658062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틱톡에서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유행하는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초간단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안주레시피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25" name="TextBox 4124">
            <a:extLst>
              <a:ext uri="{FF2B5EF4-FFF2-40B4-BE49-F238E27FC236}">
                <a16:creationId xmlns:a16="http://schemas.microsoft.com/office/drawing/2014/main" id="{715CF865-620F-F9D2-483A-5FD6008E7FFC}"/>
              </a:ext>
            </a:extLst>
          </p:cNvPr>
          <p:cNvSpPr txBox="1"/>
          <p:nvPr/>
        </p:nvSpPr>
        <p:spPr>
          <a:xfrm>
            <a:off x="2988690" y="7658062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다이어트 김밥 만들기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오이김밥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</a:t>
            </a:r>
          </a:p>
        </p:txBody>
      </p:sp>
      <p:sp>
        <p:nvSpPr>
          <p:cNvPr id="4126" name="TextBox 4125">
            <a:extLst>
              <a:ext uri="{FF2B5EF4-FFF2-40B4-BE49-F238E27FC236}">
                <a16:creationId xmlns:a16="http://schemas.microsoft.com/office/drawing/2014/main" id="{D76CBD4D-6583-85E8-6A5C-6ACF789E7E61}"/>
              </a:ext>
            </a:extLst>
          </p:cNvPr>
          <p:cNvSpPr txBox="1"/>
          <p:nvPr/>
        </p:nvSpPr>
        <p:spPr>
          <a:xfrm>
            <a:off x="5552654" y="7656587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숙취해소로 최고인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황태해장국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27" name="그림 4126">
            <a:extLst>
              <a:ext uri="{FF2B5EF4-FFF2-40B4-BE49-F238E27FC236}">
                <a16:creationId xmlns:a16="http://schemas.microsoft.com/office/drawing/2014/main" id="{FE63CEF6-E112-1C6B-27E8-9ED7407FB04A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27891" b="23831"/>
          <a:stretch/>
        </p:blipFill>
        <p:spPr>
          <a:xfrm>
            <a:off x="618636" y="8859898"/>
            <a:ext cx="2106138" cy="1116638"/>
          </a:xfrm>
          <a:prstGeom prst="roundRect">
            <a:avLst/>
          </a:prstGeom>
          <a:noFill/>
        </p:spPr>
      </p:pic>
      <p:sp>
        <p:nvSpPr>
          <p:cNvPr id="4128" name="TextBox 4127">
            <a:extLst>
              <a:ext uri="{FF2B5EF4-FFF2-40B4-BE49-F238E27FC236}">
                <a16:creationId xmlns:a16="http://schemas.microsoft.com/office/drawing/2014/main" id="{01BBEC67-DCAA-1835-2EAD-AF85A0FDB960}"/>
              </a:ext>
            </a:extLst>
          </p:cNvPr>
          <p:cNvSpPr txBox="1"/>
          <p:nvPr/>
        </p:nvSpPr>
        <p:spPr>
          <a:xfrm>
            <a:off x="532821" y="9996527"/>
            <a:ext cx="3781074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오징어볶음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만드는법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간단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29" name="TextBox 4128">
            <a:extLst>
              <a:ext uri="{FF2B5EF4-FFF2-40B4-BE49-F238E27FC236}">
                <a16:creationId xmlns:a16="http://schemas.microsoft.com/office/drawing/2014/main" id="{CB1DA187-E0A8-19D3-5D2A-89501C7648D8}"/>
              </a:ext>
            </a:extLst>
          </p:cNvPr>
          <p:cNvSpPr txBox="1"/>
          <p:nvPr/>
        </p:nvSpPr>
        <p:spPr>
          <a:xfrm>
            <a:off x="3033818" y="9977141"/>
            <a:ext cx="3781074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대패삼겹살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제육볶음 레시피 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30" name="그림 4129">
            <a:extLst>
              <a:ext uri="{FF2B5EF4-FFF2-40B4-BE49-F238E27FC236}">
                <a16:creationId xmlns:a16="http://schemas.microsoft.com/office/drawing/2014/main" id="{A664407B-0F10-B71D-B303-DAB8FC874E3D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23574" b="18917"/>
          <a:stretch/>
        </p:blipFill>
        <p:spPr>
          <a:xfrm>
            <a:off x="3086138" y="8856951"/>
            <a:ext cx="2182517" cy="1115013"/>
          </a:xfrm>
          <a:prstGeom prst="roundRect">
            <a:avLst/>
          </a:prstGeom>
          <a:noFill/>
        </p:spPr>
      </p:pic>
      <p:sp>
        <p:nvSpPr>
          <p:cNvPr id="4131" name="TextBox 4130">
            <a:extLst>
              <a:ext uri="{FF2B5EF4-FFF2-40B4-BE49-F238E27FC236}">
                <a16:creationId xmlns:a16="http://schemas.microsoft.com/office/drawing/2014/main" id="{095A91A8-33C7-D9DD-9C58-7874223ED6D6}"/>
              </a:ext>
            </a:extLst>
          </p:cNvPr>
          <p:cNvSpPr txBox="1"/>
          <p:nvPr/>
        </p:nvSpPr>
        <p:spPr>
          <a:xfrm>
            <a:off x="5617820" y="9977141"/>
            <a:ext cx="3781074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 장아찌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만드는법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34" name="그림 4133">
            <a:extLst>
              <a:ext uri="{FF2B5EF4-FFF2-40B4-BE49-F238E27FC236}">
                <a16:creationId xmlns:a16="http://schemas.microsoft.com/office/drawing/2014/main" id="{52070868-CC28-8676-0AA0-7C25803C84EC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r="32290"/>
          <a:stretch/>
        </p:blipFill>
        <p:spPr>
          <a:xfrm>
            <a:off x="5696491" y="8855864"/>
            <a:ext cx="1502825" cy="1144310"/>
          </a:xfrm>
          <a:prstGeom prst="rect">
            <a:avLst/>
          </a:prstGeom>
        </p:spPr>
      </p:pic>
      <p:sp>
        <p:nvSpPr>
          <p:cNvPr id="4138" name="TextBox 4137">
            <a:extLst>
              <a:ext uri="{FF2B5EF4-FFF2-40B4-BE49-F238E27FC236}">
                <a16:creationId xmlns:a16="http://schemas.microsoft.com/office/drawing/2014/main" id="{E3629D65-ED80-C8C9-C07C-30EAEBD668DC}"/>
              </a:ext>
            </a:extLst>
          </p:cNvPr>
          <p:cNvSpPr txBox="1"/>
          <p:nvPr/>
        </p:nvSpPr>
        <p:spPr>
          <a:xfrm>
            <a:off x="-1" y="11284031"/>
            <a:ext cx="7199313" cy="331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홈페이지 메뉴 네비게이션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비로그인 상태 가능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현재 페이지는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탭의 페이지에 해당한다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</a:p>
          <a:p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386" dirty="0">
                <a:solidFill>
                  <a:srgbClr val="FF0000"/>
                </a:solidFill>
                <a:highlight>
                  <a:srgbClr val="FFFF00"/>
                </a:highlight>
              </a:rPr>
              <a:t>ⓑ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정보	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나의 닉네임과 사용자 아이디가 보여진다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옆에는 내 정보 수정을 할 수 있는 버튼이 있다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해당 버튼을 누르면 내 정보를 수정할 수 있다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닉네임과 핸드폰번호 비밀번호 정도만 수정할 수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있도록한다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</a:p>
          <a:p>
            <a:endParaRPr lang="en-US" altLang="ko-KR" sz="1386" dirty="0"/>
          </a:p>
          <a:p>
            <a:r>
              <a:rPr lang="ko-KR" altLang="en-US" sz="1386" dirty="0">
                <a:solidFill>
                  <a:srgbClr val="FF0000"/>
                </a:solidFill>
                <a:highlight>
                  <a:srgbClr val="FFFF00"/>
                </a:highlight>
              </a:rPr>
              <a:t>Ⓒ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기록한 레시피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앞서 다른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페이지들에서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기록하기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버튼을 눌러서 기록을 한 레시피는 여기에 보여진다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나열 기준은 최근 기준이다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여기엔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썸네일에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완료하기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공유하기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버튼만 있다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그리고 게시글의 나열은 옆으로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쭈욱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늘어져있는데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드래그를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옆으로하면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새로운 게시글이 계속 나오는 형태이다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이걸 뭐라하지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?) </a:t>
            </a:r>
          </a:p>
          <a:p>
            <a:endParaRPr lang="en-US" altLang="ko-KR" sz="1386" dirty="0"/>
          </a:p>
          <a:p>
            <a:r>
              <a:rPr lang="ko-KR" altLang="en-US" sz="1386" dirty="0">
                <a:solidFill>
                  <a:srgbClr val="FF0000"/>
                </a:solidFill>
                <a:highlight>
                  <a:srgbClr val="FFFF00"/>
                </a:highlight>
              </a:rPr>
              <a:t>Ⓓ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완료한 레시피 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앞서 다른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페이지들에서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완료하기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버튼을 눌러서 내가 이 요리를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완료했다는걸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남긴 레시피는 여기에 보여진다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나열 기준은 최근 기준이다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여기엔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썸네일에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공유하기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기록하기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버튼만 있다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그리고 게시글의 나열은 옆으로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쭈욱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늘어져있는데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드래그를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옆으로하면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새로운 게시글이 계속 나오는 형태이다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이걸 뭐라하지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?) </a:t>
            </a:r>
          </a:p>
        </p:txBody>
      </p:sp>
      <p:sp>
        <p:nvSpPr>
          <p:cNvPr id="4139" name="TextBox 4138">
            <a:extLst>
              <a:ext uri="{FF2B5EF4-FFF2-40B4-BE49-F238E27FC236}">
                <a16:creationId xmlns:a16="http://schemas.microsoft.com/office/drawing/2014/main" id="{AE5AB750-C55D-BCEF-C2B1-C83E7B030CE6}"/>
              </a:ext>
            </a:extLst>
          </p:cNvPr>
          <p:cNvSpPr txBox="1"/>
          <p:nvPr/>
        </p:nvSpPr>
        <p:spPr>
          <a:xfrm>
            <a:off x="1569892" y="3944636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ⓑ</a:t>
            </a:r>
          </a:p>
        </p:txBody>
      </p:sp>
      <p:sp>
        <p:nvSpPr>
          <p:cNvPr id="4140" name="TextBox 4139">
            <a:extLst>
              <a:ext uri="{FF2B5EF4-FFF2-40B4-BE49-F238E27FC236}">
                <a16:creationId xmlns:a16="http://schemas.microsoft.com/office/drawing/2014/main" id="{2260F871-6A41-8CC1-2A47-A185ABD8C3A8}"/>
              </a:ext>
            </a:extLst>
          </p:cNvPr>
          <p:cNvSpPr txBox="1"/>
          <p:nvPr/>
        </p:nvSpPr>
        <p:spPr>
          <a:xfrm>
            <a:off x="239982" y="6309646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Ⓒ</a:t>
            </a:r>
          </a:p>
        </p:txBody>
      </p:sp>
      <p:sp>
        <p:nvSpPr>
          <p:cNvPr id="4141" name="TextBox 4140">
            <a:extLst>
              <a:ext uri="{FF2B5EF4-FFF2-40B4-BE49-F238E27FC236}">
                <a16:creationId xmlns:a16="http://schemas.microsoft.com/office/drawing/2014/main" id="{472CBE95-2E06-586B-B7CB-84A577025E09}"/>
              </a:ext>
            </a:extLst>
          </p:cNvPr>
          <p:cNvSpPr txBox="1"/>
          <p:nvPr/>
        </p:nvSpPr>
        <p:spPr>
          <a:xfrm>
            <a:off x="239982" y="8533184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ⓓ</a:t>
            </a:r>
          </a:p>
        </p:txBody>
      </p:sp>
      <p:grpSp>
        <p:nvGrpSpPr>
          <p:cNvPr id="4110" name="그룹 4109">
            <a:extLst>
              <a:ext uri="{FF2B5EF4-FFF2-40B4-BE49-F238E27FC236}">
                <a16:creationId xmlns:a16="http://schemas.microsoft.com/office/drawing/2014/main" id="{A82DB09C-1942-E865-030E-E6CF974FBA10}"/>
              </a:ext>
            </a:extLst>
          </p:cNvPr>
          <p:cNvGrpSpPr/>
          <p:nvPr/>
        </p:nvGrpSpPr>
        <p:grpSpPr>
          <a:xfrm>
            <a:off x="4673632" y="9681703"/>
            <a:ext cx="518048" cy="260567"/>
            <a:chOff x="7257057" y="1627391"/>
            <a:chExt cx="411240" cy="206845"/>
          </a:xfrm>
        </p:grpSpPr>
        <p:sp>
          <p:nvSpPr>
            <p:cNvPr id="4111" name="타원 4110">
              <a:extLst>
                <a:ext uri="{FF2B5EF4-FFF2-40B4-BE49-F238E27FC236}">
                  <a16:creationId xmlns:a16="http://schemas.microsoft.com/office/drawing/2014/main" id="{092B8754-8575-C9B4-7EDF-C84480A57224}"/>
                </a:ext>
              </a:extLst>
            </p:cNvPr>
            <p:cNvSpPr/>
            <p:nvPr/>
          </p:nvSpPr>
          <p:spPr>
            <a:xfrm>
              <a:off x="7257057" y="1634035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sp>
          <p:nvSpPr>
            <p:cNvPr id="4112" name="타원 4111">
              <a:extLst>
                <a:ext uri="{FF2B5EF4-FFF2-40B4-BE49-F238E27FC236}">
                  <a16:creationId xmlns:a16="http://schemas.microsoft.com/office/drawing/2014/main" id="{6E94B31C-6F19-A852-2574-CD04CF4827B4}"/>
                </a:ext>
              </a:extLst>
            </p:cNvPr>
            <p:cNvSpPr/>
            <p:nvPr/>
          </p:nvSpPr>
          <p:spPr>
            <a:xfrm>
              <a:off x="7462838" y="1627391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pic>
          <p:nvPicPr>
            <p:cNvPr id="4113" name="그림 4112">
              <a:extLst>
                <a:ext uri="{FF2B5EF4-FFF2-40B4-BE49-F238E27FC236}">
                  <a16:creationId xmlns:a16="http://schemas.microsoft.com/office/drawing/2014/main" id="{AA4A9B05-979C-21ED-C356-FDA924365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</a:blip>
            <a:srcRect r="58948"/>
            <a:stretch/>
          </p:blipFill>
          <p:spPr>
            <a:xfrm>
              <a:off x="7266582" y="1675726"/>
              <a:ext cx="167681" cy="158510"/>
            </a:xfrm>
            <a:prstGeom prst="rect">
              <a:avLst/>
            </a:prstGeom>
          </p:spPr>
        </p:pic>
        <p:pic>
          <p:nvPicPr>
            <p:cNvPr id="4114" name="그림 4113">
              <a:extLst>
                <a:ext uri="{FF2B5EF4-FFF2-40B4-BE49-F238E27FC236}">
                  <a16:creationId xmlns:a16="http://schemas.microsoft.com/office/drawing/2014/main" id="{5B007530-47F6-9807-8040-FF956C98A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rcRect l="51274"/>
            <a:stretch/>
          </p:blipFill>
          <p:spPr>
            <a:xfrm>
              <a:off x="7469267" y="1656353"/>
              <a:ext cx="199030" cy="158510"/>
            </a:xfrm>
            <a:prstGeom prst="rect">
              <a:avLst/>
            </a:prstGeom>
          </p:spPr>
        </p:pic>
      </p:grpSp>
      <p:grpSp>
        <p:nvGrpSpPr>
          <p:cNvPr id="4143" name="그룹 4142">
            <a:extLst>
              <a:ext uri="{FF2B5EF4-FFF2-40B4-BE49-F238E27FC236}">
                <a16:creationId xmlns:a16="http://schemas.microsoft.com/office/drawing/2014/main" id="{4B7E96CA-5869-EE33-2E91-2963E2DA9507}"/>
              </a:ext>
            </a:extLst>
          </p:cNvPr>
          <p:cNvGrpSpPr/>
          <p:nvPr/>
        </p:nvGrpSpPr>
        <p:grpSpPr>
          <a:xfrm>
            <a:off x="4608385" y="7323883"/>
            <a:ext cx="570547" cy="289997"/>
            <a:chOff x="1470809" y="4241787"/>
            <a:chExt cx="452915" cy="230207"/>
          </a:xfrm>
        </p:grpSpPr>
        <p:grpSp>
          <p:nvGrpSpPr>
            <p:cNvPr id="4144" name="그룹 4143">
              <a:extLst>
                <a:ext uri="{FF2B5EF4-FFF2-40B4-BE49-F238E27FC236}">
                  <a16:creationId xmlns:a16="http://schemas.microsoft.com/office/drawing/2014/main" id="{0D0928CB-227D-9496-CDB3-09433FD79F41}"/>
                </a:ext>
              </a:extLst>
            </p:cNvPr>
            <p:cNvGrpSpPr/>
            <p:nvPr/>
          </p:nvGrpSpPr>
          <p:grpSpPr>
            <a:xfrm>
              <a:off x="1724694" y="4259159"/>
              <a:ext cx="199030" cy="200201"/>
              <a:chOff x="7257057" y="1634035"/>
              <a:chExt cx="199030" cy="200201"/>
            </a:xfrm>
          </p:grpSpPr>
          <p:sp>
            <p:nvSpPr>
              <p:cNvPr id="4147" name="타원 4146">
                <a:extLst>
                  <a:ext uri="{FF2B5EF4-FFF2-40B4-BE49-F238E27FC236}">
                    <a16:creationId xmlns:a16="http://schemas.microsoft.com/office/drawing/2014/main" id="{00ECA40E-7760-FBE6-963C-8E84C9C25ADA}"/>
                  </a:ext>
                </a:extLst>
              </p:cNvPr>
              <p:cNvSpPr/>
              <p:nvPr/>
            </p:nvSpPr>
            <p:spPr>
              <a:xfrm>
                <a:off x="7257057" y="1634035"/>
                <a:ext cx="199030" cy="19903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  <a:alpha val="6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67"/>
              </a:p>
            </p:txBody>
          </p:sp>
          <p:pic>
            <p:nvPicPr>
              <p:cNvPr id="4148" name="그림 4147">
                <a:extLst>
                  <a:ext uri="{FF2B5EF4-FFF2-40B4-BE49-F238E27FC236}">
                    <a16:creationId xmlns:a16="http://schemas.microsoft.com/office/drawing/2014/main" id="{9D38557D-A598-2AF7-6711-24834CEC3A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lum bright="70000" contrast="-70000"/>
              </a:blip>
              <a:srcRect r="58948"/>
              <a:stretch/>
            </p:blipFill>
            <p:spPr>
              <a:xfrm>
                <a:off x="7266582" y="1675726"/>
                <a:ext cx="167681" cy="158510"/>
              </a:xfrm>
              <a:prstGeom prst="rect">
                <a:avLst/>
              </a:prstGeom>
            </p:spPr>
          </p:pic>
        </p:grpSp>
        <p:sp>
          <p:nvSpPr>
            <p:cNvPr id="4145" name="타원 4144">
              <a:extLst>
                <a:ext uri="{FF2B5EF4-FFF2-40B4-BE49-F238E27FC236}">
                  <a16:creationId xmlns:a16="http://schemas.microsoft.com/office/drawing/2014/main" id="{9CBA4CEC-8A46-4D98-8425-1458D9B4E6A5}"/>
                </a:ext>
              </a:extLst>
            </p:cNvPr>
            <p:cNvSpPr/>
            <p:nvPr/>
          </p:nvSpPr>
          <p:spPr>
            <a:xfrm>
              <a:off x="1470809" y="4241787"/>
              <a:ext cx="230207" cy="23020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pic>
          <p:nvPicPr>
            <p:cNvPr id="4146" name="그림 4145">
              <a:extLst>
                <a:ext uri="{FF2B5EF4-FFF2-40B4-BE49-F238E27FC236}">
                  <a16:creationId xmlns:a16="http://schemas.microsoft.com/office/drawing/2014/main" id="{BC457321-3731-1ACB-9E97-F84528E3F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lum bright="70000" contrast="-70000"/>
            </a:blip>
            <a:stretch>
              <a:fillRect/>
            </a:stretch>
          </p:blipFill>
          <p:spPr>
            <a:xfrm>
              <a:off x="1511179" y="4313497"/>
              <a:ext cx="149467" cy="107990"/>
            </a:xfrm>
            <a:prstGeom prst="rect">
              <a:avLst/>
            </a:prstGeom>
          </p:spPr>
        </p:pic>
      </p:grpSp>
      <p:grpSp>
        <p:nvGrpSpPr>
          <p:cNvPr id="4149" name="그룹 4148">
            <a:extLst>
              <a:ext uri="{FF2B5EF4-FFF2-40B4-BE49-F238E27FC236}">
                <a16:creationId xmlns:a16="http://schemas.microsoft.com/office/drawing/2014/main" id="{F541F971-1BE9-B562-D290-36C8D5E2300F}"/>
              </a:ext>
            </a:extLst>
          </p:cNvPr>
          <p:cNvGrpSpPr/>
          <p:nvPr/>
        </p:nvGrpSpPr>
        <p:grpSpPr>
          <a:xfrm>
            <a:off x="2131272" y="9672401"/>
            <a:ext cx="518048" cy="260567"/>
            <a:chOff x="7257057" y="1627391"/>
            <a:chExt cx="411240" cy="206845"/>
          </a:xfrm>
        </p:grpSpPr>
        <p:sp>
          <p:nvSpPr>
            <p:cNvPr id="4150" name="타원 4149">
              <a:extLst>
                <a:ext uri="{FF2B5EF4-FFF2-40B4-BE49-F238E27FC236}">
                  <a16:creationId xmlns:a16="http://schemas.microsoft.com/office/drawing/2014/main" id="{4980D08B-1423-987E-90DB-A15AD5B9EE9B}"/>
                </a:ext>
              </a:extLst>
            </p:cNvPr>
            <p:cNvSpPr/>
            <p:nvPr/>
          </p:nvSpPr>
          <p:spPr>
            <a:xfrm>
              <a:off x="7257057" y="1634035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sp>
          <p:nvSpPr>
            <p:cNvPr id="4151" name="타원 4150">
              <a:extLst>
                <a:ext uri="{FF2B5EF4-FFF2-40B4-BE49-F238E27FC236}">
                  <a16:creationId xmlns:a16="http://schemas.microsoft.com/office/drawing/2014/main" id="{FBDDD39C-744E-8882-EB13-F57C07AE4859}"/>
                </a:ext>
              </a:extLst>
            </p:cNvPr>
            <p:cNvSpPr/>
            <p:nvPr/>
          </p:nvSpPr>
          <p:spPr>
            <a:xfrm>
              <a:off x="7462838" y="1627391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pic>
          <p:nvPicPr>
            <p:cNvPr id="4152" name="그림 4151">
              <a:extLst>
                <a:ext uri="{FF2B5EF4-FFF2-40B4-BE49-F238E27FC236}">
                  <a16:creationId xmlns:a16="http://schemas.microsoft.com/office/drawing/2014/main" id="{EFD17012-D3C9-8D2B-1D9E-4738A5067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</a:blip>
            <a:srcRect r="58948"/>
            <a:stretch/>
          </p:blipFill>
          <p:spPr>
            <a:xfrm>
              <a:off x="7266582" y="1675726"/>
              <a:ext cx="167681" cy="158510"/>
            </a:xfrm>
            <a:prstGeom prst="rect">
              <a:avLst/>
            </a:prstGeom>
          </p:spPr>
        </p:pic>
        <p:pic>
          <p:nvPicPr>
            <p:cNvPr id="4154" name="그림 4153">
              <a:extLst>
                <a:ext uri="{FF2B5EF4-FFF2-40B4-BE49-F238E27FC236}">
                  <a16:creationId xmlns:a16="http://schemas.microsoft.com/office/drawing/2014/main" id="{159AD745-912B-698A-D710-2CFD51ED0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rcRect l="51274"/>
            <a:stretch/>
          </p:blipFill>
          <p:spPr>
            <a:xfrm>
              <a:off x="7469267" y="1656353"/>
              <a:ext cx="199030" cy="1585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77613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03D97-82AB-6C8A-3F1A-77FF94630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3" name="직사각형 4152">
            <a:extLst>
              <a:ext uri="{FF2B5EF4-FFF2-40B4-BE49-F238E27FC236}">
                <a16:creationId xmlns:a16="http://schemas.microsoft.com/office/drawing/2014/main" id="{88CC700F-B943-202D-4979-C93ECE36FBAD}"/>
              </a:ext>
            </a:extLst>
          </p:cNvPr>
          <p:cNvSpPr/>
          <p:nvPr/>
        </p:nvSpPr>
        <p:spPr>
          <a:xfrm>
            <a:off x="-1" y="1980408"/>
            <a:ext cx="7199313" cy="11808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1B9252-6A79-C7A6-22F8-A953416662D3}"/>
              </a:ext>
            </a:extLst>
          </p:cNvPr>
          <p:cNvSpPr/>
          <p:nvPr/>
        </p:nvSpPr>
        <p:spPr>
          <a:xfrm>
            <a:off x="-1" y="2593750"/>
            <a:ext cx="7199313" cy="8125692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A65D719-B7A4-6CF8-18BB-C37EBBCB1124}"/>
              </a:ext>
            </a:extLst>
          </p:cNvPr>
          <p:cNvCxnSpPr>
            <a:cxnSpLocks/>
          </p:cNvCxnSpPr>
          <p:nvPr/>
        </p:nvCxnSpPr>
        <p:spPr>
          <a:xfrm>
            <a:off x="-1" y="2565646"/>
            <a:ext cx="7199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F1193603-9590-3E79-BC8B-9B710FA74F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251"/>
          <a:stretch/>
        </p:blipFill>
        <p:spPr>
          <a:xfrm>
            <a:off x="-1" y="2591586"/>
            <a:ext cx="7199313" cy="329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AAB949-0855-27CB-100F-87EEEA96E58A}"/>
              </a:ext>
            </a:extLst>
          </p:cNvPr>
          <p:cNvSpPr txBox="1"/>
          <p:nvPr/>
        </p:nvSpPr>
        <p:spPr>
          <a:xfrm>
            <a:off x="213617" y="3024667"/>
            <a:ext cx="1109824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DF8EA8-943C-0257-2245-2C82FEC2FB07}"/>
              </a:ext>
            </a:extLst>
          </p:cNvPr>
          <p:cNvSpPr txBox="1"/>
          <p:nvPr/>
        </p:nvSpPr>
        <p:spPr>
          <a:xfrm>
            <a:off x="1476515" y="3026376"/>
            <a:ext cx="1248260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0A8880-E79C-E82D-C647-7E0E35BEA7F3}"/>
              </a:ext>
            </a:extLst>
          </p:cNvPr>
          <p:cNvSpPr txBox="1"/>
          <p:nvPr/>
        </p:nvSpPr>
        <p:spPr>
          <a:xfrm>
            <a:off x="3978103" y="3024667"/>
            <a:ext cx="496443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A96D66-9A7E-2EF0-D48A-83D2B4644EA7}"/>
              </a:ext>
            </a:extLst>
          </p:cNvPr>
          <p:cNvSpPr txBox="1"/>
          <p:nvPr/>
        </p:nvSpPr>
        <p:spPr>
          <a:xfrm>
            <a:off x="4650690" y="2985634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ⓐ</a:t>
            </a:r>
          </a:p>
        </p:txBody>
      </p:sp>
      <p:sp>
        <p:nvSpPr>
          <p:cNvPr id="4136" name="TextBox 4135">
            <a:extLst>
              <a:ext uri="{FF2B5EF4-FFF2-40B4-BE49-F238E27FC236}">
                <a16:creationId xmlns:a16="http://schemas.microsoft.com/office/drawing/2014/main" id="{D3D586DB-3125-A306-BE33-DF0E1333951C}"/>
              </a:ext>
            </a:extLst>
          </p:cNvPr>
          <p:cNvSpPr txBox="1"/>
          <p:nvPr/>
        </p:nvSpPr>
        <p:spPr>
          <a:xfrm>
            <a:off x="2" y="1980409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UI 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구성</a:t>
            </a:r>
            <a:endParaRPr lang="ko-KR" altLang="en-US" sz="2267" dirty="0"/>
          </a:p>
        </p:txBody>
      </p:sp>
      <p:sp>
        <p:nvSpPr>
          <p:cNvPr id="4137" name="TextBox 4136">
            <a:extLst>
              <a:ext uri="{FF2B5EF4-FFF2-40B4-BE49-F238E27FC236}">
                <a16:creationId xmlns:a16="http://schemas.microsoft.com/office/drawing/2014/main" id="{F90FB342-DCBA-43D4-3EAB-8ED88E61C8F8}"/>
              </a:ext>
            </a:extLst>
          </p:cNvPr>
          <p:cNvSpPr txBox="1"/>
          <p:nvPr/>
        </p:nvSpPr>
        <p:spPr>
          <a:xfrm>
            <a:off x="2" y="10799768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2267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7AE513-AAD3-D89B-3C6E-ACA18E83E9E3}"/>
              </a:ext>
            </a:extLst>
          </p:cNvPr>
          <p:cNvSpPr txBox="1"/>
          <p:nvPr/>
        </p:nvSpPr>
        <p:spPr>
          <a:xfrm>
            <a:off x="2896176" y="3024667"/>
            <a:ext cx="928852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DE12F3A-44D7-9901-7BCD-F97AC9433EDE}"/>
              </a:ext>
            </a:extLst>
          </p:cNvPr>
          <p:cNvCxnSpPr>
            <a:cxnSpLocks/>
          </p:cNvCxnSpPr>
          <p:nvPr/>
        </p:nvCxnSpPr>
        <p:spPr>
          <a:xfrm>
            <a:off x="348104" y="4013964"/>
            <a:ext cx="65741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0547303-FC27-C4F9-A5B4-337758BAD117}"/>
              </a:ext>
            </a:extLst>
          </p:cNvPr>
          <p:cNvSpPr txBox="1"/>
          <p:nvPr/>
        </p:nvSpPr>
        <p:spPr>
          <a:xfrm>
            <a:off x="2724777" y="3548521"/>
            <a:ext cx="1442625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완료한 레시피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11" name="Picture 4" descr="확인하다 - 무료 ui개 아이콘">
            <a:extLst>
              <a:ext uri="{FF2B5EF4-FFF2-40B4-BE49-F238E27FC236}">
                <a16:creationId xmlns:a16="http://schemas.microsoft.com/office/drawing/2014/main" id="{52C83968-95C9-4BE7-AA56-6FF6BD043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1868" y="3590954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91E6C2E-9415-83FE-F211-280F6E803510}"/>
              </a:ext>
            </a:extLst>
          </p:cNvPr>
          <p:cNvSpPr/>
          <p:nvPr/>
        </p:nvSpPr>
        <p:spPr>
          <a:xfrm>
            <a:off x="263353" y="4214693"/>
            <a:ext cx="6707827" cy="2087464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E053ACB-10E8-E164-098D-7506675C8A7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457" b="4397"/>
          <a:stretch/>
        </p:blipFill>
        <p:spPr>
          <a:xfrm>
            <a:off x="471863" y="4366278"/>
            <a:ext cx="830748" cy="7950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3A9DD49-45B0-2E42-B84C-CCCAE38FB07C}"/>
              </a:ext>
            </a:extLst>
          </p:cNvPr>
          <p:cNvSpPr txBox="1"/>
          <p:nvPr/>
        </p:nvSpPr>
        <p:spPr>
          <a:xfrm>
            <a:off x="1424025" y="4329035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오징어볶음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만드는법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간단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20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36768A56-0EB2-EAE6-EEEC-7E5A53F01B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5836876" y="4397234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F41AD5E-8389-8BAE-83B6-862ECF43D329}"/>
              </a:ext>
            </a:extLst>
          </p:cNvPr>
          <p:cNvSpPr/>
          <p:nvPr/>
        </p:nvSpPr>
        <p:spPr>
          <a:xfrm>
            <a:off x="430719" y="5302900"/>
            <a:ext cx="871892" cy="79505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99%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59D577-9877-2BEA-061A-B8EBBDF2A425}"/>
              </a:ext>
            </a:extLst>
          </p:cNvPr>
          <p:cNvSpPr txBox="1"/>
          <p:nvPr/>
        </p:nvSpPr>
        <p:spPr>
          <a:xfrm>
            <a:off x="5918780" y="4329035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777ls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25-03-08</a:t>
            </a:r>
            <a:endParaRPr lang="en-US" altLang="ko-KR" sz="126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06BC5B-152E-6B4A-B8F3-9A40C9B388AB}"/>
              </a:ext>
            </a:extLst>
          </p:cNvPr>
          <p:cNvSpPr txBox="1"/>
          <p:nvPr/>
        </p:nvSpPr>
        <p:spPr>
          <a:xfrm>
            <a:off x="1405927" y="4673433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저는 평소 찬거리 고를 때 마트에 가서 한 번 쭉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~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둘러 본 다음에 오늘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세일하는거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뭔가 보고 결정을 해요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지난주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어느날에는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마트에 갔는데 오징어 세일이라 집어 왔어요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ㅎ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그래서 이걸로 오징어요리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뭐할까하다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그냥 제일 간단한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물기없는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오징어볶음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레시피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895B011-62F6-E019-593F-CE16E6DA4646}"/>
              </a:ext>
            </a:extLst>
          </p:cNvPr>
          <p:cNvSpPr/>
          <p:nvPr/>
        </p:nvSpPr>
        <p:spPr>
          <a:xfrm>
            <a:off x="1443258" y="5298841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FA4ADC9-911C-41F6-28C2-57998F053B5B}"/>
              </a:ext>
            </a:extLst>
          </p:cNvPr>
          <p:cNvSpPr/>
          <p:nvPr/>
        </p:nvSpPr>
        <p:spPr>
          <a:xfrm>
            <a:off x="1443258" y="5594848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3917038-40B7-CE89-0856-17EBA8E6A5E8}"/>
              </a:ext>
            </a:extLst>
          </p:cNvPr>
          <p:cNvSpPr/>
          <p:nvPr/>
        </p:nvSpPr>
        <p:spPr>
          <a:xfrm>
            <a:off x="2496990" y="5592024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598A5AF-F8A0-FF2A-A60A-0F41B5D3E8BB}"/>
              </a:ext>
            </a:extLst>
          </p:cNvPr>
          <p:cNvSpPr/>
          <p:nvPr/>
        </p:nvSpPr>
        <p:spPr>
          <a:xfrm>
            <a:off x="2496990" y="530061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양파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17DE247-C01A-347B-F8ED-7FAE23CDCBFF}"/>
              </a:ext>
            </a:extLst>
          </p:cNvPr>
          <p:cNvSpPr/>
          <p:nvPr/>
        </p:nvSpPr>
        <p:spPr>
          <a:xfrm>
            <a:off x="2999339" y="530061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대파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91246F95-D67D-FEA7-8EFD-681F009E63D3}"/>
              </a:ext>
            </a:extLst>
          </p:cNvPr>
          <p:cNvSpPr/>
          <p:nvPr/>
        </p:nvSpPr>
        <p:spPr>
          <a:xfrm>
            <a:off x="3501689" y="530061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통깨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8805B75-3076-AFF1-06CA-0CB071634F20}"/>
              </a:ext>
            </a:extLst>
          </p:cNvPr>
          <p:cNvSpPr/>
          <p:nvPr/>
        </p:nvSpPr>
        <p:spPr>
          <a:xfrm>
            <a:off x="4004038" y="530061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참기름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A194399-33C0-F4D5-354E-EBE1AC1F79D7}"/>
              </a:ext>
            </a:extLst>
          </p:cNvPr>
          <p:cNvSpPr/>
          <p:nvPr/>
        </p:nvSpPr>
        <p:spPr>
          <a:xfrm>
            <a:off x="4506388" y="530061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고춧가루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1A8FFFF-B38B-047B-D79C-2EE0A00A73AD}"/>
              </a:ext>
            </a:extLst>
          </p:cNvPr>
          <p:cNvSpPr/>
          <p:nvPr/>
        </p:nvSpPr>
        <p:spPr>
          <a:xfrm>
            <a:off x="5008737" y="530061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올리고당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1C7EEF4-156E-BCF5-0F8B-A8B5933435B5}"/>
              </a:ext>
            </a:extLst>
          </p:cNvPr>
          <p:cNvSpPr/>
          <p:nvPr/>
        </p:nvSpPr>
        <p:spPr>
          <a:xfrm>
            <a:off x="5511087" y="530061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설탕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D620212E-63E0-E9B2-A0EA-3041631FBF6F}"/>
              </a:ext>
            </a:extLst>
          </p:cNvPr>
          <p:cNvSpPr/>
          <p:nvPr/>
        </p:nvSpPr>
        <p:spPr>
          <a:xfrm>
            <a:off x="6013436" y="530061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다진마늘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3C64A15-7923-2429-7673-7E363AF68CDB}"/>
              </a:ext>
            </a:extLst>
          </p:cNvPr>
          <p:cNvSpPr txBox="1"/>
          <p:nvPr/>
        </p:nvSpPr>
        <p:spPr>
          <a:xfrm>
            <a:off x="6504328" y="5254999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119C7B33-F747-8935-9D2D-CF5E042312C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1920"/>
          <a:stretch/>
        </p:blipFill>
        <p:spPr>
          <a:xfrm flipH="1">
            <a:off x="6669029" y="4690610"/>
            <a:ext cx="116844" cy="547211"/>
          </a:xfrm>
          <a:prstGeom prst="rect">
            <a:avLst/>
          </a:prstGeom>
        </p:spPr>
      </p:pic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A6E42BD3-DC17-3336-E4F6-EA8374312024}"/>
              </a:ext>
            </a:extLst>
          </p:cNvPr>
          <p:cNvSpPr/>
          <p:nvPr/>
        </p:nvSpPr>
        <p:spPr>
          <a:xfrm>
            <a:off x="263353" y="6410468"/>
            <a:ext cx="6707827" cy="2054821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B35825-1A41-8F8C-72D4-9DE9E493A9C2}"/>
              </a:ext>
            </a:extLst>
          </p:cNvPr>
          <p:cNvSpPr txBox="1"/>
          <p:nvPr/>
        </p:nvSpPr>
        <p:spPr>
          <a:xfrm>
            <a:off x="1424025" y="6524810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대패삼겹살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제육볶음 레시피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9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4F49F710-24F0-2DC2-24F5-E2753E7F1A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5836876" y="6593009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7E045009-F735-79B7-55FA-9F872659D9B2}"/>
              </a:ext>
            </a:extLst>
          </p:cNvPr>
          <p:cNvSpPr/>
          <p:nvPr/>
        </p:nvSpPr>
        <p:spPr>
          <a:xfrm>
            <a:off x="430719" y="7498676"/>
            <a:ext cx="871892" cy="82696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90%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617BC5D-474D-5998-13E8-984026389AA0}"/>
              </a:ext>
            </a:extLst>
          </p:cNvPr>
          <p:cNvSpPr txBox="1"/>
          <p:nvPr/>
        </p:nvSpPr>
        <p:spPr>
          <a:xfrm>
            <a:off x="5918780" y="6524810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꼬마츄츄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25-04-09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49E4D62-51A7-7C00-167C-54E6A4751BB7}"/>
              </a:ext>
            </a:extLst>
          </p:cNvPr>
          <p:cNvSpPr txBox="1"/>
          <p:nvPr/>
        </p:nvSpPr>
        <p:spPr>
          <a:xfrm>
            <a:off x="1405927" y="6869208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미리 양념장을 만들어서 볶으셔도 좋고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저처럼 그냥 바로 재료에 다 때려 넣고 볶아도 맛있는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대패삼겹살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제육볶음 레시피 만들 수 있답니다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개인적으로 아주 좋아하는 메뉴이기 때문에 앞다리살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목살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삼겹살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뒷다리살 등 구입을 해오면 볶아먹게 되는 것 같습니다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… 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EFA86DAA-8894-D0DC-09E8-A1B72435259A}"/>
              </a:ext>
            </a:extLst>
          </p:cNvPr>
          <p:cNvSpPr/>
          <p:nvPr/>
        </p:nvSpPr>
        <p:spPr>
          <a:xfrm>
            <a:off x="1443258" y="7494617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04C149B3-CDDD-364A-3F30-764CF695D15C}"/>
              </a:ext>
            </a:extLst>
          </p:cNvPr>
          <p:cNvSpPr/>
          <p:nvPr/>
        </p:nvSpPr>
        <p:spPr>
          <a:xfrm>
            <a:off x="1443258" y="7790624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CCDA6BDD-4687-155F-0FF6-83EE7922FEA2}"/>
              </a:ext>
            </a:extLst>
          </p:cNvPr>
          <p:cNvSpPr/>
          <p:nvPr/>
        </p:nvSpPr>
        <p:spPr>
          <a:xfrm>
            <a:off x="2496990" y="778779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BE740D17-4234-2E8B-D52E-92E64C85A5B6}"/>
              </a:ext>
            </a:extLst>
          </p:cNvPr>
          <p:cNvSpPr/>
          <p:nvPr/>
        </p:nvSpPr>
        <p:spPr>
          <a:xfrm>
            <a:off x="2992029" y="778779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511800D4-F5A9-25E9-5261-8E410AD12CBE}"/>
              </a:ext>
            </a:extLst>
          </p:cNvPr>
          <p:cNvSpPr/>
          <p:nvPr/>
        </p:nvSpPr>
        <p:spPr>
          <a:xfrm>
            <a:off x="2496990" y="749638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삽겹살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218AB75A-39F6-4F98-F701-1DDFF207173F}"/>
              </a:ext>
            </a:extLst>
          </p:cNvPr>
          <p:cNvSpPr/>
          <p:nvPr/>
        </p:nvSpPr>
        <p:spPr>
          <a:xfrm>
            <a:off x="2999339" y="749638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후추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2563520D-ADCE-0E6F-7DD7-367C4B38E02E}"/>
              </a:ext>
            </a:extLst>
          </p:cNvPr>
          <p:cNvSpPr/>
          <p:nvPr/>
        </p:nvSpPr>
        <p:spPr>
          <a:xfrm>
            <a:off x="3501689" y="749638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양파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9C644367-2CF8-B344-9669-6FB1276FFAD6}"/>
              </a:ext>
            </a:extLst>
          </p:cNvPr>
          <p:cNvSpPr/>
          <p:nvPr/>
        </p:nvSpPr>
        <p:spPr>
          <a:xfrm>
            <a:off x="4004038" y="749638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대파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5CB3A485-6B04-E986-C31C-09C3EBDF2748}"/>
              </a:ext>
            </a:extLst>
          </p:cNvPr>
          <p:cNvSpPr/>
          <p:nvPr/>
        </p:nvSpPr>
        <p:spPr>
          <a:xfrm>
            <a:off x="4506388" y="749638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고추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EE708BE5-82D1-A341-CEFE-7FCF940D7122}"/>
              </a:ext>
            </a:extLst>
          </p:cNvPr>
          <p:cNvSpPr/>
          <p:nvPr/>
        </p:nvSpPr>
        <p:spPr>
          <a:xfrm>
            <a:off x="5008737" y="749638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간장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29635C09-0D32-3997-3AE3-901AA05185CF}"/>
              </a:ext>
            </a:extLst>
          </p:cNvPr>
          <p:cNvSpPr/>
          <p:nvPr/>
        </p:nvSpPr>
        <p:spPr>
          <a:xfrm>
            <a:off x="5511087" y="749638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다진마늘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096" name="사각형: 둥근 모서리 4095">
            <a:extLst>
              <a:ext uri="{FF2B5EF4-FFF2-40B4-BE49-F238E27FC236}">
                <a16:creationId xmlns:a16="http://schemas.microsoft.com/office/drawing/2014/main" id="{513A23E0-F813-7A3C-5B16-06D303290093}"/>
              </a:ext>
            </a:extLst>
          </p:cNvPr>
          <p:cNvSpPr/>
          <p:nvPr/>
        </p:nvSpPr>
        <p:spPr>
          <a:xfrm>
            <a:off x="6013436" y="749638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설탕 </a:t>
            </a:r>
          </a:p>
        </p:txBody>
      </p:sp>
      <p:sp>
        <p:nvSpPr>
          <p:cNvPr id="4097" name="TextBox 4096">
            <a:extLst>
              <a:ext uri="{FF2B5EF4-FFF2-40B4-BE49-F238E27FC236}">
                <a16:creationId xmlns:a16="http://schemas.microsoft.com/office/drawing/2014/main" id="{6C28A2F9-3C17-30F6-FF31-5629B30893C6}"/>
              </a:ext>
            </a:extLst>
          </p:cNvPr>
          <p:cNvSpPr txBox="1"/>
          <p:nvPr/>
        </p:nvSpPr>
        <p:spPr>
          <a:xfrm>
            <a:off x="6504328" y="7450774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099" name="그림 4098">
            <a:extLst>
              <a:ext uri="{FF2B5EF4-FFF2-40B4-BE49-F238E27FC236}">
                <a16:creationId xmlns:a16="http://schemas.microsoft.com/office/drawing/2014/main" id="{EE2B9DAE-6866-B8C1-D87B-5AEE646119F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1920"/>
          <a:stretch/>
        </p:blipFill>
        <p:spPr>
          <a:xfrm flipH="1">
            <a:off x="6669029" y="6886385"/>
            <a:ext cx="116844" cy="547211"/>
          </a:xfrm>
          <a:prstGeom prst="rect">
            <a:avLst/>
          </a:prstGeom>
        </p:spPr>
      </p:pic>
      <p:pic>
        <p:nvPicPr>
          <p:cNvPr id="4152" name="그림 4151">
            <a:extLst>
              <a:ext uri="{FF2B5EF4-FFF2-40B4-BE49-F238E27FC236}">
                <a16:creationId xmlns:a16="http://schemas.microsoft.com/office/drawing/2014/main" id="{42F7A33E-5F77-3D5B-DBEA-0CA196925C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076" y="6555522"/>
            <a:ext cx="826571" cy="795050"/>
          </a:xfrm>
          <a:prstGeom prst="rect">
            <a:avLst/>
          </a:prstGeom>
        </p:spPr>
      </p:pic>
      <p:sp>
        <p:nvSpPr>
          <p:cNvPr id="4155" name="TextBox 4154">
            <a:extLst>
              <a:ext uri="{FF2B5EF4-FFF2-40B4-BE49-F238E27FC236}">
                <a16:creationId xmlns:a16="http://schemas.microsoft.com/office/drawing/2014/main" id="{6C8C14D7-57C2-8F90-832F-83483C179FF3}"/>
              </a:ext>
            </a:extLst>
          </p:cNvPr>
          <p:cNvSpPr txBox="1"/>
          <p:nvPr/>
        </p:nvSpPr>
        <p:spPr>
          <a:xfrm>
            <a:off x="148087" y="4182882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ⓑ</a:t>
            </a:r>
          </a:p>
        </p:txBody>
      </p:sp>
      <p:sp>
        <p:nvSpPr>
          <p:cNvPr id="4158" name="사각형: 둥근 모서리 4157">
            <a:extLst>
              <a:ext uri="{FF2B5EF4-FFF2-40B4-BE49-F238E27FC236}">
                <a16:creationId xmlns:a16="http://schemas.microsoft.com/office/drawing/2014/main" id="{25887397-9E8F-0CC0-4988-64AC835DF88A}"/>
              </a:ext>
            </a:extLst>
          </p:cNvPr>
          <p:cNvSpPr/>
          <p:nvPr/>
        </p:nvSpPr>
        <p:spPr>
          <a:xfrm>
            <a:off x="3501689" y="7790624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</a:t>
            </a:r>
          </a:p>
        </p:txBody>
      </p:sp>
      <p:pic>
        <p:nvPicPr>
          <p:cNvPr id="4161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D77ED081-3FD1-D3ED-0F58-A73F4C8ADD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5203123" y="6576435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62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CA9896A2-7859-D45E-71BA-036A5F8C0F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5212301" y="4397234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63" name="사각형: 둥근 모서리 4162">
            <a:extLst>
              <a:ext uri="{FF2B5EF4-FFF2-40B4-BE49-F238E27FC236}">
                <a16:creationId xmlns:a16="http://schemas.microsoft.com/office/drawing/2014/main" id="{9FDA08C3-C3C9-1B22-2C5F-875E0FB56987}"/>
              </a:ext>
            </a:extLst>
          </p:cNvPr>
          <p:cNvSpPr/>
          <p:nvPr/>
        </p:nvSpPr>
        <p:spPr>
          <a:xfrm>
            <a:off x="1443258" y="5890784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4164" name="사각형: 둥근 모서리 4163">
            <a:extLst>
              <a:ext uri="{FF2B5EF4-FFF2-40B4-BE49-F238E27FC236}">
                <a16:creationId xmlns:a16="http://schemas.microsoft.com/office/drawing/2014/main" id="{B204BBC3-79FB-7BF4-CB47-455FEBA40E90}"/>
              </a:ext>
            </a:extLst>
          </p:cNvPr>
          <p:cNvSpPr/>
          <p:nvPr/>
        </p:nvSpPr>
        <p:spPr>
          <a:xfrm>
            <a:off x="2496990" y="5913954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한치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65" name="사각형: 둥근 모서리 4164">
            <a:extLst>
              <a:ext uri="{FF2B5EF4-FFF2-40B4-BE49-F238E27FC236}">
                <a16:creationId xmlns:a16="http://schemas.microsoft.com/office/drawing/2014/main" id="{FA45CA06-BB15-DB4A-3131-3B3CFBD78900}"/>
              </a:ext>
            </a:extLst>
          </p:cNvPr>
          <p:cNvSpPr/>
          <p:nvPr/>
        </p:nvSpPr>
        <p:spPr>
          <a:xfrm>
            <a:off x="1443258" y="8087805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4166" name="사각형: 둥근 모서리 4165">
            <a:extLst>
              <a:ext uri="{FF2B5EF4-FFF2-40B4-BE49-F238E27FC236}">
                <a16:creationId xmlns:a16="http://schemas.microsoft.com/office/drawing/2014/main" id="{35049597-D343-29D6-0267-98101C12482C}"/>
              </a:ext>
            </a:extLst>
          </p:cNvPr>
          <p:cNvSpPr/>
          <p:nvPr/>
        </p:nvSpPr>
        <p:spPr>
          <a:xfrm>
            <a:off x="2496990" y="8110975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소주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67" name="사각형: 둥근 모서리 4166">
            <a:extLst>
              <a:ext uri="{FF2B5EF4-FFF2-40B4-BE49-F238E27FC236}">
                <a16:creationId xmlns:a16="http://schemas.microsoft.com/office/drawing/2014/main" id="{9556B3D8-18E1-8079-D8D0-14C60138FA8C}"/>
              </a:ext>
            </a:extLst>
          </p:cNvPr>
          <p:cNvSpPr/>
          <p:nvPr/>
        </p:nvSpPr>
        <p:spPr>
          <a:xfrm>
            <a:off x="3332030" y="8114857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청주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68" name="사각형: 둥근 모서리 4167">
            <a:extLst>
              <a:ext uri="{FF2B5EF4-FFF2-40B4-BE49-F238E27FC236}">
                <a16:creationId xmlns:a16="http://schemas.microsoft.com/office/drawing/2014/main" id="{F488664C-7DB0-50ED-EAE3-A8E695B013C3}"/>
              </a:ext>
            </a:extLst>
          </p:cNvPr>
          <p:cNvSpPr/>
          <p:nvPr/>
        </p:nvSpPr>
        <p:spPr>
          <a:xfrm>
            <a:off x="4206043" y="8118507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한치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75" name="Picture 4" descr="확인하다 - 무료 ui개 아이콘">
            <a:extLst>
              <a:ext uri="{FF2B5EF4-FFF2-40B4-BE49-F238E27FC236}">
                <a16:creationId xmlns:a16="http://schemas.microsoft.com/office/drawing/2014/main" id="{384318CF-5A90-FC6E-1DB3-467601A40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846" y="6544206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76" name="Picture 4" descr="확인하다 - 무료 ui개 아이콘">
            <a:extLst>
              <a:ext uri="{FF2B5EF4-FFF2-40B4-BE49-F238E27FC236}">
                <a16:creationId xmlns:a16="http://schemas.microsoft.com/office/drawing/2014/main" id="{3BF3ECE9-D513-9E9E-D961-1097E6A96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0963" y="4372364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77" name="사각형: 둥근 모서리 4176">
            <a:extLst>
              <a:ext uri="{FF2B5EF4-FFF2-40B4-BE49-F238E27FC236}">
                <a16:creationId xmlns:a16="http://schemas.microsoft.com/office/drawing/2014/main" id="{3953E814-1860-0F32-FC2C-3B671D1F8F62}"/>
              </a:ext>
            </a:extLst>
          </p:cNvPr>
          <p:cNvSpPr/>
          <p:nvPr/>
        </p:nvSpPr>
        <p:spPr>
          <a:xfrm>
            <a:off x="281274" y="8559563"/>
            <a:ext cx="6707827" cy="2054821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4178" name="TextBox 4177">
            <a:extLst>
              <a:ext uri="{FF2B5EF4-FFF2-40B4-BE49-F238E27FC236}">
                <a16:creationId xmlns:a16="http://schemas.microsoft.com/office/drawing/2014/main" id="{D58FEC90-D21C-381B-3D27-A5AB2BA5C341}"/>
              </a:ext>
            </a:extLst>
          </p:cNvPr>
          <p:cNvSpPr txBox="1"/>
          <p:nvPr/>
        </p:nvSpPr>
        <p:spPr>
          <a:xfrm>
            <a:off x="1441946" y="8673905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 장아찌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만드는법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79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2BCF4AAB-D519-6CD0-FFC9-E966541CD2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5854797" y="8742104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80" name="사각형: 둥근 모서리 4179">
            <a:extLst>
              <a:ext uri="{FF2B5EF4-FFF2-40B4-BE49-F238E27FC236}">
                <a16:creationId xmlns:a16="http://schemas.microsoft.com/office/drawing/2014/main" id="{4310C70B-1583-F667-CFC3-4675E047A7E7}"/>
              </a:ext>
            </a:extLst>
          </p:cNvPr>
          <p:cNvSpPr/>
          <p:nvPr/>
        </p:nvSpPr>
        <p:spPr>
          <a:xfrm>
            <a:off x="448640" y="9647770"/>
            <a:ext cx="871892" cy="82696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84%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81" name="TextBox 4180">
            <a:extLst>
              <a:ext uri="{FF2B5EF4-FFF2-40B4-BE49-F238E27FC236}">
                <a16:creationId xmlns:a16="http://schemas.microsoft.com/office/drawing/2014/main" id="{EB5D3096-EF98-B704-B3E1-4280A31903CC}"/>
              </a:ext>
            </a:extLst>
          </p:cNvPr>
          <p:cNvSpPr txBox="1"/>
          <p:nvPr/>
        </p:nvSpPr>
        <p:spPr>
          <a:xfrm>
            <a:off x="5936700" y="8673905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꼬마츄츄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25-04-09</a:t>
            </a:r>
          </a:p>
        </p:txBody>
      </p:sp>
      <p:sp>
        <p:nvSpPr>
          <p:cNvPr id="4182" name="TextBox 4181">
            <a:extLst>
              <a:ext uri="{FF2B5EF4-FFF2-40B4-BE49-F238E27FC236}">
                <a16:creationId xmlns:a16="http://schemas.microsoft.com/office/drawing/2014/main" id="{6677064A-0B1C-AFA1-D932-B15ED5742C69}"/>
              </a:ext>
            </a:extLst>
          </p:cNvPr>
          <p:cNvSpPr txBox="1"/>
          <p:nvPr/>
        </p:nvSpPr>
        <p:spPr>
          <a:xfrm>
            <a:off x="1423848" y="9018302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buNone/>
            </a:pP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두릅장아찌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만드는법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두릅데치기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참두릅장아찌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쉽고 맛있게 만들기 안녕하세요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제제에요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  <a:p>
            <a:pPr fontAlgn="base">
              <a:buNone/>
            </a:pP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봄나물의 제왕이라고 하는 두릅이 나는 계절에는 두릅으로 여러가지 요리를 해서 </a:t>
            </a:r>
          </a:p>
          <a:p>
            <a:pPr fontAlgn="base">
              <a:buNone/>
            </a:pP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먹지만 밑반찬으로는 역시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두릅장아찌만한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것이 없어요</a:t>
            </a:r>
          </a:p>
        </p:txBody>
      </p:sp>
      <p:sp>
        <p:nvSpPr>
          <p:cNvPr id="4183" name="사각형: 둥근 모서리 4182">
            <a:extLst>
              <a:ext uri="{FF2B5EF4-FFF2-40B4-BE49-F238E27FC236}">
                <a16:creationId xmlns:a16="http://schemas.microsoft.com/office/drawing/2014/main" id="{16109FAA-35E8-387C-BF15-6A76CB408306}"/>
              </a:ext>
            </a:extLst>
          </p:cNvPr>
          <p:cNvSpPr/>
          <p:nvPr/>
        </p:nvSpPr>
        <p:spPr>
          <a:xfrm>
            <a:off x="1461179" y="9643711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4184" name="사각형: 둥근 모서리 4183">
            <a:extLst>
              <a:ext uri="{FF2B5EF4-FFF2-40B4-BE49-F238E27FC236}">
                <a16:creationId xmlns:a16="http://schemas.microsoft.com/office/drawing/2014/main" id="{2476A99E-4204-DC6A-AA3E-EFCD1325A2E2}"/>
              </a:ext>
            </a:extLst>
          </p:cNvPr>
          <p:cNvSpPr/>
          <p:nvPr/>
        </p:nvSpPr>
        <p:spPr>
          <a:xfrm>
            <a:off x="1461179" y="9939718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4185" name="사각형: 둥근 모서리 4184">
            <a:extLst>
              <a:ext uri="{FF2B5EF4-FFF2-40B4-BE49-F238E27FC236}">
                <a16:creationId xmlns:a16="http://schemas.microsoft.com/office/drawing/2014/main" id="{98BBD2BB-9729-A668-2778-301008C5124C}"/>
              </a:ext>
            </a:extLst>
          </p:cNvPr>
          <p:cNvSpPr/>
          <p:nvPr/>
        </p:nvSpPr>
        <p:spPr>
          <a:xfrm>
            <a:off x="2514911" y="9936894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</a:t>
            </a:r>
          </a:p>
        </p:txBody>
      </p:sp>
      <p:sp>
        <p:nvSpPr>
          <p:cNvPr id="4186" name="사각형: 둥근 모서리 4185">
            <a:extLst>
              <a:ext uri="{FF2B5EF4-FFF2-40B4-BE49-F238E27FC236}">
                <a16:creationId xmlns:a16="http://schemas.microsoft.com/office/drawing/2014/main" id="{2D3C8613-8FA3-435B-924B-8261079E10FB}"/>
              </a:ext>
            </a:extLst>
          </p:cNvPr>
          <p:cNvSpPr/>
          <p:nvPr/>
        </p:nvSpPr>
        <p:spPr>
          <a:xfrm>
            <a:off x="3009950" y="9936894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87" name="사각형: 둥근 모서리 4186">
            <a:extLst>
              <a:ext uri="{FF2B5EF4-FFF2-40B4-BE49-F238E27FC236}">
                <a16:creationId xmlns:a16="http://schemas.microsoft.com/office/drawing/2014/main" id="{D941B8B0-473B-1114-5C8F-7DDFC7AC67C3}"/>
              </a:ext>
            </a:extLst>
          </p:cNvPr>
          <p:cNvSpPr/>
          <p:nvPr/>
        </p:nvSpPr>
        <p:spPr>
          <a:xfrm>
            <a:off x="2514911" y="964548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건고추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88" name="사각형: 둥근 모서리 4187">
            <a:extLst>
              <a:ext uri="{FF2B5EF4-FFF2-40B4-BE49-F238E27FC236}">
                <a16:creationId xmlns:a16="http://schemas.microsoft.com/office/drawing/2014/main" id="{354CEDE2-99FD-AD97-06BC-B25B705885F4}"/>
              </a:ext>
            </a:extLst>
          </p:cNvPr>
          <p:cNvSpPr/>
          <p:nvPr/>
        </p:nvSpPr>
        <p:spPr>
          <a:xfrm>
            <a:off x="3017260" y="964548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간장</a:t>
            </a:r>
          </a:p>
        </p:txBody>
      </p:sp>
      <p:sp>
        <p:nvSpPr>
          <p:cNvPr id="4189" name="사각형: 둥근 모서리 4188">
            <a:extLst>
              <a:ext uri="{FF2B5EF4-FFF2-40B4-BE49-F238E27FC236}">
                <a16:creationId xmlns:a16="http://schemas.microsoft.com/office/drawing/2014/main" id="{F07609A2-A268-80A5-8A81-92BE0A4CFB57}"/>
              </a:ext>
            </a:extLst>
          </p:cNvPr>
          <p:cNvSpPr/>
          <p:nvPr/>
        </p:nvSpPr>
        <p:spPr>
          <a:xfrm>
            <a:off x="3519610" y="964548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설탕</a:t>
            </a:r>
          </a:p>
        </p:txBody>
      </p:sp>
      <p:sp>
        <p:nvSpPr>
          <p:cNvPr id="4190" name="사각형: 둥근 모서리 4189">
            <a:extLst>
              <a:ext uri="{FF2B5EF4-FFF2-40B4-BE49-F238E27FC236}">
                <a16:creationId xmlns:a16="http://schemas.microsoft.com/office/drawing/2014/main" id="{3B1267C3-A68C-CEDC-7111-7DEE4092147B}"/>
              </a:ext>
            </a:extLst>
          </p:cNvPr>
          <p:cNvSpPr/>
          <p:nvPr/>
        </p:nvSpPr>
        <p:spPr>
          <a:xfrm>
            <a:off x="4021959" y="964548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식초</a:t>
            </a:r>
          </a:p>
        </p:txBody>
      </p:sp>
      <p:sp>
        <p:nvSpPr>
          <p:cNvPr id="4191" name="TextBox 4190">
            <a:extLst>
              <a:ext uri="{FF2B5EF4-FFF2-40B4-BE49-F238E27FC236}">
                <a16:creationId xmlns:a16="http://schemas.microsoft.com/office/drawing/2014/main" id="{A33AF637-7BB9-4E8B-BBA0-5AB89B60E037}"/>
              </a:ext>
            </a:extLst>
          </p:cNvPr>
          <p:cNvSpPr txBox="1"/>
          <p:nvPr/>
        </p:nvSpPr>
        <p:spPr>
          <a:xfrm>
            <a:off x="6522249" y="9599869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192" name="그림 4191">
            <a:extLst>
              <a:ext uri="{FF2B5EF4-FFF2-40B4-BE49-F238E27FC236}">
                <a16:creationId xmlns:a16="http://schemas.microsoft.com/office/drawing/2014/main" id="{203562BA-8544-DE6A-BE6B-09827370C04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1920"/>
          <a:stretch/>
        </p:blipFill>
        <p:spPr>
          <a:xfrm flipH="1">
            <a:off x="6686949" y="9035480"/>
            <a:ext cx="116844" cy="547211"/>
          </a:xfrm>
          <a:prstGeom prst="rect">
            <a:avLst/>
          </a:prstGeom>
        </p:spPr>
      </p:pic>
      <p:pic>
        <p:nvPicPr>
          <p:cNvPr id="4193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810E7D0F-CA1C-CA59-9A85-6268437B9F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5221044" y="8725530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94" name="사각형: 둥근 모서리 4193">
            <a:extLst>
              <a:ext uri="{FF2B5EF4-FFF2-40B4-BE49-F238E27FC236}">
                <a16:creationId xmlns:a16="http://schemas.microsoft.com/office/drawing/2014/main" id="{53A9718C-2787-1A83-6E3A-CC78CC540AA8}"/>
              </a:ext>
            </a:extLst>
          </p:cNvPr>
          <p:cNvSpPr/>
          <p:nvPr/>
        </p:nvSpPr>
        <p:spPr>
          <a:xfrm>
            <a:off x="1461179" y="10236900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4195" name="사각형: 둥근 모서리 4194">
            <a:extLst>
              <a:ext uri="{FF2B5EF4-FFF2-40B4-BE49-F238E27FC236}">
                <a16:creationId xmlns:a16="http://schemas.microsoft.com/office/drawing/2014/main" id="{2A0E3D27-7EFF-1FB4-BD68-64D35A071EDB}"/>
              </a:ext>
            </a:extLst>
          </p:cNvPr>
          <p:cNvSpPr/>
          <p:nvPr/>
        </p:nvSpPr>
        <p:spPr>
          <a:xfrm>
            <a:off x="2514911" y="10260070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소주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96" name="사각형: 둥근 모서리 4195">
            <a:extLst>
              <a:ext uri="{FF2B5EF4-FFF2-40B4-BE49-F238E27FC236}">
                <a16:creationId xmlns:a16="http://schemas.microsoft.com/office/drawing/2014/main" id="{701B14FF-5ED5-B3C6-6C65-C6C5C29B17E8}"/>
              </a:ext>
            </a:extLst>
          </p:cNvPr>
          <p:cNvSpPr/>
          <p:nvPr/>
        </p:nvSpPr>
        <p:spPr>
          <a:xfrm>
            <a:off x="3349951" y="10263952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청주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97" name="Picture 4">
            <a:extLst>
              <a:ext uri="{FF2B5EF4-FFF2-40B4-BE49-F238E27FC236}">
                <a16:creationId xmlns:a16="http://schemas.microsoft.com/office/drawing/2014/main" id="{D525D86D-2C71-F09A-F5BF-6D9900F86F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6" t="7866" r="7866" b="7866"/>
          <a:stretch/>
        </p:blipFill>
        <p:spPr bwMode="auto">
          <a:xfrm>
            <a:off x="470917" y="8704616"/>
            <a:ext cx="874698" cy="79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98" name="사각형: 둥근 모서리 4197">
            <a:extLst>
              <a:ext uri="{FF2B5EF4-FFF2-40B4-BE49-F238E27FC236}">
                <a16:creationId xmlns:a16="http://schemas.microsoft.com/office/drawing/2014/main" id="{5C71619A-DC80-71D2-B66C-B8D837BB1D0B}"/>
              </a:ext>
            </a:extLst>
          </p:cNvPr>
          <p:cNvSpPr/>
          <p:nvPr/>
        </p:nvSpPr>
        <p:spPr>
          <a:xfrm>
            <a:off x="3515143" y="9936894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</a:t>
            </a:r>
          </a:p>
        </p:txBody>
      </p:sp>
      <p:pic>
        <p:nvPicPr>
          <p:cNvPr id="4199" name="Picture 4" descr="확인하다 - 무료 ui개 아이콘">
            <a:extLst>
              <a:ext uri="{FF2B5EF4-FFF2-40B4-BE49-F238E27FC236}">
                <a16:creationId xmlns:a16="http://schemas.microsoft.com/office/drawing/2014/main" id="{C5EE6280-39BF-7B10-8F13-619185064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2056" y="8693161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00" name="TextBox 4199">
            <a:extLst>
              <a:ext uri="{FF2B5EF4-FFF2-40B4-BE49-F238E27FC236}">
                <a16:creationId xmlns:a16="http://schemas.microsoft.com/office/drawing/2014/main" id="{4DDC238B-97D7-249A-DCA6-EB968306100D}"/>
              </a:ext>
            </a:extLst>
          </p:cNvPr>
          <p:cNvSpPr txBox="1"/>
          <p:nvPr/>
        </p:nvSpPr>
        <p:spPr>
          <a:xfrm>
            <a:off x="-1" y="11284032"/>
            <a:ext cx="7199313" cy="2070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홈페이지 메뉴 네비게이션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비로그인 상태 가능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현재 페이지는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탭의 페이지에 해당한다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</a:p>
          <a:p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386" dirty="0">
                <a:solidFill>
                  <a:srgbClr val="FF0000"/>
                </a:solidFill>
                <a:highlight>
                  <a:srgbClr val="FFFF00"/>
                </a:highlight>
              </a:rPr>
              <a:t>Ⓑ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완료한 레시피	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앞에서 내가 완료한 레시피 옆 부분에  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“ &gt; “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버튼을 누르면 상세 보기로 화면이 전환된다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좀 더 자세히 보기 편하게 하기 위한 방식이다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레시피를 보여주는 형식은 앞에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탭에서 레시피를 열거하고 보여줬던 형식과 똑같이 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다만 정렬은 내가 완료버튼을 누른 최근 순으로만 정렬이 되고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정렬버튼이나 필터 버튼은 존재하지 않도록 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기록한 레시피 또한 이 페이지의 방식과 동일하게 세부페이지로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넘어가도록한다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211560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817F7-CFB5-FCB7-42C4-F1E2B79A5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3" name="직사각형 4152">
            <a:extLst>
              <a:ext uri="{FF2B5EF4-FFF2-40B4-BE49-F238E27FC236}">
                <a16:creationId xmlns:a16="http://schemas.microsoft.com/office/drawing/2014/main" id="{4A4759B1-D5F8-975A-F21A-B37E0D713FCB}"/>
              </a:ext>
            </a:extLst>
          </p:cNvPr>
          <p:cNvSpPr/>
          <p:nvPr/>
        </p:nvSpPr>
        <p:spPr>
          <a:xfrm>
            <a:off x="-1" y="1980406"/>
            <a:ext cx="7199313" cy="1151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70013B-94A4-F1E3-50F9-97E1DAA5F35E}"/>
              </a:ext>
            </a:extLst>
          </p:cNvPr>
          <p:cNvSpPr/>
          <p:nvPr/>
        </p:nvSpPr>
        <p:spPr>
          <a:xfrm>
            <a:off x="-1" y="2593750"/>
            <a:ext cx="7199313" cy="8125692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06FDF0A6-17F2-3095-7661-A4B77ACEEE83}"/>
              </a:ext>
            </a:extLst>
          </p:cNvPr>
          <p:cNvCxnSpPr>
            <a:cxnSpLocks/>
          </p:cNvCxnSpPr>
          <p:nvPr/>
        </p:nvCxnSpPr>
        <p:spPr>
          <a:xfrm>
            <a:off x="-1" y="2565646"/>
            <a:ext cx="7199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1307CC08-0A55-A20A-B7B7-66E8BAD1AC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251"/>
          <a:stretch/>
        </p:blipFill>
        <p:spPr>
          <a:xfrm>
            <a:off x="-1" y="2591586"/>
            <a:ext cx="7199313" cy="329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25A445-9D8F-D670-7C42-311D73C5653F}"/>
              </a:ext>
            </a:extLst>
          </p:cNvPr>
          <p:cNvSpPr txBox="1"/>
          <p:nvPr/>
        </p:nvSpPr>
        <p:spPr>
          <a:xfrm>
            <a:off x="213617" y="3024667"/>
            <a:ext cx="1109824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5F4A1C-0176-AFF6-A64F-8DAF22F6786D}"/>
              </a:ext>
            </a:extLst>
          </p:cNvPr>
          <p:cNvSpPr txBox="1"/>
          <p:nvPr/>
        </p:nvSpPr>
        <p:spPr>
          <a:xfrm>
            <a:off x="1476515" y="3026376"/>
            <a:ext cx="1248260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9631A2-C49A-EF0B-BF14-C13811CDD85A}"/>
              </a:ext>
            </a:extLst>
          </p:cNvPr>
          <p:cNvSpPr txBox="1"/>
          <p:nvPr/>
        </p:nvSpPr>
        <p:spPr>
          <a:xfrm>
            <a:off x="3978103" y="3024667"/>
            <a:ext cx="496443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8A82BD-197F-2D08-5E38-9B596122A02A}"/>
              </a:ext>
            </a:extLst>
          </p:cNvPr>
          <p:cNvSpPr txBox="1"/>
          <p:nvPr/>
        </p:nvSpPr>
        <p:spPr>
          <a:xfrm>
            <a:off x="1396631" y="5343746"/>
            <a:ext cx="4452088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[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사용자 닉네임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]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님이 기록하고 살펴본 요리들을 모아봤어요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.</a:t>
            </a:r>
            <a:endParaRPr lang="ko-KR" altLang="en-US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Medium" panose="02020603020101020101" pitchFamily="18" charset="-127"/>
              <a:ea typeface="KoPub돋움체 Medium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B6312D-5894-0A66-6156-EFA0B5174395}"/>
              </a:ext>
            </a:extLst>
          </p:cNvPr>
          <p:cNvSpPr txBox="1"/>
          <p:nvPr/>
        </p:nvSpPr>
        <p:spPr>
          <a:xfrm>
            <a:off x="4650690" y="2985634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ⓐ</a:t>
            </a:r>
          </a:p>
        </p:txBody>
      </p:sp>
      <p:sp>
        <p:nvSpPr>
          <p:cNvPr id="4136" name="TextBox 4135">
            <a:extLst>
              <a:ext uri="{FF2B5EF4-FFF2-40B4-BE49-F238E27FC236}">
                <a16:creationId xmlns:a16="http://schemas.microsoft.com/office/drawing/2014/main" id="{BBAFACAD-EEC0-EC3F-6976-A688D7B74D78}"/>
              </a:ext>
            </a:extLst>
          </p:cNvPr>
          <p:cNvSpPr txBox="1"/>
          <p:nvPr/>
        </p:nvSpPr>
        <p:spPr>
          <a:xfrm>
            <a:off x="2" y="1980409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UI 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구성</a:t>
            </a:r>
            <a:endParaRPr lang="ko-KR" altLang="en-US" sz="2267" dirty="0"/>
          </a:p>
        </p:txBody>
      </p:sp>
      <p:sp>
        <p:nvSpPr>
          <p:cNvPr id="4137" name="TextBox 4136">
            <a:extLst>
              <a:ext uri="{FF2B5EF4-FFF2-40B4-BE49-F238E27FC236}">
                <a16:creationId xmlns:a16="http://schemas.microsoft.com/office/drawing/2014/main" id="{E8F5E29E-7BDA-7C7E-FFA3-321D62BE5A2B}"/>
              </a:ext>
            </a:extLst>
          </p:cNvPr>
          <p:cNvSpPr txBox="1"/>
          <p:nvPr/>
        </p:nvSpPr>
        <p:spPr>
          <a:xfrm>
            <a:off x="2" y="10799768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2267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C160CA-5580-9E80-E238-FD5A9AEE423B}"/>
              </a:ext>
            </a:extLst>
          </p:cNvPr>
          <p:cNvSpPr txBox="1"/>
          <p:nvPr/>
        </p:nvSpPr>
        <p:spPr>
          <a:xfrm>
            <a:off x="2896176" y="3024667"/>
            <a:ext cx="928852" cy="135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  <p:pic>
        <p:nvPicPr>
          <p:cNvPr id="4098" name="Picture 2" descr="유튜브로 배우는 ppt ] 뽀글이아저씨 일러스트 캐릭터 ppt 로 만들어보기 : 네이버 블로그">
            <a:extLst>
              <a:ext uri="{FF2B5EF4-FFF2-40B4-BE49-F238E27FC236}">
                <a16:creationId xmlns:a16="http://schemas.microsoft.com/office/drawing/2014/main" id="{2096D8A2-AD2F-37D7-B3AA-D2C643DAB9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45" r="22445"/>
          <a:stretch/>
        </p:blipFill>
        <p:spPr bwMode="auto">
          <a:xfrm>
            <a:off x="1872841" y="3811272"/>
            <a:ext cx="1069964" cy="109207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ECA4AA0-1099-0596-A806-0D173F201E6C}"/>
              </a:ext>
            </a:extLst>
          </p:cNvPr>
          <p:cNvSpPr txBox="1"/>
          <p:nvPr/>
        </p:nvSpPr>
        <p:spPr>
          <a:xfrm>
            <a:off x="482120" y="6209935"/>
            <a:ext cx="1442625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기록한 레시피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DB6D54D-FF1E-4AF0-1851-968C5F3C70B0}"/>
              </a:ext>
            </a:extLst>
          </p:cNvPr>
          <p:cNvCxnSpPr>
            <a:cxnSpLocks/>
          </p:cNvCxnSpPr>
          <p:nvPr/>
        </p:nvCxnSpPr>
        <p:spPr>
          <a:xfrm>
            <a:off x="625147" y="6520104"/>
            <a:ext cx="65741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2EADD05-7262-65E5-1602-6C02F01D3F97}"/>
              </a:ext>
            </a:extLst>
          </p:cNvPr>
          <p:cNvSpPr txBox="1"/>
          <p:nvPr/>
        </p:nvSpPr>
        <p:spPr>
          <a:xfrm>
            <a:off x="6798858" y="6208850"/>
            <a:ext cx="1442625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&gt;</a:t>
            </a:r>
          </a:p>
        </p:txBody>
      </p:sp>
      <p:pic>
        <p:nvPicPr>
          <p:cNvPr id="29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79C41DA1-4870-E6B5-511D-45C8738A76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56" t="18382" r="37064" b="61373"/>
          <a:stretch/>
        </p:blipFill>
        <p:spPr bwMode="auto">
          <a:xfrm>
            <a:off x="1812023" y="6273027"/>
            <a:ext cx="248953" cy="206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7AE6296-5248-60C4-F640-2A397A7AECB2}"/>
              </a:ext>
            </a:extLst>
          </p:cNvPr>
          <p:cNvSpPr txBox="1"/>
          <p:nvPr/>
        </p:nvSpPr>
        <p:spPr>
          <a:xfrm>
            <a:off x="482120" y="8451036"/>
            <a:ext cx="1442625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완료한 레시피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9A88B7B-4DCD-56A9-E891-F4DECDCC7F01}"/>
              </a:ext>
            </a:extLst>
          </p:cNvPr>
          <p:cNvCxnSpPr>
            <a:cxnSpLocks/>
          </p:cNvCxnSpPr>
          <p:nvPr/>
        </p:nvCxnSpPr>
        <p:spPr>
          <a:xfrm>
            <a:off x="625147" y="8761205"/>
            <a:ext cx="65741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088D965-4D66-F3EC-57E0-CA957CD90EEF}"/>
              </a:ext>
            </a:extLst>
          </p:cNvPr>
          <p:cNvSpPr txBox="1"/>
          <p:nvPr/>
        </p:nvSpPr>
        <p:spPr>
          <a:xfrm>
            <a:off x="6798858" y="8449951"/>
            <a:ext cx="1442625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&gt;</a:t>
            </a:r>
          </a:p>
        </p:txBody>
      </p:sp>
      <p:pic>
        <p:nvPicPr>
          <p:cNvPr id="37" name="Picture 4" descr="확인하다 - 무료 ui개 아이콘">
            <a:extLst>
              <a:ext uri="{FF2B5EF4-FFF2-40B4-BE49-F238E27FC236}">
                <a16:creationId xmlns:a16="http://schemas.microsoft.com/office/drawing/2014/main" id="{3DF393B4-2831-85D7-6858-4B837B6AD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11" y="8493470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B5EAF5CB-7365-1F4D-66C0-43E4307ED994}"/>
              </a:ext>
            </a:extLst>
          </p:cNvPr>
          <p:cNvSpPr/>
          <p:nvPr/>
        </p:nvSpPr>
        <p:spPr>
          <a:xfrm>
            <a:off x="4399880" y="4201138"/>
            <a:ext cx="928852" cy="310170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내 정보 수정 </a:t>
            </a:r>
            <a:r>
              <a:rPr lang="en-US" altLang="ko-KR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&gt;</a:t>
            </a:r>
            <a:endParaRPr lang="ko-KR" altLang="en-US" sz="882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473652A-AFE7-2AE2-3CA0-A47A7F0299FD}"/>
              </a:ext>
            </a:extLst>
          </p:cNvPr>
          <p:cNvSpPr txBox="1"/>
          <p:nvPr/>
        </p:nvSpPr>
        <p:spPr>
          <a:xfrm>
            <a:off x="3095817" y="3998794"/>
            <a:ext cx="1360337" cy="29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</a:t>
            </a:r>
            <a:r>
              <a:rPr lang="ko-KR" altLang="en-US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사용자 닉네임</a:t>
            </a:r>
            <a:r>
              <a:rPr lang="en-US" altLang="ko-KR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</a:t>
            </a:r>
            <a:endParaRPr lang="ko-KR" altLang="en-US" sz="1323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8BE04C-D3F0-E490-D8AC-FCD1FB6AC1DE}"/>
              </a:ext>
            </a:extLst>
          </p:cNvPr>
          <p:cNvSpPr txBox="1"/>
          <p:nvPr/>
        </p:nvSpPr>
        <p:spPr>
          <a:xfrm>
            <a:off x="3095817" y="4357307"/>
            <a:ext cx="1360337" cy="29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</a:t>
            </a:r>
            <a:r>
              <a:rPr lang="ko-KR" altLang="en-US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사용자 아이디</a:t>
            </a:r>
            <a:r>
              <a:rPr lang="en-US" altLang="ko-KR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</a:t>
            </a:r>
            <a:endParaRPr lang="ko-KR" altLang="en-US" sz="1323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4103" name="Picture 2">
            <a:extLst>
              <a:ext uri="{FF2B5EF4-FFF2-40B4-BE49-F238E27FC236}">
                <a16:creationId xmlns:a16="http://schemas.microsoft.com/office/drawing/2014/main" id="{011E8311-6012-DB14-0876-1E903963EC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27" b="35174"/>
          <a:stretch/>
        </p:blipFill>
        <p:spPr bwMode="auto">
          <a:xfrm>
            <a:off x="571097" y="6654631"/>
            <a:ext cx="2153678" cy="966998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9" name="그림 4108">
            <a:extLst>
              <a:ext uri="{FF2B5EF4-FFF2-40B4-BE49-F238E27FC236}">
                <a16:creationId xmlns:a16="http://schemas.microsoft.com/office/drawing/2014/main" id="{0FAD106A-EF77-7D85-6960-4C842D7F49A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1854" b="11854"/>
          <a:stretch/>
        </p:blipFill>
        <p:spPr>
          <a:xfrm>
            <a:off x="3086138" y="6658076"/>
            <a:ext cx="2182517" cy="963555"/>
          </a:xfrm>
          <a:prstGeom prst="roundRect">
            <a:avLst/>
          </a:prstGeom>
          <a:noFill/>
        </p:spPr>
      </p:pic>
      <p:sp>
        <p:nvSpPr>
          <p:cNvPr id="4115" name="사각형: 둥근 모서리 4114">
            <a:extLst>
              <a:ext uri="{FF2B5EF4-FFF2-40B4-BE49-F238E27FC236}">
                <a16:creationId xmlns:a16="http://schemas.microsoft.com/office/drawing/2014/main" id="{AF36DC71-C67E-8F03-E4BE-423819BE1AD6}"/>
              </a:ext>
            </a:extLst>
          </p:cNvPr>
          <p:cNvSpPr/>
          <p:nvPr/>
        </p:nvSpPr>
        <p:spPr>
          <a:xfrm>
            <a:off x="563178" y="6651010"/>
            <a:ext cx="941666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80%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16" name="사각형: 둥근 모서리 4115">
            <a:extLst>
              <a:ext uri="{FF2B5EF4-FFF2-40B4-BE49-F238E27FC236}">
                <a16:creationId xmlns:a16="http://schemas.microsoft.com/office/drawing/2014/main" id="{619905CD-DBF4-1A31-B1B8-93893294C106}"/>
              </a:ext>
            </a:extLst>
          </p:cNvPr>
          <p:cNvSpPr/>
          <p:nvPr/>
        </p:nvSpPr>
        <p:spPr>
          <a:xfrm>
            <a:off x="3072033" y="6663981"/>
            <a:ext cx="941666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90%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17" name="그림 4116">
            <a:extLst>
              <a:ext uri="{FF2B5EF4-FFF2-40B4-BE49-F238E27FC236}">
                <a16:creationId xmlns:a16="http://schemas.microsoft.com/office/drawing/2014/main" id="{E6C9E0F2-A220-567E-834B-2D8474EC6C2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38224"/>
          <a:stretch/>
        </p:blipFill>
        <p:spPr>
          <a:xfrm>
            <a:off x="5632756" y="6634976"/>
            <a:ext cx="1566558" cy="986767"/>
          </a:xfrm>
          <a:prstGeom prst="rect">
            <a:avLst/>
          </a:prstGeom>
        </p:spPr>
      </p:pic>
      <p:sp>
        <p:nvSpPr>
          <p:cNvPr id="4118" name="사각형: 둥근 모서리 4117">
            <a:extLst>
              <a:ext uri="{FF2B5EF4-FFF2-40B4-BE49-F238E27FC236}">
                <a16:creationId xmlns:a16="http://schemas.microsoft.com/office/drawing/2014/main" id="{33A5A095-EEFC-EFDD-3B42-643C6B91BBBC}"/>
              </a:ext>
            </a:extLst>
          </p:cNvPr>
          <p:cNvSpPr/>
          <p:nvPr/>
        </p:nvSpPr>
        <p:spPr>
          <a:xfrm>
            <a:off x="5647833" y="6626266"/>
            <a:ext cx="941666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75%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4142" name="그룹 4141">
            <a:extLst>
              <a:ext uri="{FF2B5EF4-FFF2-40B4-BE49-F238E27FC236}">
                <a16:creationId xmlns:a16="http://schemas.microsoft.com/office/drawing/2014/main" id="{A1463C2F-E674-87F8-7231-C8820C953DD8}"/>
              </a:ext>
            </a:extLst>
          </p:cNvPr>
          <p:cNvGrpSpPr/>
          <p:nvPr/>
        </p:nvGrpSpPr>
        <p:grpSpPr>
          <a:xfrm>
            <a:off x="2100646" y="7323883"/>
            <a:ext cx="570547" cy="289997"/>
            <a:chOff x="1470809" y="4241787"/>
            <a:chExt cx="452915" cy="230207"/>
          </a:xfrm>
        </p:grpSpPr>
        <p:grpSp>
          <p:nvGrpSpPr>
            <p:cNvPr id="4104" name="그룹 4103">
              <a:extLst>
                <a:ext uri="{FF2B5EF4-FFF2-40B4-BE49-F238E27FC236}">
                  <a16:creationId xmlns:a16="http://schemas.microsoft.com/office/drawing/2014/main" id="{D788E0C0-CE6A-E356-87D4-67D1290DC9EB}"/>
                </a:ext>
              </a:extLst>
            </p:cNvPr>
            <p:cNvGrpSpPr/>
            <p:nvPr/>
          </p:nvGrpSpPr>
          <p:grpSpPr>
            <a:xfrm>
              <a:off x="1724694" y="4259159"/>
              <a:ext cx="199030" cy="200201"/>
              <a:chOff x="7257057" y="1634035"/>
              <a:chExt cx="199030" cy="200201"/>
            </a:xfrm>
          </p:grpSpPr>
          <p:sp>
            <p:nvSpPr>
              <p:cNvPr id="4105" name="타원 4104">
                <a:extLst>
                  <a:ext uri="{FF2B5EF4-FFF2-40B4-BE49-F238E27FC236}">
                    <a16:creationId xmlns:a16="http://schemas.microsoft.com/office/drawing/2014/main" id="{FB33B08F-179D-0839-5ADF-4B4A62970103}"/>
                  </a:ext>
                </a:extLst>
              </p:cNvPr>
              <p:cNvSpPr/>
              <p:nvPr/>
            </p:nvSpPr>
            <p:spPr>
              <a:xfrm>
                <a:off x="7257057" y="1634035"/>
                <a:ext cx="199030" cy="19903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  <a:alpha val="6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67"/>
              </a:p>
            </p:txBody>
          </p:sp>
          <p:pic>
            <p:nvPicPr>
              <p:cNvPr id="4107" name="그림 4106">
                <a:extLst>
                  <a:ext uri="{FF2B5EF4-FFF2-40B4-BE49-F238E27FC236}">
                    <a16:creationId xmlns:a16="http://schemas.microsoft.com/office/drawing/2014/main" id="{E5194C66-B4AD-71CA-9045-DC33001665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lum bright="70000" contrast="-70000"/>
              </a:blip>
              <a:srcRect r="58948"/>
              <a:stretch/>
            </p:blipFill>
            <p:spPr>
              <a:xfrm>
                <a:off x="7266582" y="1675726"/>
                <a:ext cx="167681" cy="158510"/>
              </a:xfrm>
              <a:prstGeom prst="rect">
                <a:avLst/>
              </a:prstGeom>
            </p:spPr>
          </p:pic>
        </p:grpSp>
        <p:sp>
          <p:nvSpPr>
            <p:cNvPr id="4119" name="타원 4118">
              <a:extLst>
                <a:ext uri="{FF2B5EF4-FFF2-40B4-BE49-F238E27FC236}">
                  <a16:creationId xmlns:a16="http://schemas.microsoft.com/office/drawing/2014/main" id="{6A1D7DCC-02AC-5CBA-61D9-7011B78D2341}"/>
                </a:ext>
              </a:extLst>
            </p:cNvPr>
            <p:cNvSpPr/>
            <p:nvPr/>
          </p:nvSpPr>
          <p:spPr>
            <a:xfrm>
              <a:off x="1470809" y="4241787"/>
              <a:ext cx="230207" cy="23020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pic>
          <p:nvPicPr>
            <p:cNvPr id="4120" name="그림 4119">
              <a:extLst>
                <a:ext uri="{FF2B5EF4-FFF2-40B4-BE49-F238E27FC236}">
                  <a16:creationId xmlns:a16="http://schemas.microsoft.com/office/drawing/2014/main" id="{6CAACEB7-BAE4-D327-D328-D53AC2A4F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lum bright="70000" contrast="-70000"/>
            </a:blip>
            <a:stretch>
              <a:fillRect/>
            </a:stretch>
          </p:blipFill>
          <p:spPr>
            <a:xfrm>
              <a:off x="1511179" y="4313497"/>
              <a:ext cx="149467" cy="107990"/>
            </a:xfrm>
            <a:prstGeom prst="rect">
              <a:avLst/>
            </a:prstGeom>
          </p:spPr>
        </p:pic>
      </p:grpSp>
      <p:sp>
        <p:nvSpPr>
          <p:cNvPr id="4124" name="TextBox 4123">
            <a:extLst>
              <a:ext uri="{FF2B5EF4-FFF2-40B4-BE49-F238E27FC236}">
                <a16:creationId xmlns:a16="http://schemas.microsoft.com/office/drawing/2014/main" id="{806B5C4C-E9AC-D36D-6E70-70BF0BDDE3F5}"/>
              </a:ext>
            </a:extLst>
          </p:cNvPr>
          <p:cNvSpPr txBox="1"/>
          <p:nvPr/>
        </p:nvSpPr>
        <p:spPr>
          <a:xfrm>
            <a:off x="476224" y="7658062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틱톡에서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유행하는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초간단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안주레시피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25" name="TextBox 4124">
            <a:extLst>
              <a:ext uri="{FF2B5EF4-FFF2-40B4-BE49-F238E27FC236}">
                <a16:creationId xmlns:a16="http://schemas.microsoft.com/office/drawing/2014/main" id="{B3249D24-C761-5DEB-BCD0-7845D65CF086}"/>
              </a:ext>
            </a:extLst>
          </p:cNvPr>
          <p:cNvSpPr txBox="1"/>
          <p:nvPr/>
        </p:nvSpPr>
        <p:spPr>
          <a:xfrm>
            <a:off x="2988690" y="7658062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다이어트 김밥 만들기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오이김밥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</a:t>
            </a:r>
          </a:p>
        </p:txBody>
      </p:sp>
      <p:sp>
        <p:nvSpPr>
          <p:cNvPr id="4126" name="TextBox 4125">
            <a:extLst>
              <a:ext uri="{FF2B5EF4-FFF2-40B4-BE49-F238E27FC236}">
                <a16:creationId xmlns:a16="http://schemas.microsoft.com/office/drawing/2014/main" id="{0E4F1772-21A5-9928-60FE-76E76D436FD8}"/>
              </a:ext>
            </a:extLst>
          </p:cNvPr>
          <p:cNvSpPr txBox="1"/>
          <p:nvPr/>
        </p:nvSpPr>
        <p:spPr>
          <a:xfrm>
            <a:off x="5552654" y="7656587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숙취해소로 최고인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황태해장국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27" name="그림 4126">
            <a:extLst>
              <a:ext uri="{FF2B5EF4-FFF2-40B4-BE49-F238E27FC236}">
                <a16:creationId xmlns:a16="http://schemas.microsoft.com/office/drawing/2014/main" id="{B14F6C92-B5F5-063D-2CD6-021796437B2F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27891" b="23831"/>
          <a:stretch/>
        </p:blipFill>
        <p:spPr>
          <a:xfrm>
            <a:off x="618636" y="8859898"/>
            <a:ext cx="2106138" cy="1116638"/>
          </a:xfrm>
          <a:prstGeom prst="roundRect">
            <a:avLst/>
          </a:prstGeom>
          <a:noFill/>
        </p:spPr>
      </p:pic>
      <p:sp>
        <p:nvSpPr>
          <p:cNvPr id="4128" name="TextBox 4127">
            <a:extLst>
              <a:ext uri="{FF2B5EF4-FFF2-40B4-BE49-F238E27FC236}">
                <a16:creationId xmlns:a16="http://schemas.microsoft.com/office/drawing/2014/main" id="{8A790EB3-4179-DCBA-7FBA-69FDE030D342}"/>
              </a:ext>
            </a:extLst>
          </p:cNvPr>
          <p:cNvSpPr txBox="1"/>
          <p:nvPr/>
        </p:nvSpPr>
        <p:spPr>
          <a:xfrm>
            <a:off x="532821" y="9996527"/>
            <a:ext cx="3781074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오징어볶음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만드는법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간단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29" name="TextBox 4128">
            <a:extLst>
              <a:ext uri="{FF2B5EF4-FFF2-40B4-BE49-F238E27FC236}">
                <a16:creationId xmlns:a16="http://schemas.microsoft.com/office/drawing/2014/main" id="{5A8D0250-9756-3EC3-C845-A81C1F224A06}"/>
              </a:ext>
            </a:extLst>
          </p:cNvPr>
          <p:cNvSpPr txBox="1"/>
          <p:nvPr/>
        </p:nvSpPr>
        <p:spPr>
          <a:xfrm>
            <a:off x="3033818" y="9977141"/>
            <a:ext cx="3781074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대패삼겹살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제육볶음 레시피 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30" name="그림 4129">
            <a:extLst>
              <a:ext uri="{FF2B5EF4-FFF2-40B4-BE49-F238E27FC236}">
                <a16:creationId xmlns:a16="http://schemas.microsoft.com/office/drawing/2014/main" id="{AF32C000-82C7-07D8-2BDE-91249439F463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23574" b="18917"/>
          <a:stretch/>
        </p:blipFill>
        <p:spPr>
          <a:xfrm>
            <a:off x="3086138" y="8856951"/>
            <a:ext cx="2182517" cy="1115013"/>
          </a:xfrm>
          <a:prstGeom prst="roundRect">
            <a:avLst/>
          </a:prstGeom>
          <a:noFill/>
        </p:spPr>
      </p:pic>
      <p:sp>
        <p:nvSpPr>
          <p:cNvPr id="4131" name="TextBox 4130">
            <a:extLst>
              <a:ext uri="{FF2B5EF4-FFF2-40B4-BE49-F238E27FC236}">
                <a16:creationId xmlns:a16="http://schemas.microsoft.com/office/drawing/2014/main" id="{2E932FFE-B4BE-3881-C04D-D0EEA8B83E56}"/>
              </a:ext>
            </a:extLst>
          </p:cNvPr>
          <p:cNvSpPr txBox="1"/>
          <p:nvPr/>
        </p:nvSpPr>
        <p:spPr>
          <a:xfrm>
            <a:off x="5617820" y="9977141"/>
            <a:ext cx="3781074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 장아찌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만드는법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34" name="그림 4133">
            <a:extLst>
              <a:ext uri="{FF2B5EF4-FFF2-40B4-BE49-F238E27FC236}">
                <a16:creationId xmlns:a16="http://schemas.microsoft.com/office/drawing/2014/main" id="{D955CFB9-003E-D4AB-0A66-A4AA764D013C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r="32290"/>
          <a:stretch/>
        </p:blipFill>
        <p:spPr>
          <a:xfrm>
            <a:off x="5696491" y="8855864"/>
            <a:ext cx="1502825" cy="1144310"/>
          </a:xfrm>
          <a:prstGeom prst="rect">
            <a:avLst/>
          </a:prstGeom>
        </p:spPr>
      </p:pic>
      <p:sp>
        <p:nvSpPr>
          <p:cNvPr id="4138" name="TextBox 4137">
            <a:extLst>
              <a:ext uri="{FF2B5EF4-FFF2-40B4-BE49-F238E27FC236}">
                <a16:creationId xmlns:a16="http://schemas.microsoft.com/office/drawing/2014/main" id="{C998FAB7-FF52-9A98-B2AE-6490154C350E}"/>
              </a:ext>
            </a:extLst>
          </p:cNvPr>
          <p:cNvSpPr txBox="1"/>
          <p:nvPr/>
        </p:nvSpPr>
        <p:spPr>
          <a:xfrm>
            <a:off x="-1" y="11284032"/>
            <a:ext cx="7199313" cy="1488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홈페이지 메뉴 네비게이션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비로그인 상태 가능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현재 페이지는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탭의 페이지에 해당한다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</a:p>
          <a:p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386" dirty="0">
                <a:solidFill>
                  <a:srgbClr val="FF0000"/>
                </a:solidFill>
                <a:highlight>
                  <a:srgbClr val="FFFF00"/>
                </a:highlight>
              </a:rPr>
              <a:t>ⓑ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정보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수정	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앞에서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정보 수정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버튼을 누르게 되면 해당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정보 수정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팝업창이 뜬다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해당 팝업창에서는 닉네임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아이디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변경 불가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비밀번호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비밀번호 확인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연락처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우편번호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주소 등의 내용이 있으며 하단에는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수정하기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버튼이 있다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</a:p>
        </p:txBody>
      </p:sp>
      <p:grpSp>
        <p:nvGrpSpPr>
          <p:cNvPr id="4110" name="그룹 4109">
            <a:extLst>
              <a:ext uri="{FF2B5EF4-FFF2-40B4-BE49-F238E27FC236}">
                <a16:creationId xmlns:a16="http://schemas.microsoft.com/office/drawing/2014/main" id="{9040DBD3-1BAB-24F7-3B07-D8DFBFFA6331}"/>
              </a:ext>
            </a:extLst>
          </p:cNvPr>
          <p:cNvGrpSpPr/>
          <p:nvPr/>
        </p:nvGrpSpPr>
        <p:grpSpPr>
          <a:xfrm>
            <a:off x="4673632" y="9681703"/>
            <a:ext cx="518048" cy="260567"/>
            <a:chOff x="7257057" y="1627391"/>
            <a:chExt cx="411240" cy="206845"/>
          </a:xfrm>
        </p:grpSpPr>
        <p:sp>
          <p:nvSpPr>
            <p:cNvPr id="4111" name="타원 4110">
              <a:extLst>
                <a:ext uri="{FF2B5EF4-FFF2-40B4-BE49-F238E27FC236}">
                  <a16:creationId xmlns:a16="http://schemas.microsoft.com/office/drawing/2014/main" id="{A6BBB6FD-543C-2B69-4252-2755718B1F51}"/>
                </a:ext>
              </a:extLst>
            </p:cNvPr>
            <p:cNvSpPr/>
            <p:nvPr/>
          </p:nvSpPr>
          <p:spPr>
            <a:xfrm>
              <a:off x="7257057" y="1634035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sp>
          <p:nvSpPr>
            <p:cNvPr id="4112" name="타원 4111">
              <a:extLst>
                <a:ext uri="{FF2B5EF4-FFF2-40B4-BE49-F238E27FC236}">
                  <a16:creationId xmlns:a16="http://schemas.microsoft.com/office/drawing/2014/main" id="{F7F19EB1-12F6-AC21-A894-4D0398D98EDC}"/>
                </a:ext>
              </a:extLst>
            </p:cNvPr>
            <p:cNvSpPr/>
            <p:nvPr/>
          </p:nvSpPr>
          <p:spPr>
            <a:xfrm>
              <a:off x="7462838" y="1627391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pic>
          <p:nvPicPr>
            <p:cNvPr id="4113" name="그림 4112">
              <a:extLst>
                <a:ext uri="{FF2B5EF4-FFF2-40B4-BE49-F238E27FC236}">
                  <a16:creationId xmlns:a16="http://schemas.microsoft.com/office/drawing/2014/main" id="{5DCEF9EE-B351-C74A-AD3E-E20EA2FB06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</a:blip>
            <a:srcRect r="58948"/>
            <a:stretch/>
          </p:blipFill>
          <p:spPr>
            <a:xfrm>
              <a:off x="7266582" y="1675726"/>
              <a:ext cx="167681" cy="158510"/>
            </a:xfrm>
            <a:prstGeom prst="rect">
              <a:avLst/>
            </a:prstGeom>
          </p:spPr>
        </p:pic>
        <p:pic>
          <p:nvPicPr>
            <p:cNvPr id="4114" name="그림 4113">
              <a:extLst>
                <a:ext uri="{FF2B5EF4-FFF2-40B4-BE49-F238E27FC236}">
                  <a16:creationId xmlns:a16="http://schemas.microsoft.com/office/drawing/2014/main" id="{E2634D04-03C4-F50D-5F57-A402F4F5A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rcRect l="51274"/>
            <a:stretch/>
          </p:blipFill>
          <p:spPr>
            <a:xfrm>
              <a:off x="7469267" y="1656353"/>
              <a:ext cx="199030" cy="158510"/>
            </a:xfrm>
            <a:prstGeom prst="rect">
              <a:avLst/>
            </a:prstGeom>
          </p:spPr>
        </p:pic>
      </p:grpSp>
      <p:grpSp>
        <p:nvGrpSpPr>
          <p:cNvPr id="4143" name="그룹 4142">
            <a:extLst>
              <a:ext uri="{FF2B5EF4-FFF2-40B4-BE49-F238E27FC236}">
                <a16:creationId xmlns:a16="http://schemas.microsoft.com/office/drawing/2014/main" id="{D3F09E2E-9E1A-BC76-3974-81E39FE34D52}"/>
              </a:ext>
            </a:extLst>
          </p:cNvPr>
          <p:cNvGrpSpPr/>
          <p:nvPr/>
        </p:nvGrpSpPr>
        <p:grpSpPr>
          <a:xfrm>
            <a:off x="4608385" y="7323883"/>
            <a:ext cx="570547" cy="289997"/>
            <a:chOff x="1470809" y="4241787"/>
            <a:chExt cx="452915" cy="230207"/>
          </a:xfrm>
        </p:grpSpPr>
        <p:grpSp>
          <p:nvGrpSpPr>
            <p:cNvPr id="4144" name="그룹 4143">
              <a:extLst>
                <a:ext uri="{FF2B5EF4-FFF2-40B4-BE49-F238E27FC236}">
                  <a16:creationId xmlns:a16="http://schemas.microsoft.com/office/drawing/2014/main" id="{528B69A7-EFDE-9673-6963-EBB6ECCB54D5}"/>
                </a:ext>
              </a:extLst>
            </p:cNvPr>
            <p:cNvGrpSpPr/>
            <p:nvPr/>
          </p:nvGrpSpPr>
          <p:grpSpPr>
            <a:xfrm>
              <a:off x="1724694" y="4259159"/>
              <a:ext cx="199030" cy="200201"/>
              <a:chOff x="7257057" y="1634035"/>
              <a:chExt cx="199030" cy="200201"/>
            </a:xfrm>
          </p:grpSpPr>
          <p:sp>
            <p:nvSpPr>
              <p:cNvPr id="4147" name="타원 4146">
                <a:extLst>
                  <a:ext uri="{FF2B5EF4-FFF2-40B4-BE49-F238E27FC236}">
                    <a16:creationId xmlns:a16="http://schemas.microsoft.com/office/drawing/2014/main" id="{21C36951-4624-D697-ED29-684B67B1B26F}"/>
                  </a:ext>
                </a:extLst>
              </p:cNvPr>
              <p:cNvSpPr/>
              <p:nvPr/>
            </p:nvSpPr>
            <p:spPr>
              <a:xfrm>
                <a:off x="7257057" y="1634035"/>
                <a:ext cx="199030" cy="19903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  <a:alpha val="6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67"/>
              </a:p>
            </p:txBody>
          </p:sp>
          <p:pic>
            <p:nvPicPr>
              <p:cNvPr id="4148" name="그림 4147">
                <a:extLst>
                  <a:ext uri="{FF2B5EF4-FFF2-40B4-BE49-F238E27FC236}">
                    <a16:creationId xmlns:a16="http://schemas.microsoft.com/office/drawing/2014/main" id="{DD6078EC-ABDA-043A-AA7E-F670E143EA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lum bright="70000" contrast="-70000"/>
              </a:blip>
              <a:srcRect r="58948"/>
              <a:stretch/>
            </p:blipFill>
            <p:spPr>
              <a:xfrm>
                <a:off x="7266582" y="1675726"/>
                <a:ext cx="167681" cy="158510"/>
              </a:xfrm>
              <a:prstGeom prst="rect">
                <a:avLst/>
              </a:prstGeom>
            </p:spPr>
          </p:pic>
        </p:grpSp>
        <p:sp>
          <p:nvSpPr>
            <p:cNvPr id="4145" name="타원 4144">
              <a:extLst>
                <a:ext uri="{FF2B5EF4-FFF2-40B4-BE49-F238E27FC236}">
                  <a16:creationId xmlns:a16="http://schemas.microsoft.com/office/drawing/2014/main" id="{FFC63757-59F8-3927-6A7C-8626BD157542}"/>
                </a:ext>
              </a:extLst>
            </p:cNvPr>
            <p:cNvSpPr/>
            <p:nvPr/>
          </p:nvSpPr>
          <p:spPr>
            <a:xfrm>
              <a:off x="1470809" y="4241787"/>
              <a:ext cx="230207" cy="23020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pic>
          <p:nvPicPr>
            <p:cNvPr id="4146" name="그림 4145">
              <a:extLst>
                <a:ext uri="{FF2B5EF4-FFF2-40B4-BE49-F238E27FC236}">
                  <a16:creationId xmlns:a16="http://schemas.microsoft.com/office/drawing/2014/main" id="{995F2E06-0CA5-F668-994A-2C3CAEFE01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lum bright="70000" contrast="-70000"/>
            </a:blip>
            <a:stretch>
              <a:fillRect/>
            </a:stretch>
          </p:blipFill>
          <p:spPr>
            <a:xfrm>
              <a:off x="1511179" y="4313497"/>
              <a:ext cx="149467" cy="107990"/>
            </a:xfrm>
            <a:prstGeom prst="rect">
              <a:avLst/>
            </a:prstGeom>
          </p:spPr>
        </p:pic>
      </p:grpSp>
      <p:grpSp>
        <p:nvGrpSpPr>
          <p:cNvPr id="4149" name="그룹 4148">
            <a:extLst>
              <a:ext uri="{FF2B5EF4-FFF2-40B4-BE49-F238E27FC236}">
                <a16:creationId xmlns:a16="http://schemas.microsoft.com/office/drawing/2014/main" id="{BCCF8A7B-A702-8301-CEA3-0B49C82E2B9A}"/>
              </a:ext>
            </a:extLst>
          </p:cNvPr>
          <p:cNvGrpSpPr/>
          <p:nvPr/>
        </p:nvGrpSpPr>
        <p:grpSpPr>
          <a:xfrm>
            <a:off x="2131272" y="9672401"/>
            <a:ext cx="518048" cy="260567"/>
            <a:chOff x="7257057" y="1627391"/>
            <a:chExt cx="411240" cy="206845"/>
          </a:xfrm>
        </p:grpSpPr>
        <p:sp>
          <p:nvSpPr>
            <p:cNvPr id="4150" name="타원 4149">
              <a:extLst>
                <a:ext uri="{FF2B5EF4-FFF2-40B4-BE49-F238E27FC236}">
                  <a16:creationId xmlns:a16="http://schemas.microsoft.com/office/drawing/2014/main" id="{5DADA2B7-E9D9-C70F-4AEE-689F85B3E522}"/>
                </a:ext>
              </a:extLst>
            </p:cNvPr>
            <p:cNvSpPr/>
            <p:nvPr/>
          </p:nvSpPr>
          <p:spPr>
            <a:xfrm>
              <a:off x="7257057" y="1634035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sp>
          <p:nvSpPr>
            <p:cNvPr id="4151" name="타원 4150">
              <a:extLst>
                <a:ext uri="{FF2B5EF4-FFF2-40B4-BE49-F238E27FC236}">
                  <a16:creationId xmlns:a16="http://schemas.microsoft.com/office/drawing/2014/main" id="{92BE6BC6-49DA-D0D5-1F39-537F5697E044}"/>
                </a:ext>
              </a:extLst>
            </p:cNvPr>
            <p:cNvSpPr/>
            <p:nvPr/>
          </p:nvSpPr>
          <p:spPr>
            <a:xfrm>
              <a:off x="7462838" y="1627391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pic>
          <p:nvPicPr>
            <p:cNvPr id="4152" name="그림 4151">
              <a:extLst>
                <a:ext uri="{FF2B5EF4-FFF2-40B4-BE49-F238E27FC236}">
                  <a16:creationId xmlns:a16="http://schemas.microsoft.com/office/drawing/2014/main" id="{FB740373-43DF-B99D-5896-9474E3B68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</a:blip>
            <a:srcRect r="58948"/>
            <a:stretch/>
          </p:blipFill>
          <p:spPr>
            <a:xfrm>
              <a:off x="7266582" y="1675726"/>
              <a:ext cx="167681" cy="158510"/>
            </a:xfrm>
            <a:prstGeom prst="rect">
              <a:avLst/>
            </a:prstGeom>
          </p:spPr>
        </p:pic>
        <p:pic>
          <p:nvPicPr>
            <p:cNvPr id="4154" name="그림 4153">
              <a:extLst>
                <a:ext uri="{FF2B5EF4-FFF2-40B4-BE49-F238E27FC236}">
                  <a16:creationId xmlns:a16="http://schemas.microsoft.com/office/drawing/2014/main" id="{2444E890-E1DF-FB12-31A3-AA0498C0AD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rcRect l="51274"/>
            <a:stretch/>
          </p:blipFill>
          <p:spPr>
            <a:xfrm>
              <a:off x="7469267" y="1656353"/>
              <a:ext cx="199030" cy="158510"/>
            </a:xfrm>
            <a:prstGeom prst="rect">
              <a:avLst/>
            </a:prstGeom>
          </p:spPr>
        </p:pic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74C8E6C-A260-14B1-7AA9-052F5897A3CE}"/>
              </a:ext>
            </a:extLst>
          </p:cNvPr>
          <p:cNvGrpSpPr/>
          <p:nvPr/>
        </p:nvGrpSpPr>
        <p:grpSpPr>
          <a:xfrm>
            <a:off x="332246" y="4713653"/>
            <a:ext cx="6633447" cy="5716725"/>
            <a:chOff x="6032192" y="1762873"/>
            <a:chExt cx="5265801" cy="4538084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79258AAD-8058-1F61-6C5C-4354EFF33EEF}"/>
                </a:ext>
              </a:extLst>
            </p:cNvPr>
            <p:cNvSpPr/>
            <p:nvPr/>
          </p:nvSpPr>
          <p:spPr>
            <a:xfrm>
              <a:off x="6032192" y="1762873"/>
              <a:ext cx="5265801" cy="45380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423DC7DF-EC15-B950-E6B0-03F339520D2D}"/>
                </a:ext>
              </a:extLst>
            </p:cNvPr>
            <p:cNvGrpSpPr/>
            <p:nvPr/>
          </p:nvGrpSpPr>
          <p:grpSpPr>
            <a:xfrm>
              <a:off x="6044121" y="1988607"/>
              <a:ext cx="5253872" cy="3638516"/>
              <a:chOff x="5978560" y="3424108"/>
              <a:chExt cx="5253872" cy="3638516"/>
            </a:xfrm>
          </p:grpSpPr>
          <p:pic>
            <p:nvPicPr>
              <p:cNvPr id="5122" name="Picture 2" descr="쇼핑몰 구현] 4. 회원정보 수정 삭제">
                <a:extLst>
                  <a:ext uri="{FF2B5EF4-FFF2-40B4-BE49-F238E27FC236}">
                    <a16:creationId xmlns:a16="http://schemas.microsoft.com/office/drawing/2014/main" id="{0BDD554C-D88D-3DCD-2FF9-D25434251C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447" b="24842"/>
              <a:stretch/>
            </p:blipFill>
            <p:spPr bwMode="auto">
              <a:xfrm>
                <a:off x="5978560" y="3424108"/>
                <a:ext cx="5253872" cy="36385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6D0A45-A292-2327-896C-1351992AD224}"/>
                  </a:ext>
                </a:extLst>
              </p:cNvPr>
              <p:cNvSpPr txBox="1"/>
              <p:nvPr/>
            </p:nvSpPr>
            <p:spPr>
              <a:xfrm>
                <a:off x="6404630" y="3925531"/>
                <a:ext cx="651514" cy="21184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닉네임</a:t>
                </a:r>
                <a:endParaRPr lang="ko-KR" altLang="en-US" sz="1134" dirty="0"/>
              </a:p>
            </p:txBody>
          </p:sp>
        </p:grpSp>
        <p:pic>
          <p:nvPicPr>
            <p:cNvPr id="10" name="Picture 2" descr="쇼핑몰 구현] 4. 회원정보 수정 삭제">
              <a:extLst>
                <a:ext uri="{FF2B5EF4-FFF2-40B4-BE49-F238E27FC236}">
                  <a16:creationId xmlns:a16="http://schemas.microsoft.com/office/drawing/2014/main" id="{522AA289-E7C2-56EB-E3B0-4ADE212A7D3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55" t="90221" r="49749" b="2436"/>
            <a:stretch/>
          </p:blipFill>
          <p:spPr bwMode="auto">
            <a:xfrm>
              <a:off x="8551519" y="5740482"/>
              <a:ext cx="561975" cy="394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7D01D40-6823-8AD8-5BF0-0D8F28A1C682}"/>
                </a:ext>
              </a:extLst>
            </p:cNvPr>
            <p:cNvSpPr txBox="1"/>
            <p:nvPr/>
          </p:nvSpPr>
          <p:spPr>
            <a:xfrm>
              <a:off x="7901056" y="2069659"/>
              <a:ext cx="1528072" cy="23490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323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내 정보 수정</a:t>
              </a:r>
              <a:endParaRPr lang="ko-KR" altLang="en-US" sz="1323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3A65C4B-33FB-15CA-8055-D3E15AAC13F4}"/>
                </a:ext>
              </a:extLst>
            </p:cNvPr>
            <p:cNvSpPr txBox="1"/>
            <p:nvPr/>
          </p:nvSpPr>
          <p:spPr>
            <a:xfrm>
              <a:off x="11055018" y="1802687"/>
              <a:ext cx="81894" cy="288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764" dirty="0"/>
                <a:t>X</a:t>
              </a:r>
              <a:endParaRPr lang="ko-KR" altLang="en-US" sz="1764" dirty="0"/>
            </a:p>
          </p:txBody>
        </p:sp>
      </p:grpSp>
      <p:sp>
        <p:nvSpPr>
          <p:cNvPr id="4139" name="TextBox 4138">
            <a:extLst>
              <a:ext uri="{FF2B5EF4-FFF2-40B4-BE49-F238E27FC236}">
                <a16:creationId xmlns:a16="http://schemas.microsoft.com/office/drawing/2014/main" id="{EA391D3A-492F-34AB-5445-894B39C92BDE}"/>
              </a:ext>
            </a:extLst>
          </p:cNvPr>
          <p:cNvSpPr txBox="1"/>
          <p:nvPr/>
        </p:nvSpPr>
        <p:spPr>
          <a:xfrm>
            <a:off x="2816410" y="5018740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ⓑ</a:t>
            </a:r>
          </a:p>
        </p:txBody>
      </p:sp>
    </p:spTree>
    <p:extLst>
      <p:ext uri="{BB962C8B-B14F-4D97-AF65-F5344CB8AC3E}">
        <p14:creationId xmlns:p14="http://schemas.microsoft.com/office/powerpoint/2010/main" val="3704617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8F2BED-C0EE-54C0-05D6-A83C3AAB3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&lt;</a:t>
            </a:r>
            <a:r>
              <a:rPr lang="ko-KR" altLang="en-US" dirty="0"/>
              <a:t>추후 추가할 것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-’</a:t>
            </a:r>
            <a:r>
              <a:rPr lang="ko-KR" altLang="en-US" dirty="0"/>
              <a:t>새로 </a:t>
            </a:r>
            <a:r>
              <a:rPr lang="ko-KR" altLang="en-US" dirty="0" err="1"/>
              <a:t>사야하는</a:t>
            </a:r>
            <a:r>
              <a:rPr lang="ko-KR" altLang="en-US" dirty="0"/>
              <a:t> 재료</a:t>
            </a:r>
            <a:r>
              <a:rPr lang="en-US" altLang="ko-KR" dirty="0"/>
              <a:t>’</a:t>
            </a:r>
            <a:r>
              <a:rPr lang="ko-KR" altLang="en-US" dirty="0"/>
              <a:t>는 </a:t>
            </a:r>
            <a:r>
              <a:rPr lang="ko-KR" altLang="en-US" dirty="0" err="1"/>
              <a:t>쿠팡이나</a:t>
            </a:r>
            <a:r>
              <a:rPr lang="ko-KR" altLang="en-US" dirty="0"/>
              <a:t> </a:t>
            </a:r>
            <a:r>
              <a:rPr lang="ko-KR" altLang="en-US" dirty="0" err="1"/>
              <a:t>마켓컬리로</a:t>
            </a:r>
            <a:r>
              <a:rPr lang="ko-KR" altLang="en-US" dirty="0"/>
              <a:t> 바로 </a:t>
            </a:r>
            <a:r>
              <a:rPr lang="ko-KR" altLang="en-US" dirty="0" err="1"/>
              <a:t>이동가능하게하여</a:t>
            </a:r>
            <a:r>
              <a:rPr lang="en-US" altLang="ko-KR" dirty="0"/>
              <a:t> </a:t>
            </a:r>
            <a:r>
              <a:rPr lang="ko-KR" altLang="en-US" dirty="0"/>
              <a:t>광고 삽입하기</a:t>
            </a:r>
          </a:p>
        </p:txBody>
      </p:sp>
    </p:spTree>
    <p:extLst>
      <p:ext uri="{BB962C8B-B14F-4D97-AF65-F5344CB8AC3E}">
        <p14:creationId xmlns:p14="http://schemas.microsoft.com/office/powerpoint/2010/main" val="1867403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7DF337-5CB7-F656-AA97-06D83E3367AA}"/>
              </a:ext>
            </a:extLst>
          </p:cNvPr>
          <p:cNvSpPr txBox="1"/>
          <p:nvPr/>
        </p:nvSpPr>
        <p:spPr>
          <a:xfrm>
            <a:off x="4" y="2037292"/>
            <a:ext cx="11376691" cy="363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1. </a:t>
            </a:r>
            <a:r>
              <a:rPr lang="ko-KR" altLang="en-US" sz="1764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메인페이지</a:t>
            </a:r>
            <a:endParaRPr lang="en-US" altLang="ko-KR" sz="1764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B4A576-43BE-EC4F-2D42-3A30B24EB2AE}"/>
              </a:ext>
            </a:extLst>
          </p:cNvPr>
          <p:cNvSpPr txBox="1"/>
          <p:nvPr/>
        </p:nvSpPr>
        <p:spPr>
          <a:xfrm>
            <a:off x="3" y="2651488"/>
            <a:ext cx="11388543" cy="5188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19952" indent="-319952">
              <a:buFontTx/>
              <a:buChar char="-"/>
            </a:pP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홈페이지 주소</a:t>
            </a:r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: watchout.com</a:t>
            </a:r>
          </a:p>
          <a:p>
            <a:pPr marL="319952" indent="-319952">
              <a:buFontTx/>
              <a:buChar char="-"/>
            </a:pPr>
            <a:r>
              <a:rPr lang="ko-KR" altLang="en-US" sz="1386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맨처음</a:t>
            </a: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386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랜딩되는</a:t>
            </a: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페이지는 </a:t>
            </a:r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사기검증</a:t>
            </a:r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‘ </a:t>
            </a: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페이지</a:t>
            </a:r>
            <a:endParaRPr lang="en-US" altLang="ko-KR" sz="1386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3CD856-B4A7-76DB-8335-6CB78892F4BC}"/>
              </a:ext>
            </a:extLst>
          </p:cNvPr>
          <p:cNvSpPr txBox="1"/>
          <p:nvPr/>
        </p:nvSpPr>
        <p:spPr>
          <a:xfrm>
            <a:off x="-1" y="11847610"/>
            <a:ext cx="7199313" cy="4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ⓐ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URL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검색창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방문자들이 사기를 검증하고자 하는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URL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혹은 게시글 번호를 검색하는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검색창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D1CCCC-7757-33AD-8113-AF03AC60F5ED}"/>
              </a:ext>
            </a:extLst>
          </p:cNvPr>
          <p:cNvSpPr txBox="1"/>
          <p:nvPr/>
        </p:nvSpPr>
        <p:spPr>
          <a:xfrm>
            <a:off x="-1" y="12350461"/>
            <a:ext cx="7199313" cy="4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ⓑ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광고 삽입 자리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애드센스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)</a:t>
            </a: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메인페이지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광고 삽입 자리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광고를 끄면 나타나는 문구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C9BDFCA-E662-8E64-AFDD-33988FD42B23}"/>
              </a:ext>
            </a:extLst>
          </p:cNvPr>
          <p:cNvCxnSpPr>
            <a:cxnSpLocks/>
          </p:cNvCxnSpPr>
          <p:nvPr/>
        </p:nvCxnSpPr>
        <p:spPr>
          <a:xfrm>
            <a:off x="-1" y="3328587"/>
            <a:ext cx="7199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B3A749B-1993-105E-A004-A74CFBCD2F8C}"/>
              </a:ext>
            </a:extLst>
          </p:cNvPr>
          <p:cNvGrpSpPr/>
          <p:nvPr/>
        </p:nvGrpSpPr>
        <p:grpSpPr>
          <a:xfrm>
            <a:off x="-1" y="3354522"/>
            <a:ext cx="7199313" cy="617932"/>
            <a:chOff x="-6173610" y="696003"/>
            <a:chExt cx="14698254" cy="1261580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454F5FAA-A0B5-6C6E-9F2A-3D8393BB7E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1" r="251"/>
            <a:stretch/>
          </p:blipFill>
          <p:spPr>
            <a:xfrm>
              <a:off x="-6173610" y="696003"/>
              <a:ext cx="14698254" cy="672969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DABE599-2595-B317-5B0A-31081BC5BB70}"/>
                </a:ext>
              </a:extLst>
            </p:cNvPr>
            <p:cNvSpPr txBox="1"/>
            <p:nvPr/>
          </p:nvSpPr>
          <p:spPr>
            <a:xfrm>
              <a:off x="-5639772" y="1580192"/>
              <a:ext cx="813773" cy="2771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사기검증</a:t>
              </a:r>
              <a:endParaRPr lang="ko-KR" altLang="en-US" sz="882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8C332F-4023-E451-8F68-66D94FF70388}"/>
                </a:ext>
              </a:extLst>
            </p:cNvPr>
            <p:cNvSpPr txBox="1"/>
            <p:nvPr/>
          </p:nvSpPr>
          <p:spPr>
            <a:xfrm>
              <a:off x="-4384543" y="1583681"/>
              <a:ext cx="813773" cy="2771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사기제보</a:t>
              </a:r>
              <a:endParaRPr lang="ko-KR" altLang="en-US" sz="882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B23A426-8468-2E00-8402-A9ECCF033288}"/>
                </a:ext>
              </a:extLst>
            </p:cNvPr>
            <p:cNvSpPr txBox="1"/>
            <p:nvPr/>
          </p:nvSpPr>
          <p:spPr>
            <a:xfrm>
              <a:off x="-3129315" y="1578190"/>
              <a:ext cx="813773" cy="2771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가격동향</a:t>
              </a:r>
              <a:endParaRPr lang="ko-KR" altLang="en-US" sz="882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94115EC-492C-E148-B00D-E1ECE0E97978}"/>
                </a:ext>
              </a:extLst>
            </p:cNvPr>
            <p:cNvGrpSpPr/>
            <p:nvPr/>
          </p:nvGrpSpPr>
          <p:grpSpPr>
            <a:xfrm>
              <a:off x="6305768" y="1507170"/>
              <a:ext cx="2101649" cy="450413"/>
              <a:chOff x="3389868" y="3051668"/>
              <a:chExt cx="3445082" cy="738331"/>
            </a:xfrm>
          </p:grpSpPr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18CB257C-C944-7E81-8414-14A192538FF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biLevel thresh="75000"/>
              </a:blip>
              <a:srcRect b="44835"/>
              <a:stretch/>
            </p:blipFill>
            <p:spPr>
              <a:xfrm>
                <a:off x="3389868" y="3051668"/>
                <a:ext cx="1981373" cy="615459"/>
              </a:xfrm>
              <a:prstGeom prst="rect">
                <a:avLst/>
              </a:prstGeom>
            </p:spPr>
          </p:pic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FAFB2129-3F6C-CDF9-99BA-CFE193B2AC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biLevel thresh="75000"/>
              </a:blip>
              <a:srcRect t="54228" b="-9393"/>
              <a:stretch/>
            </p:blipFill>
            <p:spPr>
              <a:xfrm>
                <a:off x="4853577" y="3174540"/>
                <a:ext cx="1981373" cy="615459"/>
              </a:xfrm>
              <a:prstGeom prst="rect">
                <a:avLst/>
              </a:prstGeom>
            </p:spPr>
          </p:pic>
        </p:grp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23D6CEE-483E-F7EA-1E18-11E06A123C25}"/>
              </a:ext>
            </a:extLst>
          </p:cNvPr>
          <p:cNvGrpSpPr/>
          <p:nvPr/>
        </p:nvGrpSpPr>
        <p:grpSpPr>
          <a:xfrm>
            <a:off x="0" y="4107490"/>
            <a:ext cx="7220836" cy="7660017"/>
            <a:chOff x="50622" y="565912"/>
            <a:chExt cx="12141379" cy="7867533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99C688CF-060F-0E17-24FE-73E5CC777C99}"/>
                </a:ext>
              </a:extLst>
            </p:cNvPr>
            <p:cNvSpPr/>
            <p:nvPr/>
          </p:nvSpPr>
          <p:spPr>
            <a:xfrm>
              <a:off x="50622" y="565912"/>
              <a:ext cx="12141379" cy="7867533"/>
            </a:xfrm>
            <a:prstGeom prst="rect">
              <a:avLst/>
            </a:prstGeom>
            <a:solidFill>
              <a:srgbClr val="4644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360" dirty="0">
                <a:ln>
                  <a:solidFill>
                    <a:schemeClr val="bg1"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C21CCC9D-0E6A-C996-DE8F-7BB72E254FDF}"/>
                </a:ext>
              </a:extLst>
            </p:cNvPr>
            <p:cNvSpPr/>
            <p:nvPr/>
          </p:nvSpPr>
          <p:spPr>
            <a:xfrm>
              <a:off x="2162216" y="3332886"/>
              <a:ext cx="7925626" cy="31857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360">
                <a:ln>
                  <a:solidFill>
                    <a:schemeClr val="bg1"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7568410-FDF8-508D-B0F5-3F8F4CFE6BB2}"/>
                </a:ext>
              </a:extLst>
            </p:cNvPr>
            <p:cNvSpPr txBox="1"/>
            <p:nvPr/>
          </p:nvSpPr>
          <p:spPr>
            <a:xfrm>
              <a:off x="2205841" y="3362968"/>
              <a:ext cx="6883321" cy="2541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KoPubWorld돋움체 Medium" panose="00000600000000000000" pitchFamily="2" charset="-127"/>
                </a:rPr>
                <a:t>사기를 검증하고자 하는 중고나라 </a:t>
              </a:r>
              <a:r>
                <a:rPr lang="en-US" altLang="ko-KR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KoPubWorld돋움체 Medium" panose="00000600000000000000" pitchFamily="2" charset="-127"/>
                </a:rPr>
                <a:t>URL </a:t>
              </a:r>
              <a:r>
                <a:rPr lang="ko-KR" altLang="en-US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KoPubWorld돋움체 Medium" panose="00000600000000000000" pitchFamily="2" charset="-127"/>
                </a:rPr>
                <a:t>혹은 게시글 번호를 입력해주세요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D620354-ABD6-3A35-767A-3BDA67C2E6F8}"/>
                </a:ext>
              </a:extLst>
            </p:cNvPr>
            <p:cNvSpPr txBox="1"/>
            <p:nvPr/>
          </p:nvSpPr>
          <p:spPr>
            <a:xfrm>
              <a:off x="218144" y="613456"/>
              <a:ext cx="7474689" cy="2541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오류 발생시 </a:t>
              </a:r>
              <a:r>
                <a:rPr lang="en-US" altLang="ko-KR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[</a:t>
              </a:r>
              <a:r>
                <a:rPr lang="ko-KR" altLang="en-US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링크</a:t>
              </a:r>
              <a:r>
                <a:rPr lang="en-US" altLang="ko-KR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] </a:t>
              </a:r>
              <a:r>
                <a:rPr lang="ko-KR" altLang="en-US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또는 </a:t>
              </a:r>
              <a:r>
                <a:rPr lang="en-US" altLang="ko-KR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Cleandeal@kakao.com</a:t>
              </a:r>
              <a:r>
                <a:rPr lang="en-US" altLang="ko-KR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 </a:t>
              </a:r>
              <a:r>
                <a:rPr lang="ko-KR" altLang="en-US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으로 보내주시면 감사하겠습니다</a:t>
              </a:r>
              <a:r>
                <a:rPr lang="en-US" altLang="ko-KR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. </a:t>
              </a:r>
              <a:endPara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80F519BE-A6C1-3890-0FEA-6A8E74C9C744}"/>
                </a:ext>
              </a:extLst>
            </p:cNvPr>
            <p:cNvGrpSpPr/>
            <p:nvPr/>
          </p:nvGrpSpPr>
          <p:grpSpPr>
            <a:xfrm>
              <a:off x="164209" y="7740451"/>
              <a:ext cx="5782060" cy="550501"/>
              <a:chOff x="164209" y="7740451"/>
              <a:chExt cx="5782060" cy="550501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8D01C04-D382-D3CB-895E-B118DEAC44EF}"/>
                  </a:ext>
                </a:extLst>
              </p:cNvPr>
              <p:cNvSpPr txBox="1"/>
              <p:nvPr/>
            </p:nvSpPr>
            <p:spPr>
              <a:xfrm>
                <a:off x="164209" y="7740451"/>
                <a:ext cx="5782060" cy="5505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1764"/>
                  </a:lnSpc>
                </a:pPr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                          </a:t>
                </a:r>
                <a:r>
                  <a:rPr lang="ko-KR" altLang="en-US" sz="1134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ㅣ</a:t>
                </a:r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 제휴문의</a:t>
                </a:r>
                <a:r>
                  <a:rPr lang="en-US" altLang="ko-KR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 Cleandeal@naver.com</a:t>
                </a:r>
              </a:p>
              <a:p>
                <a:pPr>
                  <a:lnSpc>
                    <a:spcPts val="1764"/>
                  </a:lnSpc>
                </a:pPr>
                <a:r>
                  <a:rPr lang="en-US" altLang="ko-KR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Watchout.com</a:t>
                </a:r>
                <a:r>
                  <a:rPr lang="ko-KR" altLang="en-US" sz="1134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ㅣ개인정보처리방침</a:t>
                </a:r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 </a:t>
                </a:r>
                <a:r>
                  <a:rPr lang="ko-KR" altLang="en-US" sz="1134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ㅣ</a:t>
                </a:r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 공지사항 </a:t>
                </a:r>
                <a:endParaRPr lang="en-US" altLang="ko-KR" sz="113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C14300D1-FAC1-3A4F-0A96-68199565F5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11979" y="7854918"/>
                <a:ext cx="1882290" cy="154570"/>
              </a:xfrm>
              <a:prstGeom prst="rect">
                <a:avLst/>
              </a:prstGeom>
            </p:spPr>
          </p:pic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E13BF48-870A-10EF-6E48-A3A9A8B86C14}"/>
              </a:ext>
            </a:extLst>
          </p:cNvPr>
          <p:cNvSpPr txBox="1"/>
          <p:nvPr/>
        </p:nvSpPr>
        <p:spPr>
          <a:xfrm rot="20345079">
            <a:off x="999689" y="6670421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ⓐ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ACA809-4B50-2C49-F642-44CB99BC0485}"/>
              </a:ext>
            </a:extLst>
          </p:cNvPr>
          <p:cNvSpPr txBox="1"/>
          <p:nvPr/>
        </p:nvSpPr>
        <p:spPr>
          <a:xfrm>
            <a:off x="782759" y="9921531"/>
            <a:ext cx="5633796" cy="61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해당 사이트는 광고와 후원으로만 운영이 됩니다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</a:p>
          <a:p>
            <a:pPr algn="ctr"/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애드블럭을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허용해주시면 사이트 운영에 큰 힘이 됩니다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감사합니다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</a:p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본 사이트는 콘텐츠를 보는데 방해되지 않는 위치에 광고를 설치했습니다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DA36E57-9164-F9B9-BE15-2B2FA74A095D}"/>
              </a:ext>
            </a:extLst>
          </p:cNvPr>
          <p:cNvGrpSpPr/>
          <p:nvPr/>
        </p:nvGrpSpPr>
        <p:grpSpPr>
          <a:xfrm>
            <a:off x="2123962" y="6011854"/>
            <a:ext cx="2951386" cy="637510"/>
            <a:chOff x="-1166571" y="260314"/>
            <a:chExt cx="2887305" cy="623669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733DF438-4BC4-FE22-F224-CFB1F754AB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5328" b="96721" l="4111" r="90135">
                          <a14:foregroundMark x1="7474" y1="22951" x2="10314" y2="30738"/>
                          <a14:foregroundMark x1="24141" y1="49590" x2="24141" y2="49590"/>
                          <a14:foregroundMark x1="25112" y1="50820" x2="23244" y2="46175"/>
                          <a14:foregroundMark x1="4185" y1="12295" x2="5830" y2="14344"/>
                          <a14:foregroundMark x1="11958" y1="51776" x2="12855" y2="50000"/>
                          <a14:foregroundMark x1="33782" y1="38388" x2="35650" y2="43169"/>
                          <a14:foregroundMark x1="52317" y1="26366" x2="52541" y2="29781"/>
                          <a14:foregroundMark x1="63602" y1="28552" x2="62631" y2="29781"/>
                          <a14:foregroundMark x1="76233" y1="22541" x2="77205" y2="28552"/>
                          <a14:foregroundMark x1="38714" y1="64208" x2="40359" y2="67623"/>
                          <a14:foregroundMark x1="46712" y1="77459" x2="47160" y2="83880"/>
                          <a14:foregroundMark x1="57922" y1="80055" x2="57250" y2="90710"/>
                          <a14:foregroundMark x1="64051" y1="71038" x2="65022" y2="84699"/>
                          <a14:foregroundMark x1="33034" y1="96721" x2="34454" y2="94262"/>
                        </a14:backgroundRemoval>
                      </a14:imgEffect>
                    </a14:imgLayer>
                  </a14:imgProps>
                </a:ext>
              </a:extLst>
            </a:blip>
            <a:srcRect l="2418" t="-2" b="45706"/>
            <a:stretch/>
          </p:blipFill>
          <p:spPr>
            <a:xfrm>
              <a:off x="-1166571" y="260314"/>
              <a:ext cx="1980164" cy="602768"/>
            </a:xfrm>
            <a:prstGeom prst="rect">
              <a:avLst/>
            </a:pr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64688986-3E13-A708-91E4-44849FFBB5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5328" b="96721" l="4111" r="90135">
                          <a14:foregroundMark x1="7474" y1="22951" x2="10314" y2="30738"/>
                          <a14:foregroundMark x1="24141" y1="49590" x2="24141" y2="49590"/>
                          <a14:foregroundMark x1="25112" y1="50820" x2="23244" y2="46175"/>
                          <a14:foregroundMark x1="4185" y1="12295" x2="5830" y2="14344"/>
                          <a14:foregroundMark x1="11958" y1="51776" x2="12855" y2="50000"/>
                          <a14:foregroundMark x1="33782" y1="38388" x2="35650" y2="43169"/>
                          <a14:foregroundMark x1="52317" y1="26366" x2="52541" y2="29781"/>
                          <a14:foregroundMark x1="63602" y1="28552" x2="62631" y2="29781"/>
                          <a14:foregroundMark x1="76233" y1="22541" x2="77205" y2="28552"/>
                          <a14:foregroundMark x1="38714" y1="64208" x2="40359" y2="67623"/>
                          <a14:foregroundMark x1="46712" y1="77459" x2="47160" y2="83880"/>
                          <a14:foregroundMark x1="57922" y1="80055" x2="57250" y2="90710"/>
                          <a14:foregroundMark x1="64051" y1="71038" x2="65022" y2="84699"/>
                          <a14:foregroundMark x1="33034" y1="96721" x2="34454" y2="94262"/>
                        </a14:backgroundRemoval>
                      </a14:imgEffect>
                    </a14:imgLayer>
                  </a14:imgProps>
                </a:ext>
              </a:extLst>
            </a:blip>
            <a:srcRect l="2418" t="53521" r="27368" b="-628"/>
            <a:stretch/>
          </p:blipFill>
          <p:spPr>
            <a:xfrm>
              <a:off x="295932" y="361017"/>
              <a:ext cx="1424802" cy="522966"/>
            </a:xfrm>
            <a:prstGeom prst="rect">
              <a:avLst/>
            </a:prstGeom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DBDA9F79-35C3-533E-A6A7-51AE198AB042}"/>
              </a:ext>
            </a:extLst>
          </p:cNvPr>
          <p:cNvSpPr txBox="1"/>
          <p:nvPr/>
        </p:nvSpPr>
        <p:spPr>
          <a:xfrm>
            <a:off x="-132485" y="13499308"/>
            <a:ext cx="9179621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**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차후 시계 거래소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플라이워치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와치홀릭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,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 타임포럼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번개장터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당근마켓 확장예정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7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KoPubWorld돋움체 Medium" panose="00000600000000000000" pitchFamily="2" charset="-127"/>
            </a:endParaRPr>
          </a:p>
          <a:p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7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안녕하세요</a:t>
            </a:r>
            <a:r>
              <a:rPr lang="en-US" altLang="ko-KR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.</a:t>
            </a:r>
            <a:r>
              <a:rPr lang="ko-KR" altLang="en-US" sz="63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더치트</a:t>
            </a:r>
            <a:r>
              <a:rPr lang="en-US" altLang="ko-KR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(Thechaet.co.kr) </a:t>
            </a:r>
            <a: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방문을 환영합니다</a:t>
            </a:r>
            <a:r>
              <a:rPr lang="en-US" altLang="ko-KR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.</a:t>
            </a:r>
            <a:b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</a:br>
            <a:b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</a:br>
            <a:r>
              <a:rPr lang="ko-KR" altLang="en-US" sz="63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더치트는</a:t>
            </a:r>
            <a: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2006</a:t>
            </a:r>
            <a: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년 </a:t>
            </a:r>
            <a:r>
              <a:rPr lang="en-US" altLang="ko-KR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1</a:t>
            </a:r>
            <a: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월 </a:t>
            </a:r>
            <a:r>
              <a:rPr lang="en-US" altLang="ko-KR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4</a:t>
            </a:r>
            <a: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일 비영리로 개설된 국내 최초의 사기피해 정보공유 사이트이며</a:t>
            </a:r>
            <a:r>
              <a:rPr lang="en-US" altLang="ko-KR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,</a:t>
            </a:r>
            <a:b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</a:br>
            <a: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사기피해사례 공유를 통한 사기피해 재발방지 및 피해자간 공동대응을 목적으로 운영되고 있습니다</a:t>
            </a:r>
            <a:r>
              <a:rPr lang="en-US" altLang="ko-KR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.</a:t>
            </a:r>
            <a:b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</a:br>
            <a:b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</a:br>
            <a: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여러분의 많은 관심과 사랑을 부탁드립니다</a:t>
            </a:r>
            <a:r>
              <a:rPr lang="en-US" altLang="ko-KR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.</a:t>
            </a:r>
            <a:endParaRPr lang="ko-KR" altLang="en-US" sz="63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7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KoPubWorld돋움체 Medium" panose="00000600000000000000" pitchFamily="2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345CEC04-21CF-CAAE-9BBD-BD67815F2D27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457827" y="9673459"/>
            <a:ext cx="6348410" cy="1135871"/>
          </a:xfrm>
          <a:prstGeom prst="rect">
            <a:avLst/>
          </a:prstGeom>
        </p:spPr>
      </p:pic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2417F54-D9A9-E830-62AF-621535BDEED9}"/>
              </a:ext>
            </a:extLst>
          </p:cNvPr>
          <p:cNvSpPr/>
          <p:nvPr/>
        </p:nvSpPr>
        <p:spPr>
          <a:xfrm>
            <a:off x="442947" y="9664991"/>
            <a:ext cx="6348699" cy="1167866"/>
          </a:xfrm>
          <a:prstGeom prst="round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6343F2-D8EC-535B-CE06-F40B3C08AF88}"/>
              </a:ext>
            </a:extLst>
          </p:cNvPr>
          <p:cNvSpPr txBox="1"/>
          <p:nvPr/>
        </p:nvSpPr>
        <p:spPr>
          <a:xfrm rot="20345079">
            <a:off x="218224" y="9528034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ⓑ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CD662D-35E9-01FF-615D-D47964751450}"/>
              </a:ext>
            </a:extLst>
          </p:cNvPr>
          <p:cNvSpPr txBox="1"/>
          <p:nvPr/>
        </p:nvSpPr>
        <p:spPr>
          <a:xfrm rot="20345079">
            <a:off x="-50310" y="10910373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ⓒ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82EA82-988C-2AA6-6F00-639BDAE4C946}"/>
              </a:ext>
            </a:extLst>
          </p:cNvPr>
          <p:cNvSpPr txBox="1"/>
          <p:nvPr/>
        </p:nvSpPr>
        <p:spPr>
          <a:xfrm>
            <a:off x="-1" y="12885088"/>
            <a:ext cx="7199313" cy="4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ⓒ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기업정보 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관리자 및 기업에 대한 정보를 삽입하는 공간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매 페이지마다 디폴트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12404FA-5046-2B81-902F-70C94330A41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93056" y="4390148"/>
            <a:ext cx="7199313" cy="719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913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7DF337-5CB7-F656-AA97-06D83E3367AA}"/>
              </a:ext>
            </a:extLst>
          </p:cNvPr>
          <p:cNvSpPr txBox="1"/>
          <p:nvPr/>
        </p:nvSpPr>
        <p:spPr>
          <a:xfrm>
            <a:off x="4" y="2021425"/>
            <a:ext cx="11376691" cy="57708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1-1. </a:t>
            </a:r>
            <a:r>
              <a:rPr lang="ko-KR" altLang="en-US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사기검증 페이지 상세</a:t>
            </a:r>
            <a:endParaRPr lang="en-US" altLang="ko-KR" sz="1764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        (</a:t>
            </a: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게시글 </a:t>
            </a:r>
            <a:r>
              <a:rPr lang="en-US" altLang="ko-KR" sz="1386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url</a:t>
            </a:r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검색 후</a:t>
            </a:r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sz="1386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B4A576-43BE-EC4F-2D42-3A30B24EB2AE}"/>
              </a:ext>
            </a:extLst>
          </p:cNvPr>
          <p:cNvSpPr txBox="1"/>
          <p:nvPr/>
        </p:nvSpPr>
        <p:spPr>
          <a:xfrm>
            <a:off x="3" y="2758118"/>
            <a:ext cx="11388543" cy="3055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19952" indent="-319952">
              <a:buFontTx/>
              <a:buChar char="-"/>
            </a:pP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사기검증 페이지에서 사용자가 </a:t>
            </a:r>
            <a:r>
              <a:rPr lang="en-US" altLang="ko-KR" sz="1386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url</a:t>
            </a: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혹은 게시물 번호를 검색하면 나타나는 페이지</a:t>
            </a:r>
            <a:endParaRPr lang="en-US" altLang="ko-KR" sz="1386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3CD856-B4A7-76DB-8335-6CB78892F4BC}"/>
              </a:ext>
            </a:extLst>
          </p:cNvPr>
          <p:cNvSpPr txBox="1"/>
          <p:nvPr/>
        </p:nvSpPr>
        <p:spPr>
          <a:xfrm>
            <a:off x="-1" y="11847610"/>
            <a:ext cx="7199313" cy="4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ⓐ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광고 삽입 자리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애드센스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)</a:t>
            </a: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메인페이지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광고 삽입 자리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광고를 끄면 나타나는 문구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D1CCCC-7757-33AD-8113-AF03AC60F5ED}"/>
              </a:ext>
            </a:extLst>
          </p:cNvPr>
          <p:cNvSpPr txBox="1"/>
          <p:nvPr/>
        </p:nvSpPr>
        <p:spPr>
          <a:xfrm>
            <a:off x="-1" y="12425650"/>
            <a:ext cx="7199313" cy="4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ⓑ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사기 검증 점수 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사용자가 검색한 </a:t>
            </a:r>
            <a:r>
              <a:rPr lang="en-US" altLang="ko-KR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url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혹은 게시물 번호를 기반으로 사기 위험 점수를 알려주는 공간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C9BDFCA-E662-8E64-AFDD-33988FD42B23}"/>
              </a:ext>
            </a:extLst>
          </p:cNvPr>
          <p:cNvCxnSpPr>
            <a:cxnSpLocks/>
          </p:cNvCxnSpPr>
          <p:nvPr/>
        </p:nvCxnSpPr>
        <p:spPr>
          <a:xfrm>
            <a:off x="-1" y="3328587"/>
            <a:ext cx="7199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B3A749B-1993-105E-A004-A74CFBCD2F8C}"/>
              </a:ext>
            </a:extLst>
          </p:cNvPr>
          <p:cNvGrpSpPr/>
          <p:nvPr/>
        </p:nvGrpSpPr>
        <p:grpSpPr>
          <a:xfrm>
            <a:off x="-1" y="3354522"/>
            <a:ext cx="7199313" cy="617932"/>
            <a:chOff x="-6173610" y="696003"/>
            <a:chExt cx="14698254" cy="1261580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454F5FAA-A0B5-6C6E-9F2A-3D8393BB7E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1" r="251"/>
            <a:stretch/>
          </p:blipFill>
          <p:spPr>
            <a:xfrm>
              <a:off x="-6173610" y="696003"/>
              <a:ext cx="14698254" cy="672969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DABE599-2595-B317-5B0A-31081BC5BB70}"/>
                </a:ext>
              </a:extLst>
            </p:cNvPr>
            <p:cNvSpPr txBox="1"/>
            <p:nvPr/>
          </p:nvSpPr>
          <p:spPr>
            <a:xfrm>
              <a:off x="-5639772" y="1580192"/>
              <a:ext cx="813773" cy="2771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사기검증</a:t>
              </a:r>
              <a:endParaRPr lang="ko-KR" altLang="en-US" sz="882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8C332F-4023-E451-8F68-66D94FF70388}"/>
                </a:ext>
              </a:extLst>
            </p:cNvPr>
            <p:cNvSpPr txBox="1"/>
            <p:nvPr/>
          </p:nvSpPr>
          <p:spPr>
            <a:xfrm>
              <a:off x="-4384543" y="1583681"/>
              <a:ext cx="813773" cy="2771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사기제보</a:t>
              </a:r>
              <a:endParaRPr lang="ko-KR" altLang="en-US" sz="882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B23A426-8468-2E00-8402-A9ECCF033288}"/>
                </a:ext>
              </a:extLst>
            </p:cNvPr>
            <p:cNvSpPr txBox="1"/>
            <p:nvPr/>
          </p:nvSpPr>
          <p:spPr>
            <a:xfrm>
              <a:off x="-3129315" y="1578190"/>
              <a:ext cx="813773" cy="2771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가격동향</a:t>
              </a:r>
              <a:endParaRPr lang="ko-KR" altLang="en-US" sz="882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94115EC-492C-E148-B00D-E1ECE0E97978}"/>
                </a:ext>
              </a:extLst>
            </p:cNvPr>
            <p:cNvGrpSpPr/>
            <p:nvPr/>
          </p:nvGrpSpPr>
          <p:grpSpPr>
            <a:xfrm>
              <a:off x="6305768" y="1507170"/>
              <a:ext cx="2101649" cy="450413"/>
              <a:chOff x="3389868" y="3051668"/>
              <a:chExt cx="3445082" cy="738331"/>
            </a:xfrm>
          </p:grpSpPr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18CB257C-C944-7E81-8414-14A192538FF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biLevel thresh="75000"/>
              </a:blip>
              <a:srcRect b="44835"/>
              <a:stretch/>
            </p:blipFill>
            <p:spPr>
              <a:xfrm>
                <a:off x="3389868" y="3051668"/>
                <a:ext cx="1981373" cy="615459"/>
              </a:xfrm>
              <a:prstGeom prst="rect">
                <a:avLst/>
              </a:prstGeom>
            </p:spPr>
          </p:pic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FAFB2129-3F6C-CDF9-99BA-CFE193B2AC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biLevel thresh="75000"/>
              </a:blip>
              <a:srcRect t="54228" b="-9393"/>
              <a:stretch/>
            </p:blipFill>
            <p:spPr>
              <a:xfrm>
                <a:off x="4853577" y="3174540"/>
                <a:ext cx="1981373" cy="615459"/>
              </a:xfrm>
              <a:prstGeom prst="rect">
                <a:avLst/>
              </a:prstGeom>
            </p:spPr>
          </p:pic>
        </p:grp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9C688CF-060F-0E17-24FE-73E5CC777C99}"/>
              </a:ext>
            </a:extLst>
          </p:cNvPr>
          <p:cNvSpPr/>
          <p:nvPr/>
        </p:nvSpPr>
        <p:spPr>
          <a:xfrm>
            <a:off x="0" y="4107749"/>
            <a:ext cx="7220836" cy="7660017"/>
          </a:xfrm>
          <a:prstGeom prst="rect">
            <a:avLst/>
          </a:prstGeom>
          <a:solidFill>
            <a:srgbClr val="464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 dirty="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21CCC9D-0E6A-C996-DE8F-7BB72E254FDF}"/>
              </a:ext>
            </a:extLst>
          </p:cNvPr>
          <p:cNvSpPr/>
          <p:nvPr/>
        </p:nvSpPr>
        <p:spPr>
          <a:xfrm>
            <a:off x="1255829" y="4854846"/>
            <a:ext cx="4713603" cy="31017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568410-FDF8-508D-B0F5-3F8F4CFE6BB2}"/>
              </a:ext>
            </a:extLst>
          </p:cNvPr>
          <p:cNvSpPr txBox="1"/>
          <p:nvPr/>
        </p:nvSpPr>
        <p:spPr>
          <a:xfrm>
            <a:off x="1281774" y="4854849"/>
            <a:ext cx="4661713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https://cafe.naver.com/joonggonara/1044252439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ACA809-4B50-2C49-F642-44CB99BC0485}"/>
              </a:ext>
            </a:extLst>
          </p:cNvPr>
          <p:cNvSpPr txBox="1"/>
          <p:nvPr/>
        </p:nvSpPr>
        <p:spPr>
          <a:xfrm>
            <a:off x="782759" y="5931525"/>
            <a:ext cx="5633796" cy="61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해당 사이트는 광고와 후원으로만 운영이 됩니다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</a:p>
          <a:p>
            <a:pPr algn="ctr"/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애드블럭을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허용해주시면 사이트 운영에 큰 힘이 됩니다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감사합니다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</a:p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본 사이트는 콘텐츠를 보는데 방해되지 않는 위치에 광고를 설치했습니다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0529EA7-0B89-D15B-7516-27F97C67D35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425450" y="5706981"/>
            <a:ext cx="6348410" cy="1135871"/>
          </a:xfrm>
          <a:prstGeom prst="rect">
            <a:avLst/>
          </a:prstGeom>
        </p:spPr>
      </p:pic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2417F54-D9A9-E830-62AF-621535BDEED9}"/>
              </a:ext>
            </a:extLst>
          </p:cNvPr>
          <p:cNvSpPr/>
          <p:nvPr/>
        </p:nvSpPr>
        <p:spPr>
          <a:xfrm>
            <a:off x="442947" y="5674985"/>
            <a:ext cx="6348699" cy="1167866"/>
          </a:xfrm>
          <a:prstGeom prst="round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6343F2-D8EC-535B-CE06-F40B3C08AF88}"/>
              </a:ext>
            </a:extLst>
          </p:cNvPr>
          <p:cNvSpPr txBox="1"/>
          <p:nvPr/>
        </p:nvSpPr>
        <p:spPr>
          <a:xfrm rot="20345079">
            <a:off x="244067" y="5498123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7A47B6-7756-C4A3-5F7F-9BF0F482E883}"/>
              </a:ext>
            </a:extLst>
          </p:cNvPr>
          <p:cNvSpPr txBox="1"/>
          <p:nvPr/>
        </p:nvSpPr>
        <p:spPr>
          <a:xfrm>
            <a:off x="-12621" y="11310866"/>
            <a:ext cx="6205674" cy="363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※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해당 분석 결과는 사기 예방 공익적 차원으로 참조용으로만 제공되고 있습니다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피해사기 등의 책임은 사용자 개인에게 있습니다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</a:p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   또한 사기 제보 게시물의 법적 책임 또한 사기제보 등록자에게 있으며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사기제보 게시물 내용에 대해 </a:t>
            </a:r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클린딜은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보증하지 않습니다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1020955E-6131-9EC5-B321-3A8E0E795B5C}"/>
              </a:ext>
            </a:extLst>
          </p:cNvPr>
          <p:cNvGrpSpPr/>
          <p:nvPr/>
        </p:nvGrpSpPr>
        <p:grpSpPr>
          <a:xfrm>
            <a:off x="732315" y="8485117"/>
            <a:ext cx="5743501" cy="2049364"/>
            <a:chOff x="581328" y="4525112"/>
            <a:chExt cx="4559339" cy="162683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BFE7FF5-B849-36FD-560E-3BDF5CC94451}"/>
                </a:ext>
              </a:extLst>
            </p:cNvPr>
            <p:cNvSpPr txBox="1"/>
            <p:nvPr/>
          </p:nvSpPr>
          <p:spPr>
            <a:xfrm>
              <a:off x="581367" y="4525112"/>
              <a:ext cx="4559300" cy="3502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2267" spc="-189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사기 위험 점수는 총 </a:t>
              </a:r>
              <a:r>
                <a:rPr lang="en-US" altLang="ko-KR" sz="2267" spc="-189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85</a:t>
              </a:r>
              <a:r>
                <a:rPr lang="ko-KR" altLang="en-US" sz="2267" spc="-189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점 </a:t>
              </a:r>
              <a:r>
                <a:rPr lang="ko-KR" altLang="en-US" sz="2267" spc="-189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입니다</a:t>
              </a:r>
              <a:r>
                <a:rPr lang="en-US" altLang="ko-KR" sz="2267" spc="-189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 </a:t>
              </a: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E9449B25-19DA-725D-B656-E910D8BB79C0}"/>
                </a:ext>
              </a:extLst>
            </p:cNvPr>
            <p:cNvSpPr/>
            <p:nvPr/>
          </p:nvSpPr>
          <p:spPr>
            <a:xfrm>
              <a:off x="1645214" y="5023929"/>
              <a:ext cx="675409" cy="1882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13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464445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상품 정보</a:t>
              </a:r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3672CEC1-0E8D-A9EE-CD4E-42FEE96D458E}"/>
                </a:ext>
              </a:extLst>
            </p:cNvPr>
            <p:cNvSpPr/>
            <p:nvPr/>
          </p:nvSpPr>
          <p:spPr>
            <a:xfrm>
              <a:off x="2528338" y="5029581"/>
              <a:ext cx="675409" cy="1882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13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464445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판매자 정보 </a:t>
              </a:r>
            </a:p>
          </p:txBody>
        </p: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BD5CC7FA-5147-9038-6D30-B38E90328712}"/>
                </a:ext>
              </a:extLst>
            </p:cNvPr>
            <p:cNvSpPr/>
            <p:nvPr/>
          </p:nvSpPr>
          <p:spPr>
            <a:xfrm>
              <a:off x="3411461" y="5023929"/>
              <a:ext cx="675409" cy="1882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13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464445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게시글 정보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15B6304-CC72-C089-624C-C40E41C34BAA}"/>
                </a:ext>
              </a:extLst>
            </p:cNvPr>
            <p:cNvSpPr txBox="1"/>
            <p:nvPr/>
          </p:nvSpPr>
          <p:spPr>
            <a:xfrm>
              <a:off x="581328" y="5524503"/>
              <a:ext cx="4556760" cy="6274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US" altLang="ko-KR" sz="1512" spc="-189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endParaRPr>
            </a:p>
            <a:p>
              <a:pPr algn="ctr"/>
              <a:r>
                <a:rPr lang="ko-KR" altLang="en-US" sz="1512" spc="-189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판매자 정보</a:t>
              </a:r>
              <a:r>
                <a:rPr lang="en-US" altLang="ko-KR" sz="1512" spc="-189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, </a:t>
              </a:r>
              <a:r>
                <a:rPr lang="ko-KR" altLang="en-US" sz="1512" spc="-189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게시글 정보</a:t>
              </a:r>
              <a:r>
                <a:rPr lang="en-US" altLang="ko-KR" sz="1512" spc="-189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, </a:t>
              </a:r>
              <a:r>
                <a:rPr lang="ko-KR" altLang="en-US" sz="1512" spc="-189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상품 정보 순으로 위험 요소가 높으며</a:t>
              </a:r>
              <a:r>
                <a:rPr lang="en-US" altLang="ko-KR" sz="1512" spc="-189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 </a:t>
              </a:r>
            </a:p>
            <a:p>
              <a:pPr algn="ctr"/>
              <a:r>
                <a:rPr lang="ko-KR" altLang="en-US" sz="1512" spc="-189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사기 위험 점수가 </a:t>
              </a:r>
              <a:r>
                <a:rPr lang="ko-KR" altLang="en-US" sz="1512" spc="-189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매우 높은 </a:t>
              </a:r>
              <a:r>
                <a:rPr lang="ko-KR" altLang="en-US" sz="1512" spc="-189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편으로</a:t>
              </a:r>
              <a:r>
                <a:rPr lang="en-US" altLang="ko-KR" sz="1512" spc="-189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 </a:t>
              </a:r>
              <a:r>
                <a:rPr lang="ko-KR" altLang="en-US" sz="1512" spc="-189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사기거래가 의심되니 필히 직거래 당부 드립니다</a:t>
              </a:r>
              <a:r>
                <a:rPr lang="en-US" altLang="ko-KR" sz="1512" spc="-189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.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E3631E1-DFA9-8093-8837-2D281013BC22}"/>
                </a:ext>
              </a:extLst>
            </p:cNvPr>
            <p:cNvSpPr txBox="1"/>
            <p:nvPr/>
          </p:nvSpPr>
          <p:spPr>
            <a:xfrm>
              <a:off x="1751487" y="5226517"/>
              <a:ext cx="462862" cy="2580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512" spc="-189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80</a:t>
              </a:r>
              <a:r>
                <a:rPr lang="ko-KR" altLang="en-US" sz="1512" spc="-189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점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5642B07-3C43-C44C-1DD4-43FB42280A1D}"/>
                </a:ext>
              </a:extLst>
            </p:cNvPr>
            <p:cNvSpPr txBox="1"/>
            <p:nvPr/>
          </p:nvSpPr>
          <p:spPr>
            <a:xfrm>
              <a:off x="2634611" y="5226517"/>
              <a:ext cx="462862" cy="2580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512" spc="-189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90</a:t>
              </a:r>
              <a:r>
                <a:rPr lang="ko-KR" altLang="en-US" sz="1512" spc="-189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점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F8B833D-6B40-F20F-0B36-304FC03A6ABC}"/>
                </a:ext>
              </a:extLst>
            </p:cNvPr>
            <p:cNvSpPr txBox="1"/>
            <p:nvPr/>
          </p:nvSpPr>
          <p:spPr>
            <a:xfrm>
              <a:off x="3519898" y="5226517"/>
              <a:ext cx="462862" cy="2580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512" spc="-189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85</a:t>
              </a:r>
              <a:r>
                <a:rPr lang="ko-KR" altLang="en-US" sz="1512" spc="-189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점</a:t>
              </a:r>
            </a:p>
          </p:txBody>
        </p:sp>
      </p:grp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4E429D4C-D5BD-FD9C-92C9-B076F475067B}"/>
              </a:ext>
            </a:extLst>
          </p:cNvPr>
          <p:cNvCxnSpPr>
            <a:cxnSpLocks/>
          </p:cNvCxnSpPr>
          <p:nvPr/>
        </p:nvCxnSpPr>
        <p:spPr>
          <a:xfrm>
            <a:off x="-12621" y="11074809"/>
            <a:ext cx="138760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CDB162F-F1CC-3E0D-7E5A-923157CF8E87}"/>
              </a:ext>
            </a:extLst>
          </p:cNvPr>
          <p:cNvSpPr txBox="1"/>
          <p:nvPr/>
        </p:nvSpPr>
        <p:spPr>
          <a:xfrm rot="20345079">
            <a:off x="436030" y="7129558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ⓑ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29E3F26-9B75-B8E3-7DFA-7DCBDB391842}"/>
              </a:ext>
            </a:extLst>
          </p:cNvPr>
          <p:cNvSpPr/>
          <p:nvPr/>
        </p:nvSpPr>
        <p:spPr>
          <a:xfrm>
            <a:off x="684906" y="7420522"/>
            <a:ext cx="5812493" cy="16966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chemeClr val="accent5">
                  <a:lumMod val="40000"/>
                  <a:lumOff val="60000"/>
                </a:schemeClr>
              </a:gs>
              <a:gs pos="0">
                <a:srgbClr val="C000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827D9A5A-1008-07B1-99E2-84DD6FD9AC5B}"/>
              </a:ext>
            </a:extLst>
          </p:cNvPr>
          <p:cNvSpPr/>
          <p:nvPr/>
        </p:nvSpPr>
        <p:spPr>
          <a:xfrm>
            <a:off x="5630662" y="7439314"/>
            <a:ext cx="127369" cy="126018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99CDC5E-521C-D97D-4946-C4FC2915C45C}"/>
              </a:ext>
            </a:extLst>
          </p:cNvPr>
          <p:cNvSpPr txBox="1"/>
          <p:nvPr/>
        </p:nvSpPr>
        <p:spPr>
          <a:xfrm>
            <a:off x="6066862" y="7581718"/>
            <a:ext cx="724782" cy="220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8"/>
              </a:lnSpc>
            </a:pP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100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점</a:t>
            </a:r>
            <a:endParaRPr lang="en-US" altLang="ko-KR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0049D1E-4333-3462-56DC-DBA3ADB2FDFC}"/>
              </a:ext>
            </a:extLst>
          </p:cNvPr>
          <p:cNvSpPr txBox="1"/>
          <p:nvPr/>
        </p:nvSpPr>
        <p:spPr>
          <a:xfrm>
            <a:off x="407672" y="7581718"/>
            <a:ext cx="724782" cy="220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8"/>
              </a:lnSpc>
            </a:pP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0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점</a:t>
            </a:r>
            <a:endParaRPr lang="en-US" altLang="ko-KR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92E550E-9CFC-8BC6-AD16-682E40375F12}"/>
              </a:ext>
            </a:extLst>
          </p:cNvPr>
          <p:cNvSpPr txBox="1"/>
          <p:nvPr/>
        </p:nvSpPr>
        <p:spPr>
          <a:xfrm>
            <a:off x="2671347" y="7581718"/>
            <a:ext cx="724782" cy="220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8"/>
              </a:lnSpc>
            </a:pP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40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점</a:t>
            </a:r>
            <a:endParaRPr lang="en-US" altLang="ko-KR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D7ECF65-06EE-82A6-4FEE-A990841DD990}"/>
              </a:ext>
            </a:extLst>
          </p:cNvPr>
          <p:cNvSpPr txBox="1"/>
          <p:nvPr/>
        </p:nvSpPr>
        <p:spPr>
          <a:xfrm>
            <a:off x="4935023" y="7581718"/>
            <a:ext cx="724782" cy="220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8"/>
              </a:lnSpc>
            </a:pP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80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점</a:t>
            </a:r>
            <a:endParaRPr lang="en-US" altLang="ko-KR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9CD052C-6965-D924-DDDF-7B39E4C3B1A3}"/>
              </a:ext>
            </a:extLst>
          </p:cNvPr>
          <p:cNvSpPr txBox="1"/>
          <p:nvPr/>
        </p:nvSpPr>
        <p:spPr>
          <a:xfrm>
            <a:off x="3803185" y="7581718"/>
            <a:ext cx="724782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8"/>
              </a:lnSpc>
            </a:pP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60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점</a:t>
            </a:r>
            <a:endParaRPr lang="en-US" altLang="ko-KR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pPr algn="ctr">
              <a:lnSpc>
                <a:spcPts val="1008"/>
              </a:lnSpc>
            </a:pPr>
            <a:endParaRPr lang="ko-KR" altLang="en-US" sz="882" dirty="0"/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38861F09-2AD4-D4E8-A18F-4DCD12F7C9C2}"/>
              </a:ext>
            </a:extLst>
          </p:cNvPr>
          <p:cNvGrpSpPr/>
          <p:nvPr/>
        </p:nvGrpSpPr>
        <p:grpSpPr>
          <a:xfrm>
            <a:off x="729112" y="7849659"/>
            <a:ext cx="5743452" cy="184465"/>
            <a:chOff x="611294" y="4999204"/>
            <a:chExt cx="3653000" cy="108830"/>
          </a:xfrm>
        </p:grpSpPr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9E7D6E56-4EDB-5323-1449-718F22A1D61A}"/>
                </a:ext>
              </a:extLst>
            </p:cNvPr>
            <p:cNvCxnSpPr>
              <a:cxnSpLocks/>
            </p:cNvCxnSpPr>
            <p:nvPr/>
          </p:nvCxnSpPr>
          <p:spPr>
            <a:xfrm>
              <a:off x="611294" y="4999204"/>
              <a:ext cx="1461200" cy="0"/>
            </a:xfrm>
            <a:prstGeom prst="line">
              <a:avLst/>
            </a:prstGeom>
            <a:ln>
              <a:solidFill>
                <a:schemeClr val="bg1"/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A18DC5EF-F8CB-3015-C61E-8B27BA33AE7D}"/>
                </a:ext>
              </a:extLst>
            </p:cNvPr>
            <p:cNvSpPr txBox="1"/>
            <p:nvPr/>
          </p:nvSpPr>
          <p:spPr>
            <a:xfrm>
              <a:off x="1116042" y="5030635"/>
              <a:ext cx="400746" cy="773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ts val="1008"/>
                </a:lnSpc>
              </a:pPr>
              <a:r>
                <a:rPr lang="ko-KR" altLang="en-US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안전</a:t>
              </a:r>
              <a:endParaRPr lang="ko-KR" altLang="en-US" sz="1008" dirty="0"/>
            </a:p>
          </p:txBody>
        </p: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F79FC23A-7CA5-F7DB-3792-02A225485406}"/>
                </a:ext>
              </a:extLst>
            </p:cNvPr>
            <p:cNvGrpSpPr/>
            <p:nvPr/>
          </p:nvGrpSpPr>
          <p:grpSpPr>
            <a:xfrm>
              <a:off x="2072494" y="4999204"/>
              <a:ext cx="730600" cy="108830"/>
              <a:chOff x="611294" y="4999204"/>
              <a:chExt cx="730600" cy="108830"/>
            </a:xfrm>
          </p:grpSpPr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2476334-92D1-B789-7120-1D66B298846B}"/>
                  </a:ext>
                </a:extLst>
              </p:cNvPr>
              <p:cNvSpPr txBox="1"/>
              <p:nvPr/>
            </p:nvSpPr>
            <p:spPr>
              <a:xfrm>
                <a:off x="776221" y="5030635"/>
                <a:ext cx="400746" cy="7739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ts val="1008"/>
                  </a:lnSpc>
                </a:pP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Medium" panose="00000600000000000000" pitchFamily="2" charset="-127"/>
                  </a:rPr>
                  <a:t>주의필요</a:t>
                </a:r>
                <a:endParaRPr lang="ko-KR" altLang="en-US" sz="1008" dirty="0"/>
              </a:p>
            </p:txBody>
          </p: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7D009DCE-9EFA-1A1F-17EB-B239BA8BA7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1294" y="4999204"/>
                <a:ext cx="730600" cy="0"/>
              </a:xfrm>
              <a:prstGeom prst="line">
                <a:avLst/>
              </a:prstGeom>
              <a:ln>
                <a:solidFill>
                  <a:schemeClr val="bg1"/>
                </a:solidFill>
                <a:headEnd type="oval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E5EF32CC-088E-B117-9080-7486FA3A405A}"/>
                </a:ext>
              </a:extLst>
            </p:cNvPr>
            <p:cNvGrpSpPr/>
            <p:nvPr/>
          </p:nvGrpSpPr>
          <p:grpSpPr>
            <a:xfrm>
              <a:off x="2803094" y="4999204"/>
              <a:ext cx="730600" cy="108830"/>
              <a:chOff x="611294" y="4999204"/>
              <a:chExt cx="730600" cy="108830"/>
            </a:xfrm>
          </p:grpSpPr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C5CF101-584F-17D2-1877-0D60D481AE3C}"/>
                  </a:ext>
                </a:extLst>
              </p:cNvPr>
              <p:cNvSpPr txBox="1"/>
              <p:nvPr/>
            </p:nvSpPr>
            <p:spPr>
              <a:xfrm>
                <a:off x="776221" y="5030635"/>
                <a:ext cx="400746" cy="7739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ts val="1008"/>
                  </a:lnSpc>
                </a:pP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Medium" panose="00000600000000000000" pitchFamily="2" charset="-127"/>
                  </a:rPr>
                  <a:t>위험</a:t>
                </a:r>
                <a:endParaRPr lang="ko-KR" altLang="en-US" sz="1008" dirty="0"/>
              </a:p>
            </p:txBody>
          </p:sp>
          <p:cxnSp>
            <p:nvCxnSpPr>
              <p:cNvPr id="94" name="직선 연결선 93">
                <a:extLst>
                  <a:ext uri="{FF2B5EF4-FFF2-40B4-BE49-F238E27FC236}">
                    <a16:creationId xmlns:a16="http://schemas.microsoft.com/office/drawing/2014/main" id="{C1793E7C-DA93-CD58-7F1C-72C705CC9A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1294" y="4999204"/>
                <a:ext cx="730600" cy="0"/>
              </a:xfrm>
              <a:prstGeom prst="line">
                <a:avLst/>
              </a:prstGeom>
              <a:ln>
                <a:solidFill>
                  <a:schemeClr val="bg1"/>
                </a:solidFill>
                <a:headEnd type="oval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7A334BB2-7967-B5C9-D679-680D35C4E8B2}"/>
                </a:ext>
              </a:extLst>
            </p:cNvPr>
            <p:cNvGrpSpPr/>
            <p:nvPr/>
          </p:nvGrpSpPr>
          <p:grpSpPr>
            <a:xfrm>
              <a:off x="3533694" y="4999204"/>
              <a:ext cx="730600" cy="108830"/>
              <a:chOff x="611294" y="4999204"/>
              <a:chExt cx="730600" cy="108830"/>
            </a:xfrm>
          </p:grpSpPr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E6C457E-CF42-9330-F6AB-AD8036CAD43D}"/>
                  </a:ext>
                </a:extLst>
              </p:cNvPr>
              <p:cNvSpPr txBox="1"/>
              <p:nvPr/>
            </p:nvSpPr>
            <p:spPr>
              <a:xfrm>
                <a:off x="776221" y="5030635"/>
                <a:ext cx="400746" cy="7739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ts val="1008"/>
                  </a:lnSpc>
                </a:pPr>
                <a:r>
                  <a:rPr lang="ko-KR" altLang="en-US" sz="1008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Medium" panose="00000600000000000000" pitchFamily="2" charset="-127"/>
                  </a:rPr>
                  <a:t>매우위험</a:t>
                </a:r>
                <a:endParaRPr lang="ko-KR" altLang="en-US" sz="1008" dirty="0"/>
              </a:p>
            </p:txBody>
          </p:sp>
          <p:cxnSp>
            <p:nvCxnSpPr>
              <p:cNvPr id="97" name="직선 연결선 96">
                <a:extLst>
                  <a:ext uri="{FF2B5EF4-FFF2-40B4-BE49-F238E27FC236}">
                    <a16:creationId xmlns:a16="http://schemas.microsoft.com/office/drawing/2014/main" id="{7E07A861-B6D3-180F-82F0-EA66E1B9CA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1294" y="4999204"/>
                <a:ext cx="730600" cy="0"/>
              </a:xfrm>
              <a:prstGeom prst="line">
                <a:avLst/>
              </a:prstGeom>
              <a:ln>
                <a:solidFill>
                  <a:schemeClr val="bg1"/>
                </a:solidFill>
                <a:headEnd type="oval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B6FFBAF8-A087-848E-F09F-B035F64803C2}"/>
              </a:ext>
            </a:extLst>
          </p:cNvPr>
          <p:cNvSpPr txBox="1"/>
          <p:nvPr/>
        </p:nvSpPr>
        <p:spPr>
          <a:xfrm>
            <a:off x="99632" y="4153776"/>
            <a:ext cx="4445419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오류 발생시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[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링크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]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또는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Cleandeal@kakao.com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으로 보내주시면 감사하겠습니다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0B6110-06A7-1D81-5CD9-2890F581CFA8}"/>
              </a:ext>
            </a:extLst>
          </p:cNvPr>
          <p:cNvSpPr txBox="1"/>
          <p:nvPr/>
        </p:nvSpPr>
        <p:spPr>
          <a:xfrm>
            <a:off x="6577" y="11092696"/>
            <a:ext cx="5697056" cy="228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※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분석 변수에 대한 상세 내용은 사기범들의 학습 위험이 있어 본 사이트에 공개하지 않고 있습니다</a:t>
            </a:r>
          </a:p>
        </p:txBody>
      </p:sp>
    </p:spTree>
    <p:extLst>
      <p:ext uri="{BB962C8B-B14F-4D97-AF65-F5344CB8AC3E}">
        <p14:creationId xmlns:p14="http://schemas.microsoft.com/office/powerpoint/2010/main" val="27619594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654C414-8ADA-8DC0-E2AE-D3723ECC0351}"/>
              </a:ext>
            </a:extLst>
          </p:cNvPr>
          <p:cNvCxnSpPr>
            <a:cxnSpLocks/>
          </p:cNvCxnSpPr>
          <p:nvPr/>
        </p:nvCxnSpPr>
        <p:spPr>
          <a:xfrm>
            <a:off x="-1" y="3328587"/>
            <a:ext cx="7199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FF5070A-3238-7649-6EEB-97AD6D0AFFB1}"/>
              </a:ext>
            </a:extLst>
          </p:cNvPr>
          <p:cNvSpPr txBox="1"/>
          <p:nvPr/>
        </p:nvSpPr>
        <p:spPr>
          <a:xfrm>
            <a:off x="3" y="2651488"/>
            <a:ext cx="11388543" cy="5188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19952" indent="-319952">
              <a:buFontTx/>
              <a:buChar char="-"/>
            </a:pP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사기 위험 점수를 산출 하는 방식은 아래를 따름</a:t>
            </a:r>
            <a:endParaRPr lang="en-US" altLang="ko-KR" sz="1386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pPr marL="319952" indent="-319952">
              <a:buFontTx/>
              <a:buChar char="-"/>
            </a:pP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해당 상세 내용은 사이트에 공개하지 않음</a:t>
            </a:r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(</a:t>
            </a: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사기꾼들의 패턴 파악 위험</a:t>
            </a:r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6855AD-21D0-9F54-160E-95D62DB8F496}"/>
              </a:ext>
            </a:extLst>
          </p:cNvPr>
          <p:cNvSpPr txBox="1"/>
          <p:nvPr/>
        </p:nvSpPr>
        <p:spPr>
          <a:xfrm>
            <a:off x="0" y="3443280"/>
            <a:ext cx="5279496" cy="3055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■ 사기위험 점수 계산에 사용되는 변수</a:t>
            </a:r>
            <a:endParaRPr lang="en-US" altLang="ko-KR" sz="1386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EF7DC7F-1D9D-5BC3-A966-FF86C1D39C08}"/>
              </a:ext>
            </a:extLst>
          </p:cNvPr>
          <p:cNvSpPr/>
          <p:nvPr/>
        </p:nvSpPr>
        <p:spPr>
          <a:xfrm>
            <a:off x="320681" y="3863569"/>
            <a:ext cx="850828" cy="237125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상품 정보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4A9D257-C8FD-6203-6266-D3290294F6A5}"/>
              </a:ext>
            </a:extLst>
          </p:cNvPr>
          <p:cNvSpPr/>
          <p:nvPr/>
        </p:nvSpPr>
        <p:spPr>
          <a:xfrm>
            <a:off x="320681" y="5542155"/>
            <a:ext cx="850828" cy="237125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판매자 정보 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66BA196-7F6F-0A93-EBB7-36BEF3BC208E}"/>
              </a:ext>
            </a:extLst>
          </p:cNvPr>
          <p:cNvSpPr/>
          <p:nvPr/>
        </p:nvSpPr>
        <p:spPr>
          <a:xfrm>
            <a:off x="320680" y="7409810"/>
            <a:ext cx="850828" cy="237125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게시글 정보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7BF0561-C188-57D0-AC5D-BDDDFCCEA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608335"/>
              </p:ext>
            </p:extLst>
          </p:nvPr>
        </p:nvGraphicFramePr>
        <p:xfrm>
          <a:off x="493956" y="4203404"/>
          <a:ext cx="6211407" cy="928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3647">
                  <a:extLst>
                    <a:ext uri="{9D8B030D-6E8A-4147-A177-3AD203B41FA5}">
                      <a16:colId xmlns:a16="http://schemas.microsoft.com/office/drawing/2014/main" val="3338359837"/>
                    </a:ext>
                  </a:extLst>
                </a:gridCol>
                <a:gridCol w="1828953">
                  <a:extLst>
                    <a:ext uri="{9D8B030D-6E8A-4147-A177-3AD203B41FA5}">
                      <a16:colId xmlns:a16="http://schemas.microsoft.com/office/drawing/2014/main" val="453715899"/>
                    </a:ext>
                  </a:extLst>
                </a:gridCol>
                <a:gridCol w="3228807">
                  <a:extLst>
                    <a:ext uri="{9D8B030D-6E8A-4147-A177-3AD203B41FA5}">
                      <a16:colId xmlns:a16="http://schemas.microsoft.com/office/drawing/2014/main" val="3638109418"/>
                    </a:ext>
                  </a:extLst>
                </a:gridCol>
              </a:tblGrid>
              <a:tr h="1548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변수명</a:t>
                      </a:r>
                    </a:p>
                  </a:txBody>
                  <a:tcPr marL="7037" marR="7037" marT="7037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사기 점수 활용 변수</a:t>
                      </a: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설명</a:t>
                      </a: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271631"/>
                  </a:ext>
                </a:extLst>
              </a:tr>
              <a:tr h="1548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120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product_condition</a:t>
                      </a:r>
                      <a:endParaRPr lang="en-US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상품 정보</a:t>
                      </a:r>
                      <a:r>
                        <a:rPr lang="en-US" altLang="ko-KR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상품상태</a:t>
                      </a:r>
                      <a:r>
                        <a:rPr lang="en-US" altLang="ko-KR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상품 상태가 어떻게 분류 되는지</a:t>
                      </a: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070220"/>
                  </a:ext>
                </a:extLst>
              </a:tr>
              <a:tr h="1548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cont_title</a:t>
                      </a:r>
                    </a:p>
                  </a:txBody>
                  <a:tcPr marL="7037" marR="7037" marT="7037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상품 정보</a:t>
                      </a:r>
                      <a:r>
                        <a:rPr lang="en-US" altLang="ko-KR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사기 많은 제품군</a:t>
                      </a:r>
                      <a:r>
                        <a:rPr lang="en-US" altLang="ko-KR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판매하는 제품이 사기 품목으로 빈번히 나타나는 제품인지</a:t>
                      </a: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31467"/>
                  </a:ext>
                </a:extLst>
              </a:tr>
              <a:tr h="1548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delivery_method</a:t>
                      </a:r>
                    </a:p>
                  </a:txBody>
                  <a:tcPr marL="7037" marR="7037" marT="7037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상품 정보</a:t>
                      </a:r>
                      <a:r>
                        <a:rPr lang="en-US" altLang="ko-KR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배송방법</a:t>
                      </a:r>
                      <a:r>
                        <a:rPr lang="en-US" altLang="ko-KR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배송방법이 어떻게 분류되는지</a:t>
                      </a: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341725"/>
                  </a:ext>
                </a:extLst>
              </a:tr>
              <a:tr h="1548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payment_method</a:t>
                      </a:r>
                    </a:p>
                  </a:txBody>
                  <a:tcPr marL="7037" marR="7037" marT="7037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상품 정보</a:t>
                      </a:r>
                      <a:r>
                        <a:rPr lang="en-US" altLang="ko-KR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결제방법</a:t>
                      </a:r>
                      <a:r>
                        <a:rPr lang="en-US" altLang="ko-KR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결제방법이 어떻게 분류되는지</a:t>
                      </a: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321327"/>
                  </a:ext>
                </a:extLst>
              </a:tr>
              <a:tr h="1548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cont_price</a:t>
                      </a:r>
                    </a:p>
                  </a:txBody>
                  <a:tcPr marL="7037" marR="7037" marT="7037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상품 정보</a:t>
                      </a:r>
                      <a:r>
                        <a:rPr lang="en-US" altLang="ko-KR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가격 적정성</a:t>
                      </a:r>
                      <a:r>
                        <a:rPr lang="en-US" altLang="ko-KR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타 게시물과 비교해봤을 때 적정한 수준의 가격인지</a:t>
                      </a: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1762016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38A899B-B781-CD9E-24FC-55E86F527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409674"/>
              </p:ext>
            </p:extLst>
          </p:nvPr>
        </p:nvGraphicFramePr>
        <p:xfrm>
          <a:off x="493956" y="5860986"/>
          <a:ext cx="6211407" cy="12048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3647">
                  <a:extLst>
                    <a:ext uri="{9D8B030D-6E8A-4147-A177-3AD203B41FA5}">
                      <a16:colId xmlns:a16="http://schemas.microsoft.com/office/drawing/2014/main" val="3338359837"/>
                    </a:ext>
                  </a:extLst>
                </a:gridCol>
                <a:gridCol w="1828953">
                  <a:extLst>
                    <a:ext uri="{9D8B030D-6E8A-4147-A177-3AD203B41FA5}">
                      <a16:colId xmlns:a16="http://schemas.microsoft.com/office/drawing/2014/main" val="453715899"/>
                    </a:ext>
                  </a:extLst>
                </a:gridCol>
                <a:gridCol w="3228807">
                  <a:extLst>
                    <a:ext uri="{9D8B030D-6E8A-4147-A177-3AD203B41FA5}">
                      <a16:colId xmlns:a16="http://schemas.microsoft.com/office/drawing/2014/main" val="3638109418"/>
                    </a:ext>
                  </a:extLst>
                </a:gridCol>
              </a:tblGrid>
              <a:tr h="1548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변수명</a:t>
                      </a:r>
                      <a:endParaRPr lang="ko-KR" altLang="en-US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사기 점수 활용 변수</a:t>
                      </a: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설명</a:t>
                      </a: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271631"/>
                  </a:ext>
                </a:extLst>
              </a:tr>
              <a:tr h="154816">
                <a:tc>
                  <a:txBody>
                    <a:bodyPr/>
                    <a:lstStyle/>
                    <a:p>
                      <a:pPr marL="0" algn="ctr" defTabSz="571500" rtl="0" eaLnBrk="1" fontAlgn="ctr" latinLnBrk="1" hangingPunct="1"/>
                      <a:r>
                        <a:rPr 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verification_status</a:t>
                      </a:r>
                    </a:p>
                  </a:txBody>
                  <a:tcPr marL="11999" marR="11999" marT="11999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71500" rtl="0" eaLnBrk="1" fontAlgn="ctr" latinLnBrk="1" hangingPunct="1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판매자 정보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회원 정보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-</a:t>
                      </a:r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본인인증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71500" rtl="0" eaLnBrk="1" fontAlgn="ctr" latinLnBrk="1" hangingPunct="1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본인인증을 했는지 </a:t>
                      </a:r>
                      <a:r>
                        <a:rPr lang="ko-KR" altLang="en-US" sz="900" kern="120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안했는지</a:t>
                      </a:r>
                      <a:endParaRPr lang="ko-KR" altLang="en-US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822022"/>
                  </a:ext>
                </a:extLst>
              </a:tr>
              <a:tr h="154816">
                <a:tc>
                  <a:txBody>
                    <a:bodyPr/>
                    <a:lstStyle/>
                    <a:p>
                      <a:pPr marL="0" algn="ctr" defTabSz="571500" rtl="0" eaLnBrk="1" fontAlgn="ctr" latinLnBrk="1" hangingPunct="1"/>
                      <a:r>
                        <a:rPr 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review_rating</a:t>
                      </a:r>
                    </a:p>
                  </a:txBody>
                  <a:tcPr marL="11999" marR="11999" marT="11999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71500" rtl="0" eaLnBrk="1" fontAlgn="ctr" latinLnBrk="1" hangingPunct="1"/>
                      <a:r>
                        <a:rPr lang="ko-KR" alt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판매자 정보</a:t>
                      </a:r>
                      <a:r>
                        <a:rPr lang="en-US" altLang="ko-KR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회원 정보</a:t>
                      </a:r>
                      <a:r>
                        <a:rPr lang="en-US" altLang="ko-KR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-</a:t>
                      </a:r>
                      <a:r>
                        <a:rPr lang="ko-KR" alt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리뷰</a:t>
                      </a:r>
                      <a:r>
                        <a:rPr lang="en-US" altLang="ko-KR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71500" rtl="0" eaLnBrk="1" fontAlgn="ctr" latinLnBrk="1" hangingPunct="1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판매자 리뷰 패턴이 어떻게 되는지</a:t>
                      </a: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070220"/>
                  </a:ext>
                </a:extLst>
              </a:tr>
              <a:tr h="154816">
                <a:tc>
                  <a:txBody>
                    <a:bodyPr/>
                    <a:lstStyle/>
                    <a:p>
                      <a:pPr marL="0" algn="ctr" defTabSz="571500" rtl="0" eaLnBrk="1" fontAlgn="ctr" latinLnBrk="1" hangingPunct="1"/>
                      <a:r>
                        <a:rPr 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Author_Level</a:t>
                      </a:r>
                    </a:p>
                  </a:txBody>
                  <a:tcPr marL="11999" marR="11999" marT="11999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71500" rtl="0" eaLnBrk="1" fontAlgn="ctr" latinLnBrk="1" hangingPunct="1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판매자 정보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회원 정보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-</a:t>
                      </a:r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레벨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71500" rtl="0" eaLnBrk="1" fontAlgn="ctr" latinLnBrk="1" hangingPunct="1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레벨이 어떻게 분류 되는지</a:t>
                      </a: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31467"/>
                  </a:ext>
                </a:extLst>
              </a:tr>
              <a:tr h="146386">
                <a:tc>
                  <a:txBody>
                    <a:bodyPr/>
                    <a:lstStyle/>
                    <a:p>
                      <a:pPr marL="0" algn="ctr" defTabSz="571500" rtl="0" eaLnBrk="1" fontAlgn="ctr" latinLnBrk="1" hangingPunct="1"/>
                      <a:r>
                        <a:rPr 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cont_author</a:t>
                      </a:r>
                    </a:p>
                  </a:txBody>
                  <a:tcPr marL="11999" marR="11999" marT="11999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71500" rtl="0" eaLnBrk="1" fontAlgn="ctr" latinLnBrk="1" hangingPunct="1"/>
                      <a:r>
                        <a:rPr lang="ko-KR" alt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판매자 정보</a:t>
                      </a:r>
                      <a:r>
                        <a:rPr lang="en-US" altLang="ko-KR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회원 정보</a:t>
                      </a:r>
                      <a:r>
                        <a:rPr lang="en-US" altLang="ko-KR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-</a:t>
                      </a:r>
                      <a:r>
                        <a:rPr lang="ko-KR" alt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닉네임</a:t>
                      </a:r>
                      <a:r>
                        <a:rPr lang="en-US" altLang="ko-KR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71500" rtl="0" eaLnBrk="1" fontAlgn="ctr" latinLnBrk="1" hangingPunct="1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과거 사기 이력이 있는 닉네임인지</a:t>
                      </a: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341725"/>
                  </a:ext>
                </a:extLst>
              </a:tr>
              <a:tr h="146386">
                <a:tc>
                  <a:txBody>
                    <a:bodyPr/>
                    <a:lstStyle/>
                    <a:p>
                      <a:pPr marL="0" algn="ctr" defTabSz="571500" rtl="0" eaLnBrk="1" fontAlgn="ctr" latinLnBrk="1" hangingPunct="1"/>
                      <a:r>
                        <a:rPr 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phone_number</a:t>
                      </a:r>
                    </a:p>
                  </a:txBody>
                  <a:tcPr marL="11999" marR="11999" marT="11999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71500" rtl="0" eaLnBrk="1" fontAlgn="ctr" latinLnBrk="1" hangingPunct="1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판매자 정보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전화번호 여부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71500" rtl="0" eaLnBrk="1" fontAlgn="ctr" latinLnBrk="1" hangingPunct="1"/>
                      <a:r>
                        <a:rPr lang="ko-KR" alt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전화번호가 게시물에 공개되어 있는지</a:t>
                      </a: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681758"/>
                  </a:ext>
                </a:extLst>
              </a:tr>
              <a:tr h="146386">
                <a:tc>
                  <a:txBody>
                    <a:bodyPr/>
                    <a:lstStyle/>
                    <a:p>
                      <a:pPr marL="0" algn="ctr" defTabSz="571500" rtl="0" eaLnBrk="1" fontAlgn="ctr" latinLnBrk="1" hangingPunct="1"/>
                      <a:r>
                        <a:rPr 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author_email</a:t>
                      </a:r>
                    </a:p>
                  </a:txBody>
                  <a:tcPr marL="11999" marR="11999" marT="11999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71500" rtl="0" eaLnBrk="1" fontAlgn="ctr" latinLnBrk="1" hangingPunct="1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판매자 정보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이메일 여부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71500" rtl="0" eaLnBrk="1" fontAlgn="ctr" latinLnBrk="1" hangingPunct="1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이메일이 게시물에 공개되어 있는지</a:t>
                      </a: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321327"/>
                  </a:ext>
                </a:extLst>
              </a:tr>
              <a:tr h="146386">
                <a:tc>
                  <a:txBody>
                    <a:bodyPr/>
                    <a:lstStyle/>
                    <a:p>
                      <a:pPr marL="0" algn="ctr" defTabSz="571500" rtl="0" eaLnBrk="1" fontAlgn="ctr" latinLnBrk="1" hangingPunct="1"/>
                      <a:r>
                        <a:rPr 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prepaid_phone</a:t>
                      </a:r>
                    </a:p>
                  </a:txBody>
                  <a:tcPr marL="11999" marR="11999" marT="11999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71500" rtl="0" eaLnBrk="1" fontAlgn="ctr" latinLnBrk="1" hangingPunct="1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판매자 정보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900" kern="120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선불폰여부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71500" rtl="0" eaLnBrk="1" fontAlgn="ctr" latinLnBrk="1" hangingPunct="1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공개된 전화번호가 </a:t>
                      </a:r>
                      <a:r>
                        <a:rPr lang="ko-KR" altLang="en-US" sz="900" kern="120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선불폰인지</a:t>
                      </a:r>
                      <a:endParaRPr lang="ko-KR" altLang="en-US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5052467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F6B3E911-E018-A572-C189-08324630F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915209"/>
              </p:ext>
            </p:extLst>
          </p:nvPr>
        </p:nvGraphicFramePr>
        <p:xfrm>
          <a:off x="493956" y="7739856"/>
          <a:ext cx="6211407" cy="1053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3647">
                  <a:extLst>
                    <a:ext uri="{9D8B030D-6E8A-4147-A177-3AD203B41FA5}">
                      <a16:colId xmlns:a16="http://schemas.microsoft.com/office/drawing/2014/main" val="3338359837"/>
                    </a:ext>
                  </a:extLst>
                </a:gridCol>
                <a:gridCol w="1828953">
                  <a:extLst>
                    <a:ext uri="{9D8B030D-6E8A-4147-A177-3AD203B41FA5}">
                      <a16:colId xmlns:a16="http://schemas.microsoft.com/office/drawing/2014/main" val="453715899"/>
                    </a:ext>
                  </a:extLst>
                </a:gridCol>
                <a:gridCol w="3228807">
                  <a:extLst>
                    <a:ext uri="{9D8B030D-6E8A-4147-A177-3AD203B41FA5}">
                      <a16:colId xmlns:a16="http://schemas.microsoft.com/office/drawing/2014/main" val="3638109418"/>
                    </a:ext>
                  </a:extLst>
                </a:gridCol>
              </a:tblGrid>
              <a:tr h="1548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변수명</a:t>
                      </a:r>
                      <a:endParaRPr lang="ko-KR" altLang="en-US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사기 점수 활용 변수</a:t>
                      </a: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설명</a:t>
                      </a: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271631"/>
                  </a:ext>
                </a:extLst>
              </a:tr>
              <a:tr h="154816">
                <a:tc>
                  <a:txBody>
                    <a:bodyPr/>
                    <a:lstStyle/>
                    <a:p>
                      <a:pPr marL="0" algn="ctr" defTabSz="571500" rtl="0" eaLnBrk="1" fontAlgn="ctr" latinLnBrk="1" hangingPunct="1"/>
                      <a:r>
                        <a:rPr 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transaction_area</a:t>
                      </a:r>
                    </a:p>
                  </a:txBody>
                  <a:tcPr marL="11999" marR="11999" marT="11999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71500" rtl="0" eaLnBrk="1" fontAlgn="ctr" latinLnBrk="1" hangingPunct="1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게시글 정보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판매지역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71500" rtl="0" eaLnBrk="1" fontAlgn="ctr" latinLnBrk="1" hangingPunct="1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판매지역이 어떻게 분류되는지</a:t>
                      </a: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822022"/>
                  </a:ext>
                </a:extLst>
              </a:tr>
              <a:tr h="154816">
                <a:tc>
                  <a:txBody>
                    <a:bodyPr/>
                    <a:lstStyle/>
                    <a:p>
                      <a:pPr marL="0" algn="ctr" defTabSz="571500" rtl="0" eaLnBrk="1" fontAlgn="ctr" latinLnBrk="1" hangingPunct="1"/>
                      <a:r>
                        <a:rPr 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decoding_image_title</a:t>
                      </a:r>
                    </a:p>
                  </a:txBody>
                  <a:tcPr marL="11999" marR="11999" marT="11999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71500" rtl="0" eaLnBrk="1" fontAlgn="ctr" latinLnBrk="1" hangingPunct="1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게시글 정보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이미지 파일명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71500" rtl="0" eaLnBrk="1" fontAlgn="ctr" latinLnBrk="1" hangingPunct="1"/>
                      <a:r>
                        <a:rPr lang="ko-KR" alt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이미지 파일명이 어떻게 나타나는지</a:t>
                      </a: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070220"/>
                  </a:ext>
                </a:extLst>
              </a:tr>
              <a:tr h="154816">
                <a:tc>
                  <a:txBody>
                    <a:bodyPr/>
                    <a:lstStyle/>
                    <a:p>
                      <a:pPr marL="0" algn="ctr" defTabSz="571500" rtl="0" eaLnBrk="1" fontAlgn="ctr" latinLnBrk="1" hangingPunct="1"/>
                      <a:r>
                        <a:rPr 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SimilarityScore</a:t>
                      </a:r>
                    </a:p>
                  </a:txBody>
                  <a:tcPr marL="11999" marR="11999" marT="11999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71500" rtl="0" eaLnBrk="1" fontAlgn="ctr" latinLnBrk="1" hangingPunct="1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게시글 정보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이미지 도용여부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71500" rtl="0" eaLnBrk="1" fontAlgn="ctr" latinLnBrk="1" hangingPunct="1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과거 사용된 도용된 이미지인지</a:t>
                      </a: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31467"/>
                  </a:ext>
                </a:extLst>
              </a:tr>
              <a:tr h="146386">
                <a:tc>
                  <a:txBody>
                    <a:bodyPr/>
                    <a:lstStyle/>
                    <a:p>
                      <a:pPr marL="0" algn="ctr" defTabSz="571500" rtl="0" eaLnBrk="1" fontAlgn="ctr" latinLnBrk="1" hangingPunct="1"/>
                      <a:r>
                        <a:rPr 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cont_date</a:t>
                      </a:r>
                    </a:p>
                  </a:txBody>
                  <a:tcPr marL="11999" marR="11999" marT="11999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71500" rtl="0" eaLnBrk="1" fontAlgn="ctr" latinLnBrk="1" hangingPunct="1"/>
                      <a:r>
                        <a:rPr lang="ko-KR" alt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게시글 정보</a:t>
                      </a:r>
                      <a:r>
                        <a:rPr lang="en-US" altLang="ko-KR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사기 많은 게시시간</a:t>
                      </a:r>
                      <a:r>
                        <a:rPr lang="en-US" altLang="ko-KR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71500" rtl="0" eaLnBrk="1" fontAlgn="ctr" latinLnBrk="1" hangingPunct="1"/>
                      <a:r>
                        <a:rPr lang="ko-KR" alt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게시글이 올라온 시간이 사기가 유독 많은 시간인지</a:t>
                      </a: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341725"/>
                  </a:ext>
                </a:extLst>
              </a:tr>
              <a:tr h="146386">
                <a:tc>
                  <a:txBody>
                    <a:bodyPr/>
                    <a:lstStyle/>
                    <a:p>
                      <a:pPr marL="0" algn="ctr" defTabSz="571500" rtl="0" eaLnBrk="1" fontAlgn="ctr" latinLnBrk="1" hangingPunct="1"/>
                      <a:r>
                        <a:rPr 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cont_explanation</a:t>
                      </a:r>
                    </a:p>
                  </a:txBody>
                  <a:tcPr marL="11999" marR="11999" marT="11999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71500" rtl="0" eaLnBrk="1" fontAlgn="ctr" latinLnBrk="1" hangingPunct="1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게시글 정보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900" kern="120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게시글내용</a:t>
                      </a:r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 사기패턴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71500" rtl="0" eaLnBrk="1" fontAlgn="ctr" latinLnBrk="1" hangingPunct="1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게시글 본문 내용에 </a:t>
                      </a:r>
                      <a:r>
                        <a:rPr lang="ko-KR" altLang="en-US" sz="900" kern="120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사기글에서</a:t>
                      </a:r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 나타나는 특정 패턴이 있는지</a:t>
                      </a: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681758"/>
                  </a:ext>
                </a:extLst>
              </a:tr>
              <a:tr h="1414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120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views_count</a:t>
                      </a:r>
                      <a:endParaRPr lang="en-US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게시글 정보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조회수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조회수가 앞 뒤 게시물 대비 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00% </a:t>
                      </a:r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이상 더 </a:t>
                      </a:r>
                      <a:r>
                        <a:rPr lang="ko-KR" altLang="en-US" sz="900" kern="120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높은지</a:t>
                      </a:r>
                      <a:endParaRPr lang="ko-KR" altLang="en-US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32132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B15989E-9D7C-8D64-9720-F900BA20F807}"/>
              </a:ext>
            </a:extLst>
          </p:cNvPr>
          <p:cNvSpPr txBox="1"/>
          <p:nvPr/>
        </p:nvSpPr>
        <p:spPr>
          <a:xfrm>
            <a:off x="0" y="9712415"/>
            <a:ext cx="5279496" cy="3055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■ 사기 위험 점수 구간별 메시지</a:t>
            </a:r>
            <a:endParaRPr lang="en-US" altLang="ko-KR" sz="1386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A0C17CF5-899C-5559-90C1-00962FA3D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073010"/>
              </p:ext>
            </p:extLst>
          </p:nvPr>
        </p:nvGraphicFramePr>
        <p:xfrm>
          <a:off x="493955" y="10133155"/>
          <a:ext cx="6211407" cy="7572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9472">
                  <a:extLst>
                    <a:ext uri="{9D8B030D-6E8A-4147-A177-3AD203B41FA5}">
                      <a16:colId xmlns:a16="http://schemas.microsoft.com/office/drawing/2014/main" val="3338359837"/>
                    </a:ext>
                  </a:extLst>
                </a:gridCol>
                <a:gridCol w="645469">
                  <a:extLst>
                    <a:ext uri="{9D8B030D-6E8A-4147-A177-3AD203B41FA5}">
                      <a16:colId xmlns:a16="http://schemas.microsoft.com/office/drawing/2014/main" val="2453660196"/>
                    </a:ext>
                  </a:extLst>
                </a:gridCol>
                <a:gridCol w="5106465">
                  <a:extLst>
                    <a:ext uri="{9D8B030D-6E8A-4147-A177-3AD203B41FA5}">
                      <a16:colId xmlns:a16="http://schemas.microsoft.com/office/drawing/2014/main" val="453715899"/>
                    </a:ext>
                  </a:extLst>
                </a:gridCol>
              </a:tblGrid>
              <a:tr h="1548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점수</a:t>
                      </a:r>
                    </a:p>
                  </a:txBody>
                  <a:tcPr marL="7037" marR="7037" marT="7037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구간명</a:t>
                      </a:r>
                      <a:endParaRPr lang="ko-KR" altLang="en-US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메시지</a:t>
                      </a: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271631"/>
                  </a:ext>
                </a:extLst>
              </a:tr>
              <a:tr h="154816">
                <a:tc>
                  <a:txBody>
                    <a:bodyPr/>
                    <a:lstStyle/>
                    <a:p>
                      <a:pPr marL="0" algn="ctr" defTabSz="571500" rtl="0" eaLnBrk="1" fontAlgn="ctr" latinLnBrk="1" hangingPunct="1"/>
                      <a:r>
                        <a:rPr 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0~39</a:t>
                      </a:r>
                    </a:p>
                  </a:txBody>
                  <a:tcPr marL="11999" marR="11999" marT="11999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71500" rtl="0" eaLnBrk="1" fontAlgn="ctr" latinLnBrk="1" hangingPunct="1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안전</a:t>
                      </a:r>
                      <a:endParaRPr lang="en-US" altLang="ko-KR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71500" rtl="0" eaLnBrk="1" fontAlgn="ctr" latinLnBrk="1" hangingPunct="1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사기 위험 점수가 안전한 수준으로 보입니다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. </a:t>
                      </a:r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하지만 중고거래는 항시 주의가 필요한 점 유의하시길 바랍니다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.</a:t>
                      </a: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070220"/>
                  </a:ext>
                </a:extLst>
              </a:tr>
              <a:tr h="154816">
                <a:tc>
                  <a:txBody>
                    <a:bodyPr/>
                    <a:lstStyle/>
                    <a:p>
                      <a:pPr marL="0" algn="ctr" defTabSz="571500" rtl="0" eaLnBrk="1" fontAlgn="ctr" latinLnBrk="1" hangingPunct="1"/>
                      <a:r>
                        <a:rPr 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40~59</a:t>
                      </a:r>
                    </a:p>
                  </a:txBody>
                  <a:tcPr marL="11999" marR="11999" marT="11999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71500" rtl="0" eaLnBrk="1" fontAlgn="ctr" latinLnBrk="1" hangingPunct="1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주의필요</a:t>
                      </a:r>
                      <a:endParaRPr lang="en-US" altLang="ko-KR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71500" rtl="0" eaLnBrk="1" fontAlgn="ctr" latinLnBrk="1" hangingPunct="1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사기 위험 점수가 주의가 필요한 수준으로 거래에 있어 주의할 것을 당부 드립니다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. </a:t>
                      </a:r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 </a:t>
                      </a:r>
                      <a:endParaRPr lang="en-US" altLang="ko-KR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31467"/>
                  </a:ext>
                </a:extLst>
              </a:tr>
              <a:tr h="146386">
                <a:tc>
                  <a:txBody>
                    <a:bodyPr/>
                    <a:lstStyle/>
                    <a:p>
                      <a:pPr marL="0" algn="ctr" defTabSz="571500" rtl="0" eaLnBrk="1" fontAlgn="ctr" latinLnBrk="1" hangingPunct="1"/>
                      <a:r>
                        <a:rPr 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60~79</a:t>
                      </a:r>
                    </a:p>
                  </a:txBody>
                  <a:tcPr marL="11999" marR="11999" marT="11999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71500" rtl="0" eaLnBrk="1" fontAlgn="ctr" latinLnBrk="1" hangingPunct="1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위험</a:t>
                      </a:r>
                      <a:endParaRPr lang="en-US" altLang="ko-KR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715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사기 위험 점수가 높은 편으로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사기거래가 의심되니 필히 직거래 당부 드립니다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.</a:t>
                      </a: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341725"/>
                  </a:ext>
                </a:extLst>
              </a:tr>
              <a:tr h="146386">
                <a:tc>
                  <a:txBody>
                    <a:bodyPr/>
                    <a:lstStyle/>
                    <a:p>
                      <a:pPr marL="0" algn="ctr" defTabSz="571500" rtl="0" eaLnBrk="1" fontAlgn="ctr" latinLnBrk="1" hangingPunct="1"/>
                      <a:r>
                        <a:rPr 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80~100</a:t>
                      </a:r>
                    </a:p>
                  </a:txBody>
                  <a:tcPr marL="11999" marR="11999" marT="11999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71500" rtl="0" eaLnBrk="1" fontAlgn="ctr" latinLnBrk="1" hangingPunct="1"/>
                      <a:r>
                        <a:rPr lang="ko-KR" altLang="en-US" sz="900" kern="120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매우위험</a:t>
                      </a:r>
                      <a:endParaRPr lang="en-US" altLang="ko-KR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715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사기 위험 점수가 매우 높은 편으로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사기거래가 의심되니 필히 직거래 당부 드립니다</a:t>
                      </a:r>
                      <a:r>
                        <a:rPr lang="en-US" altLang="ko-KR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.</a:t>
                      </a:r>
                    </a:p>
                  </a:txBody>
                  <a:tcPr marL="11999" marR="11999" marT="11999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681758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671F4C7-3D20-00E3-2B9C-5D28EC0FB498}"/>
              </a:ext>
            </a:extLst>
          </p:cNvPr>
          <p:cNvSpPr txBox="1"/>
          <p:nvPr/>
        </p:nvSpPr>
        <p:spPr>
          <a:xfrm>
            <a:off x="4" y="2028804"/>
            <a:ext cx="11376691" cy="363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※ </a:t>
            </a:r>
            <a:r>
              <a:rPr lang="ko-KR" altLang="en-US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사기 위험 점수 상세 내용</a:t>
            </a:r>
            <a:endParaRPr lang="ko-KR" altLang="en-US" sz="1386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152D66E-051A-41D2-8796-835B034689A5}"/>
              </a:ext>
            </a:extLst>
          </p:cNvPr>
          <p:cNvSpPr/>
          <p:nvPr/>
        </p:nvSpPr>
        <p:spPr>
          <a:xfrm rot="20391444">
            <a:off x="620281" y="4998256"/>
            <a:ext cx="5701878" cy="2752773"/>
          </a:xfrm>
          <a:prstGeom prst="rect">
            <a:avLst/>
          </a:prstGeom>
          <a:solidFill>
            <a:srgbClr val="FF0000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519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디벨롭</a:t>
            </a:r>
            <a:r>
              <a:rPr lang="ko-KR" altLang="en-US" sz="2519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필요</a:t>
            </a:r>
          </a:p>
        </p:txBody>
      </p:sp>
    </p:spTree>
    <p:extLst>
      <p:ext uri="{BB962C8B-B14F-4D97-AF65-F5344CB8AC3E}">
        <p14:creationId xmlns:p14="http://schemas.microsoft.com/office/powerpoint/2010/main" val="3770678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7DF337-5CB7-F656-AA97-06D83E3367AA}"/>
              </a:ext>
            </a:extLst>
          </p:cNvPr>
          <p:cNvSpPr txBox="1"/>
          <p:nvPr/>
        </p:nvSpPr>
        <p:spPr>
          <a:xfrm>
            <a:off x="4" y="2128055"/>
            <a:ext cx="11376691" cy="363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2-1. </a:t>
            </a:r>
            <a:r>
              <a:rPr lang="ko-KR" altLang="en-US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사기제보 페이지 </a:t>
            </a:r>
            <a:r>
              <a:rPr lang="en-US" altLang="ko-KR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(1)</a:t>
            </a:r>
            <a:endParaRPr lang="ko-KR" altLang="en-US" sz="1386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B4A576-43BE-EC4F-2D42-3A30B24EB2AE}"/>
              </a:ext>
            </a:extLst>
          </p:cNvPr>
          <p:cNvSpPr txBox="1"/>
          <p:nvPr/>
        </p:nvSpPr>
        <p:spPr>
          <a:xfrm>
            <a:off x="1" y="2651489"/>
            <a:ext cx="7220836" cy="5188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19952" indent="-319952">
              <a:buFontTx/>
              <a:buChar char="-"/>
            </a:pP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사기 제보 버튼을 누르면 사기 제보를 위해 나타나는 페이지</a:t>
            </a:r>
            <a:endParaRPr lang="en-US" altLang="ko-KR" sz="1386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pPr marL="319952" indent="-319952">
              <a:buFontTx/>
              <a:buChar char="-"/>
            </a:pP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신고된 게시물은 즉시 서버에서 수집 시작</a:t>
            </a:r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수집 후 패턴 파악하여 이후 사기 패턴 학습에 적용</a:t>
            </a:r>
            <a:endParaRPr lang="en-US" altLang="ko-KR" sz="1386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3CD856-B4A7-76DB-8335-6CB78892F4BC}"/>
              </a:ext>
            </a:extLst>
          </p:cNvPr>
          <p:cNvSpPr txBox="1"/>
          <p:nvPr/>
        </p:nvSpPr>
        <p:spPr>
          <a:xfrm>
            <a:off x="-1" y="12376168"/>
            <a:ext cx="7199313" cy="887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ⓐ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사기 사례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등록란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사기 정보와 관련된 것들 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-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사이트명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첫 시작은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네이버카페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–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중고나라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’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만 가능하지만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추후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“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시계 거래소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플라이워치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와치홀릭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타임포럼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번개장터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당근마켓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”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도 확장가능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C9BDFCA-E662-8E64-AFDD-33988FD42B23}"/>
              </a:ext>
            </a:extLst>
          </p:cNvPr>
          <p:cNvCxnSpPr>
            <a:cxnSpLocks/>
          </p:cNvCxnSpPr>
          <p:nvPr/>
        </p:nvCxnSpPr>
        <p:spPr>
          <a:xfrm>
            <a:off x="-1" y="3328587"/>
            <a:ext cx="7199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B3A749B-1993-105E-A004-A74CFBCD2F8C}"/>
              </a:ext>
            </a:extLst>
          </p:cNvPr>
          <p:cNvGrpSpPr/>
          <p:nvPr/>
        </p:nvGrpSpPr>
        <p:grpSpPr>
          <a:xfrm>
            <a:off x="-1" y="3354522"/>
            <a:ext cx="7199313" cy="617932"/>
            <a:chOff x="-6173610" y="696003"/>
            <a:chExt cx="14698254" cy="1261580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454F5FAA-A0B5-6C6E-9F2A-3D8393BB7E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1" r="251"/>
            <a:stretch/>
          </p:blipFill>
          <p:spPr>
            <a:xfrm>
              <a:off x="-6173610" y="696003"/>
              <a:ext cx="14698254" cy="672969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DABE599-2595-B317-5B0A-31081BC5BB70}"/>
                </a:ext>
              </a:extLst>
            </p:cNvPr>
            <p:cNvSpPr txBox="1"/>
            <p:nvPr/>
          </p:nvSpPr>
          <p:spPr>
            <a:xfrm>
              <a:off x="-5639772" y="1580192"/>
              <a:ext cx="813773" cy="2771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사기검증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8C332F-4023-E451-8F68-66D94FF70388}"/>
                </a:ext>
              </a:extLst>
            </p:cNvPr>
            <p:cNvSpPr txBox="1"/>
            <p:nvPr/>
          </p:nvSpPr>
          <p:spPr>
            <a:xfrm>
              <a:off x="-4384543" y="1583681"/>
              <a:ext cx="813773" cy="2771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사기제보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B23A426-8468-2E00-8402-A9ECCF033288}"/>
                </a:ext>
              </a:extLst>
            </p:cNvPr>
            <p:cNvSpPr txBox="1"/>
            <p:nvPr/>
          </p:nvSpPr>
          <p:spPr>
            <a:xfrm>
              <a:off x="-3129315" y="1578190"/>
              <a:ext cx="813773" cy="2771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가격동향</a:t>
              </a:r>
              <a:endParaRPr lang="ko-KR" altLang="en-US" sz="882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94115EC-492C-E148-B00D-E1ECE0E97978}"/>
                </a:ext>
              </a:extLst>
            </p:cNvPr>
            <p:cNvGrpSpPr/>
            <p:nvPr/>
          </p:nvGrpSpPr>
          <p:grpSpPr>
            <a:xfrm>
              <a:off x="6305768" y="1507170"/>
              <a:ext cx="2101649" cy="450413"/>
              <a:chOff x="3389868" y="3051668"/>
              <a:chExt cx="3445082" cy="738331"/>
            </a:xfrm>
          </p:grpSpPr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18CB257C-C944-7E81-8414-14A192538FF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biLevel thresh="75000"/>
              </a:blip>
              <a:srcRect b="44835"/>
              <a:stretch/>
            </p:blipFill>
            <p:spPr>
              <a:xfrm>
                <a:off x="3389868" y="3051668"/>
                <a:ext cx="1981373" cy="615459"/>
              </a:xfrm>
              <a:prstGeom prst="rect">
                <a:avLst/>
              </a:prstGeom>
            </p:spPr>
          </p:pic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FAFB2129-3F6C-CDF9-99BA-CFE193B2AC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biLevel thresh="75000"/>
              </a:blip>
              <a:srcRect t="54228" b="-9393"/>
              <a:stretch/>
            </p:blipFill>
            <p:spPr>
              <a:xfrm>
                <a:off x="4853577" y="3174540"/>
                <a:ext cx="1981373" cy="615459"/>
              </a:xfrm>
              <a:prstGeom prst="rect">
                <a:avLst/>
              </a:prstGeom>
            </p:spPr>
          </p:pic>
        </p:grp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9C688CF-060F-0E17-24FE-73E5CC777C99}"/>
              </a:ext>
            </a:extLst>
          </p:cNvPr>
          <p:cNvSpPr/>
          <p:nvPr/>
        </p:nvSpPr>
        <p:spPr>
          <a:xfrm>
            <a:off x="0" y="4107490"/>
            <a:ext cx="7220836" cy="8221719"/>
          </a:xfrm>
          <a:prstGeom prst="rect">
            <a:avLst/>
          </a:prstGeom>
          <a:solidFill>
            <a:srgbClr val="464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 dirty="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228B8A-058E-656D-6C27-9C31016FA6C6}"/>
              </a:ext>
            </a:extLst>
          </p:cNvPr>
          <p:cNvSpPr txBox="1"/>
          <p:nvPr/>
        </p:nvSpPr>
        <p:spPr>
          <a:xfrm>
            <a:off x="291594" y="5280524"/>
            <a:ext cx="5759450" cy="363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764" b="1" spc="-189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사기 사례 등록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D3E2CD9-677D-0BEC-4F02-FA8962D5F95B}"/>
              </a:ext>
            </a:extLst>
          </p:cNvPr>
          <p:cNvSpPr/>
          <p:nvPr/>
        </p:nvSpPr>
        <p:spPr>
          <a:xfrm>
            <a:off x="368165" y="6042131"/>
            <a:ext cx="6423481" cy="120072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57266DAE-F9A1-7DC2-D210-FE76A1E3B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052725"/>
              </p:ext>
            </p:extLst>
          </p:nvPr>
        </p:nvGraphicFramePr>
        <p:xfrm>
          <a:off x="442945" y="6157795"/>
          <a:ext cx="6296863" cy="9751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1475">
                  <a:extLst>
                    <a:ext uri="{9D8B030D-6E8A-4147-A177-3AD203B41FA5}">
                      <a16:colId xmlns:a16="http://schemas.microsoft.com/office/drawing/2014/main" val="3338359837"/>
                    </a:ext>
                  </a:extLst>
                </a:gridCol>
                <a:gridCol w="5325388">
                  <a:extLst>
                    <a:ext uri="{9D8B030D-6E8A-4147-A177-3AD203B41FA5}">
                      <a16:colId xmlns:a16="http://schemas.microsoft.com/office/drawing/2014/main" val="453715899"/>
                    </a:ext>
                  </a:extLst>
                </a:gridCol>
              </a:tblGrid>
              <a:tr h="32504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사이트명</a:t>
                      </a:r>
                      <a:r>
                        <a:rPr lang="en-US" altLang="ko-KR" sz="13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*</a:t>
                      </a:r>
                      <a:endParaRPr lang="en-US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822022"/>
                  </a:ext>
                </a:extLst>
              </a:tr>
              <a:tr h="32504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사기범 </a:t>
                      </a:r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아이디</a:t>
                      </a:r>
                      <a:endParaRPr lang="en-US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070220"/>
                  </a:ext>
                </a:extLst>
              </a:tr>
              <a:tr h="32504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사기 게시물 링크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*</a:t>
                      </a:r>
                      <a:endParaRPr lang="en-US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31467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6D7EBD22-9379-3E8E-A74C-40C4336A7ECF}"/>
              </a:ext>
            </a:extLst>
          </p:cNvPr>
          <p:cNvSpPr txBox="1"/>
          <p:nvPr/>
        </p:nvSpPr>
        <p:spPr>
          <a:xfrm>
            <a:off x="339316" y="5721268"/>
            <a:ext cx="5759450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사기 사이트 정보</a:t>
            </a:r>
            <a:endParaRPr lang="ko-KR" altLang="en-US" sz="1008" dirty="0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C5F2FCD1-0F20-12B9-5608-24C4289F49D2}"/>
              </a:ext>
            </a:extLst>
          </p:cNvPr>
          <p:cNvGrpSpPr/>
          <p:nvPr/>
        </p:nvGrpSpPr>
        <p:grpSpPr>
          <a:xfrm>
            <a:off x="1496680" y="6220193"/>
            <a:ext cx="4206774" cy="209085"/>
            <a:chOff x="1188103" y="2831964"/>
            <a:chExt cx="3339446" cy="165977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81FB778-79A3-1225-A0A1-43BCA0CACD5E}"/>
                </a:ext>
              </a:extLst>
            </p:cNvPr>
            <p:cNvSpPr/>
            <p:nvPr/>
          </p:nvSpPr>
          <p:spPr>
            <a:xfrm>
              <a:off x="1188103" y="2831964"/>
              <a:ext cx="3339446" cy="1659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네이버 카페 </a:t>
              </a:r>
              <a:r>
                <a:rPr lang="en-US" altLang="ko-KR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– </a:t>
              </a:r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중고나라                 </a:t>
              </a:r>
            </a:p>
          </p:txBody>
        </p:sp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268FC1AF-7C2A-2E21-7DE9-E87BAA37C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08338" y="2862158"/>
              <a:ext cx="159857" cy="109376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485BEBB-52A6-3B8B-8ED5-42B0FD7594CB}"/>
              </a:ext>
            </a:extLst>
          </p:cNvPr>
          <p:cNvSpPr txBox="1"/>
          <p:nvPr/>
        </p:nvSpPr>
        <p:spPr>
          <a:xfrm rot="20345079">
            <a:off x="197462" y="5745229"/>
            <a:ext cx="299879" cy="31021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2016" dirty="0"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ⓐ</a:t>
            </a:r>
            <a:endParaRPr lang="ko-KR" altLang="en-US" sz="189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3E56D9C-E9F3-BFAA-329A-803527B9C338}"/>
              </a:ext>
            </a:extLst>
          </p:cNvPr>
          <p:cNvSpPr/>
          <p:nvPr/>
        </p:nvSpPr>
        <p:spPr>
          <a:xfrm>
            <a:off x="1496680" y="6529986"/>
            <a:ext cx="4206776" cy="20908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사기범의 아이디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혹은 안심번호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전화번호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이메일 주소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등을 입력해주세요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11201E1-D79A-3C68-FCC5-6B7BECAA1705}"/>
              </a:ext>
            </a:extLst>
          </p:cNvPr>
          <p:cNvSpPr/>
          <p:nvPr/>
        </p:nvSpPr>
        <p:spPr>
          <a:xfrm>
            <a:off x="1496268" y="6857597"/>
            <a:ext cx="4206776" cy="20908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게시물의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URL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을 입력해주세요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게시물의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URL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이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정확한지 한번 더 확인해주세요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9FCB824-C394-6A03-12C5-6D0200BABABC}"/>
              </a:ext>
            </a:extLst>
          </p:cNvPr>
          <p:cNvSpPr/>
          <p:nvPr/>
        </p:nvSpPr>
        <p:spPr>
          <a:xfrm>
            <a:off x="381890" y="7727128"/>
            <a:ext cx="6423481" cy="153094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37977900-9D8A-A5AB-E3B4-FECC1448A5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642029"/>
              </p:ext>
            </p:extLst>
          </p:nvPr>
        </p:nvGraphicFramePr>
        <p:xfrm>
          <a:off x="456670" y="7833186"/>
          <a:ext cx="6296863" cy="130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1475">
                  <a:extLst>
                    <a:ext uri="{9D8B030D-6E8A-4147-A177-3AD203B41FA5}">
                      <a16:colId xmlns:a16="http://schemas.microsoft.com/office/drawing/2014/main" val="3338359837"/>
                    </a:ext>
                  </a:extLst>
                </a:gridCol>
                <a:gridCol w="5325388">
                  <a:extLst>
                    <a:ext uri="{9D8B030D-6E8A-4147-A177-3AD203B41FA5}">
                      <a16:colId xmlns:a16="http://schemas.microsoft.com/office/drawing/2014/main" val="453715899"/>
                    </a:ext>
                  </a:extLst>
                </a:gridCol>
              </a:tblGrid>
              <a:tr h="3265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은행명</a:t>
                      </a:r>
                      <a:endParaRPr lang="en-US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822022"/>
                  </a:ext>
                </a:extLst>
              </a:tr>
              <a:tr h="3265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계좌 번호</a:t>
                      </a:r>
                      <a:endParaRPr lang="en-US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070220"/>
                  </a:ext>
                </a:extLst>
              </a:tr>
              <a:tr h="3265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계좌 명의자</a:t>
                      </a:r>
                      <a:endParaRPr lang="en-US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31467"/>
                  </a:ext>
                </a:extLst>
              </a:tr>
              <a:tr h="3265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연락처</a:t>
                      </a:r>
                      <a:endParaRPr lang="en-US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716398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83BBF272-657E-3C1C-3FA4-857ECADCFB7C}"/>
              </a:ext>
            </a:extLst>
          </p:cNvPr>
          <p:cNvSpPr txBox="1"/>
          <p:nvPr/>
        </p:nvSpPr>
        <p:spPr>
          <a:xfrm>
            <a:off x="353041" y="7406262"/>
            <a:ext cx="5759450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사기범 정보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FF18AFE-068E-EF5B-B623-C81A8EFDCC61}"/>
              </a:ext>
            </a:extLst>
          </p:cNvPr>
          <p:cNvSpPr/>
          <p:nvPr/>
        </p:nvSpPr>
        <p:spPr>
          <a:xfrm>
            <a:off x="1510405" y="8205381"/>
            <a:ext cx="4206776" cy="20908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계좌번호를 입력하세요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7DCD066-EE26-35C2-6291-502F9D276C56}"/>
              </a:ext>
            </a:extLst>
          </p:cNvPr>
          <p:cNvSpPr/>
          <p:nvPr/>
        </p:nvSpPr>
        <p:spPr>
          <a:xfrm>
            <a:off x="1509993" y="8532992"/>
            <a:ext cx="4206776" cy="20908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계좌 명의자명을 입력하세요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9985661-E30C-D0F7-36CC-5B99A7B7B20D}"/>
              </a:ext>
            </a:extLst>
          </p:cNvPr>
          <p:cNvGrpSpPr/>
          <p:nvPr/>
        </p:nvGrpSpPr>
        <p:grpSpPr>
          <a:xfrm>
            <a:off x="1509992" y="7880280"/>
            <a:ext cx="4206774" cy="209085"/>
            <a:chOff x="1188103" y="2831964"/>
            <a:chExt cx="3339446" cy="165977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28826DA9-C957-31A1-D44B-2C332FC5E161}"/>
                </a:ext>
              </a:extLst>
            </p:cNvPr>
            <p:cNvSpPr/>
            <p:nvPr/>
          </p:nvSpPr>
          <p:spPr>
            <a:xfrm>
              <a:off x="1188103" y="2831964"/>
              <a:ext cx="3339446" cy="1659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은행선택</a:t>
              </a:r>
            </a:p>
          </p:txBody>
        </p:sp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2A400427-3A53-D7D7-4A0A-481B5FB7C6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08338" y="2862158"/>
              <a:ext cx="159857" cy="109376"/>
            </a:xfrm>
            <a:prstGeom prst="rect">
              <a:avLst/>
            </a:prstGeom>
          </p:spPr>
        </p:pic>
      </p:grp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2429B26-B89E-B221-A54C-BB4E619056CE}"/>
              </a:ext>
            </a:extLst>
          </p:cNvPr>
          <p:cNvSpPr/>
          <p:nvPr/>
        </p:nvSpPr>
        <p:spPr>
          <a:xfrm>
            <a:off x="1509992" y="8862901"/>
            <a:ext cx="441822" cy="20908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F4DB4EA-8FBB-7E3A-FAF2-929317B1E0A2}"/>
              </a:ext>
            </a:extLst>
          </p:cNvPr>
          <p:cNvSpPr/>
          <p:nvPr/>
        </p:nvSpPr>
        <p:spPr>
          <a:xfrm>
            <a:off x="2128511" y="8862901"/>
            <a:ext cx="441822" cy="20908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1CB535A2-DBF8-F067-9C57-1A8F016BE54E}"/>
              </a:ext>
            </a:extLst>
          </p:cNvPr>
          <p:cNvSpPr/>
          <p:nvPr/>
        </p:nvSpPr>
        <p:spPr>
          <a:xfrm>
            <a:off x="2747031" y="8862901"/>
            <a:ext cx="441822" cy="20908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C2694D8-0FB1-BDA0-072E-A2C3D6558A77}"/>
              </a:ext>
            </a:extLst>
          </p:cNvPr>
          <p:cNvSpPr txBox="1"/>
          <p:nvPr/>
        </p:nvSpPr>
        <p:spPr>
          <a:xfrm>
            <a:off x="1889712" y="8831739"/>
            <a:ext cx="335478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-</a:t>
            </a:r>
            <a:endParaRPr lang="ko-KR" altLang="en-US" sz="2267" dirty="0">
              <a:solidFill>
                <a:schemeClr val="bg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CF59AD7-A36E-97BD-FD57-605728BEAB19}"/>
              </a:ext>
            </a:extLst>
          </p:cNvPr>
          <p:cNvSpPr txBox="1"/>
          <p:nvPr/>
        </p:nvSpPr>
        <p:spPr>
          <a:xfrm>
            <a:off x="2500929" y="8831739"/>
            <a:ext cx="335478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-</a:t>
            </a:r>
            <a:endParaRPr lang="ko-KR" altLang="en-US" sz="2267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50F29-F9BB-9DC4-2895-ECD8532D53E1}"/>
              </a:ext>
            </a:extLst>
          </p:cNvPr>
          <p:cNvSpPr txBox="1"/>
          <p:nvPr/>
        </p:nvSpPr>
        <p:spPr>
          <a:xfrm>
            <a:off x="155437" y="4287884"/>
            <a:ext cx="5759450" cy="363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764" b="1" spc="-189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사기 사례를 제보해 주세요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844E93-2BC9-B1A4-AB0F-F4D661490FA0}"/>
              </a:ext>
            </a:extLst>
          </p:cNvPr>
          <p:cNvSpPr txBox="1"/>
          <p:nvPr/>
        </p:nvSpPr>
        <p:spPr>
          <a:xfrm>
            <a:off x="155441" y="4645532"/>
            <a:ext cx="5418001" cy="363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사용자들의 소중한 사기제보 관련 정보는 사기 패턴 학습 데이터로 활용됩니다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</a:p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해당 사이트는 사용자들의 후원으로 운영이 됩니다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사용자들의 사기제보는 사이트 운영에 큰 힘이 됩니다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5FCFA56-11C5-57D5-6E4A-55195E591343}"/>
              </a:ext>
            </a:extLst>
          </p:cNvPr>
          <p:cNvSpPr/>
          <p:nvPr/>
        </p:nvSpPr>
        <p:spPr>
          <a:xfrm>
            <a:off x="381890" y="9841832"/>
            <a:ext cx="6423481" cy="225738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BFC7127-B405-E5CA-B793-972DC60E5C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942851"/>
              </p:ext>
            </p:extLst>
          </p:nvPr>
        </p:nvGraphicFramePr>
        <p:xfrm>
          <a:off x="456670" y="9938296"/>
          <a:ext cx="6296863" cy="20616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1475">
                  <a:extLst>
                    <a:ext uri="{9D8B030D-6E8A-4147-A177-3AD203B41FA5}">
                      <a16:colId xmlns:a16="http://schemas.microsoft.com/office/drawing/2014/main" val="3338359837"/>
                    </a:ext>
                  </a:extLst>
                </a:gridCol>
                <a:gridCol w="5325388">
                  <a:extLst>
                    <a:ext uri="{9D8B030D-6E8A-4147-A177-3AD203B41FA5}">
                      <a16:colId xmlns:a16="http://schemas.microsoft.com/office/drawing/2014/main" val="453715899"/>
                    </a:ext>
                  </a:extLst>
                </a:gridCol>
              </a:tblGrid>
              <a:tr h="3265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성명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*</a:t>
                      </a:r>
                      <a:endParaRPr lang="en-US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822022"/>
                  </a:ext>
                </a:extLst>
              </a:tr>
              <a:tr h="3265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이메일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*</a:t>
                      </a:r>
                      <a:endParaRPr lang="en-US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070220"/>
                  </a:ext>
                </a:extLst>
              </a:tr>
              <a:tr h="108213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연락처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*</a:t>
                      </a:r>
                      <a:endParaRPr lang="en-US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  <a:p>
                      <a:pPr algn="l" fontAlgn="ctr"/>
                      <a:endParaRPr lang="en-US" altLang="ko-KR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  <a:p>
                      <a:pPr algn="l" fontAlgn="ctr"/>
                      <a:endParaRPr lang="en-US" altLang="ko-KR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  <a:p>
                      <a:pPr algn="l" fontAlgn="ctr"/>
                      <a:endParaRPr lang="en-US" altLang="ko-KR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  <a:p>
                      <a:pPr algn="l" fontAlgn="ctr"/>
                      <a:endParaRPr lang="en-US" altLang="ko-KR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  <a:p>
                      <a:pPr algn="l" fontAlgn="ctr"/>
                      <a:endParaRPr lang="en-US" altLang="ko-KR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  <a:p>
                      <a:pPr algn="l" fontAlgn="ctr"/>
                      <a:endParaRPr lang="en-US" altLang="ko-KR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  <a:p>
                      <a:pPr algn="l" fontAlgn="ctr"/>
                      <a:endParaRPr lang="en-US" altLang="ko-KR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31467"/>
                  </a:ext>
                </a:extLst>
              </a:tr>
              <a:tr h="3265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인증번호 입력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*</a:t>
                      </a:r>
                      <a:endParaRPr lang="en-US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716398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E8F7D26F-6A1C-FAAC-60D3-F98082F99DB2}"/>
              </a:ext>
            </a:extLst>
          </p:cNvPr>
          <p:cNvSpPr txBox="1"/>
          <p:nvPr/>
        </p:nvSpPr>
        <p:spPr>
          <a:xfrm>
            <a:off x="353041" y="9520971"/>
            <a:ext cx="5759450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피해자</a:t>
            </a:r>
            <a:r>
              <a:rPr lang="en-US" altLang="ko-KR" sz="1008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008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본인</a:t>
            </a:r>
            <a:r>
              <a:rPr lang="en-US" altLang="ko-KR" sz="1008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) </a:t>
            </a:r>
            <a:r>
              <a:rPr lang="ko-KR" altLang="en-US" sz="1008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정보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8D04035-9055-A7B5-03FD-9BC8F0CFDCB1}"/>
              </a:ext>
            </a:extLst>
          </p:cNvPr>
          <p:cNvSpPr/>
          <p:nvPr/>
        </p:nvSpPr>
        <p:spPr>
          <a:xfrm>
            <a:off x="1510405" y="10310491"/>
            <a:ext cx="4206776" cy="20908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이메일을 입력하세요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C4DBAF2-2A54-FE1B-6E72-B1C104E97D2B}"/>
              </a:ext>
            </a:extLst>
          </p:cNvPr>
          <p:cNvSpPr/>
          <p:nvPr/>
        </p:nvSpPr>
        <p:spPr>
          <a:xfrm>
            <a:off x="1509993" y="11723113"/>
            <a:ext cx="4206776" cy="20908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연락처로 수신된 인증번호를 입력하세요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68AACFE-7CB5-997C-7CE4-E795E10EB818}"/>
              </a:ext>
            </a:extLst>
          </p:cNvPr>
          <p:cNvSpPr/>
          <p:nvPr/>
        </p:nvSpPr>
        <p:spPr>
          <a:xfrm>
            <a:off x="1509992" y="9985389"/>
            <a:ext cx="4206774" cy="20908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이름을 입력하세요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16C0FD3-EC18-9D8E-0927-C0A95C72704B}"/>
              </a:ext>
            </a:extLst>
          </p:cNvPr>
          <p:cNvGrpSpPr/>
          <p:nvPr/>
        </p:nvGrpSpPr>
        <p:grpSpPr>
          <a:xfrm>
            <a:off x="1509996" y="10611267"/>
            <a:ext cx="1678861" cy="247440"/>
            <a:chOff x="1198671" y="6563870"/>
            <a:chExt cx="1332723" cy="196424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624C21A3-6CCB-256D-AFD5-B93788D93D7A}"/>
                </a:ext>
              </a:extLst>
            </p:cNvPr>
            <p:cNvSpPr/>
            <p:nvPr/>
          </p:nvSpPr>
          <p:spPr>
            <a:xfrm>
              <a:off x="1198671" y="6588604"/>
              <a:ext cx="350730" cy="1659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9F23819C-7E3C-3318-232A-CAD08FA4CAB8}"/>
                </a:ext>
              </a:extLst>
            </p:cNvPr>
            <p:cNvSpPr/>
            <p:nvPr/>
          </p:nvSpPr>
          <p:spPr>
            <a:xfrm>
              <a:off x="1689667" y="6588604"/>
              <a:ext cx="350730" cy="1659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1BE37B77-7CC6-1A5D-63F0-546DEABFC216}"/>
                </a:ext>
              </a:extLst>
            </p:cNvPr>
            <p:cNvSpPr/>
            <p:nvPr/>
          </p:nvSpPr>
          <p:spPr>
            <a:xfrm>
              <a:off x="2180664" y="6588604"/>
              <a:ext cx="350730" cy="1659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C0AA685-A786-42C3-6DCD-820595B639E0}"/>
                </a:ext>
              </a:extLst>
            </p:cNvPr>
            <p:cNvSpPr txBox="1"/>
            <p:nvPr/>
          </p:nvSpPr>
          <p:spPr>
            <a:xfrm>
              <a:off x="1500101" y="6563870"/>
              <a:ext cx="266311" cy="1964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-</a:t>
              </a:r>
              <a:endParaRPr lang="ko-KR" altLang="en-US" sz="2267" dirty="0">
                <a:solidFill>
                  <a:schemeClr val="bg1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AB55788-4696-D68D-CA2D-389B7D0C409D}"/>
                </a:ext>
              </a:extLst>
            </p:cNvPr>
            <p:cNvSpPr txBox="1"/>
            <p:nvPr/>
          </p:nvSpPr>
          <p:spPr>
            <a:xfrm>
              <a:off x="1985301" y="6563870"/>
              <a:ext cx="266311" cy="1964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-</a:t>
              </a:r>
              <a:endParaRPr lang="ko-KR" altLang="en-US" sz="2267" dirty="0">
                <a:solidFill>
                  <a:schemeClr val="bg1"/>
                </a:solidFill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A60BA17E-6852-A9A3-7253-92A4CEB1520F}"/>
              </a:ext>
            </a:extLst>
          </p:cNvPr>
          <p:cNvSpPr txBox="1"/>
          <p:nvPr/>
        </p:nvSpPr>
        <p:spPr>
          <a:xfrm>
            <a:off x="1405696" y="10919013"/>
            <a:ext cx="5759450" cy="674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※ </a:t>
            </a:r>
            <a: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인증번호가 </a:t>
            </a:r>
            <a:r>
              <a:rPr lang="ko-KR" altLang="en-US" sz="63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카카오알림톡으로</a:t>
            </a:r>
            <a: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전송됩니다</a:t>
            </a:r>
            <a:r>
              <a:rPr lang="en-US" altLang="ko-KR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카카오톡을 확인해 주세요</a:t>
            </a:r>
            <a:r>
              <a:rPr lang="en-US" altLang="ko-KR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  <a:b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</a:br>
            <a:r>
              <a:rPr lang="en-US" altLang="ko-KR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※ SMS </a:t>
            </a:r>
            <a: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수신까지 최대 </a:t>
            </a:r>
            <a:r>
              <a:rPr lang="en-US" altLang="ko-KR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5</a:t>
            </a:r>
            <a: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분 정도 소요될 수 있습니다</a:t>
            </a:r>
            <a:r>
              <a:rPr lang="en-US" altLang="ko-KR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  <a:b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</a:br>
            <a:r>
              <a:rPr lang="en-US" altLang="ko-KR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※ SMS</a:t>
            </a:r>
            <a: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가 수신되지 않는 경우</a:t>
            </a:r>
            <a:r>
              <a:rPr lang="en-US" altLang="ko-KR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스팸 </a:t>
            </a:r>
            <a:r>
              <a:rPr lang="ko-KR" altLang="en-US" sz="63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문자함을</a:t>
            </a:r>
            <a: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확인해 보세요</a:t>
            </a:r>
            <a:r>
              <a:rPr lang="en-US" altLang="ko-KR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  <a:b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</a:br>
            <a:r>
              <a:rPr lang="en-US" altLang="ko-KR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※ </a:t>
            </a:r>
            <a: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스팸 차단 앱을 설치한 경우에는 해당 앱의 </a:t>
            </a:r>
            <a:r>
              <a:rPr lang="ko-KR" altLang="en-US" sz="63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스팸함을</a:t>
            </a:r>
            <a: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확인해 보세요</a:t>
            </a:r>
            <a:r>
              <a:rPr lang="en-US" altLang="ko-KR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  <a:b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</a:br>
            <a:r>
              <a:rPr lang="en-US" altLang="ko-KR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※ </a:t>
            </a:r>
            <a:r>
              <a:rPr lang="ko-KR" altLang="en-US" sz="63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스팸함에도</a:t>
            </a:r>
            <a: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SMS</a:t>
            </a:r>
            <a: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가 없는 경우</a:t>
            </a:r>
            <a:r>
              <a:rPr lang="en-US" altLang="ko-KR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휴대폰을 </a:t>
            </a:r>
            <a:r>
              <a:rPr lang="ko-KR" altLang="en-US" sz="63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재부팅해</a:t>
            </a:r>
            <a: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보세요</a:t>
            </a:r>
            <a:r>
              <a:rPr lang="en-US" altLang="ko-KR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  <a:b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</a:br>
            <a:r>
              <a:rPr lang="en-US" altLang="ko-KR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※ </a:t>
            </a:r>
            <a: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인증번호 받기 버튼이 눌러지지 않는 경우</a:t>
            </a:r>
            <a:r>
              <a:rPr lang="en-US" altLang="ko-KR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, </a:t>
            </a:r>
            <a:r>
              <a:rPr lang="ko-KR" altLang="en-US" sz="63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웹브라우저를</a:t>
            </a:r>
            <a: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최신 버전으로 업데이트</a:t>
            </a:r>
            <a:r>
              <a:rPr lang="ko-KR" altLang="en-US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해 주세요</a:t>
            </a:r>
            <a:r>
              <a:rPr lang="en-US" altLang="ko-KR" sz="6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  <a:endParaRPr lang="ko-KR" altLang="en-US" sz="63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30387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7DF337-5CB7-F656-AA97-06D83E3367AA}"/>
              </a:ext>
            </a:extLst>
          </p:cNvPr>
          <p:cNvSpPr txBox="1"/>
          <p:nvPr/>
        </p:nvSpPr>
        <p:spPr>
          <a:xfrm>
            <a:off x="4" y="2128055"/>
            <a:ext cx="11376691" cy="363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2-1. </a:t>
            </a:r>
            <a:r>
              <a:rPr lang="ko-KR" altLang="en-US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사기제보 페이지 </a:t>
            </a:r>
            <a:r>
              <a:rPr lang="en-US" altLang="ko-KR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(2)</a:t>
            </a:r>
            <a:endParaRPr lang="ko-KR" altLang="en-US" sz="1386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B4A576-43BE-EC4F-2D42-3A30B24EB2AE}"/>
              </a:ext>
            </a:extLst>
          </p:cNvPr>
          <p:cNvSpPr txBox="1"/>
          <p:nvPr/>
        </p:nvSpPr>
        <p:spPr>
          <a:xfrm>
            <a:off x="1" y="2758119"/>
            <a:ext cx="7220836" cy="3055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19952" indent="-319952">
              <a:buFontTx/>
              <a:buChar char="-"/>
            </a:pP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사기 제보 버튼을 누르면 사기 제보를 위해 나타나는 페이지</a:t>
            </a:r>
            <a:endParaRPr lang="en-US" altLang="ko-KR" sz="1386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C9BDFCA-E662-8E64-AFDD-33988FD42B23}"/>
              </a:ext>
            </a:extLst>
          </p:cNvPr>
          <p:cNvCxnSpPr>
            <a:cxnSpLocks/>
          </p:cNvCxnSpPr>
          <p:nvPr/>
        </p:nvCxnSpPr>
        <p:spPr>
          <a:xfrm>
            <a:off x="-1" y="3328587"/>
            <a:ext cx="7199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B3A749B-1993-105E-A004-A74CFBCD2F8C}"/>
              </a:ext>
            </a:extLst>
          </p:cNvPr>
          <p:cNvGrpSpPr/>
          <p:nvPr/>
        </p:nvGrpSpPr>
        <p:grpSpPr>
          <a:xfrm>
            <a:off x="-1" y="3354522"/>
            <a:ext cx="7199313" cy="617932"/>
            <a:chOff x="-6173610" y="696003"/>
            <a:chExt cx="14698254" cy="1261580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454F5FAA-A0B5-6C6E-9F2A-3D8393BB7E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1" r="251"/>
            <a:stretch/>
          </p:blipFill>
          <p:spPr>
            <a:xfrm>
              <a:off x="-6173610" y="696003"/>
              <a:ext cx="14698254" cy="672969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DABE599-2595-B317-5B0A-31081BC5BB70}"/>
                </a:ext>
              </a:extLst>
            </p:cNvPr>
            <p:cNvSpPr txBox="1"/>
            <p:nvPr/>
          </p:nvSpPr>
          <p:spPr>
            <a:xfrm>
              <a:off x="-5639772" y="1580192"/>
              <a:ext cx="813773" cy="2771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사기검증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8C332F-4023-E451-8F68-66D94FF70388}"/>
                </a:ext>
              </a:extLst>
            </p:cNvPr>
            <p:cNvSpPr txBox="1"/>
            <p:nvPr/>
          </p:nvSpPr>
          <p:spPr>
            <a:xfrm>
              <a:off x="-4384543" y="1583681"/>
              <a:ext cx="813773" cy="2771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사기제보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B23A426-8468-2E00-8402-A9ECCF033288}"/>
                </a:ext>
              </a:extLst>
            </p:cNvPr>
            <p:cNvSpPr txBox="1"/>
            <p:nvPr/>
          </p:nvSpPr>
          <p:spPr>
            <a:xfrm>
              <a:off x="-3129315" y="1578190"/>
              <a:ext cx="813773" cy="2771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가격동향</a:t>
              </a:r>
              <a:endParaRPr lang="ko-KR" altLang="en-US" sz="882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94115EC-492C-E148-B00D-E1ECE0E97978}"/>
                </a:ext>
              </a:extLst>
            </p:cNvPr>
            <p:cNvGrpSpPr/>
            <p:nvPr/>
          </p:nvGrpSpPr>
          <p:grpSpPr>
            <a:xfrm>
              <a:off x="6305768" y="1507170"/>
              <a:ext cx="2101649" cy="450413"/>
              <a:chOff x="3389868" y="3051668"/>
              <a:chExt cx="3445082" cy="738331"/>
            </a:xfrm>
          </p:grpSpPr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18CB257C-C944-7E81-8414-14A192538FF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biLevel thresh="75000"/>
              </a:blip>
              <a:srcRect b="44835"/>
              <a:stretch/>
            </p:blipFill>
            <p:spPr>
              <a:xfrm>
                <a:off x="3389868" y="3051668"/>
                <a:ext cx="1981373" cy="615459"/>
              </a:xfrm>
              <a:prstGeom prst="rect">
                <a:avLst/>
              </a:prstGeom>
            </p:spPr>
          </p:pic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FAFB2129-3F6C-CDF9-99BA-CFE193B2AC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biLevel thresh="75000"/>
              </a:blip>
              <a:srcRect t="54228" b="-9393"/>
              <a:stretch/>
            </p:blipFill>
            <p:spPr>
              <a:xfrm>
                <a:off x="4853577" y="3174540"/>
                <a:ext cx="1981373" cy="615459"/>
              </a:xfrm>
              <a:prstGeom prst="rect">
                <a:avLst/>
              </a:prstGeom>
            </p:spPr>
          </p:pic>
        </p:grp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9C688CF-060F-0E17-24FE-73E5CC777C99}"/>
              </a:ext>
            </a:extLst>
          </p:cNvPr>
          <p:cNvSpPr/>
          <p:nvPr/>
        </p:nvSpPr>
        <p:spPr>
          <a:xfrm>
            <a:off x="0" y="4107486"/>
            <a:ext cx="7220836" cy="7660016"/>
          </a:xfrm>
          <a:prstGeom prst="rect">
            <a:avLst/>
          </a:prstGeom>
          <a:solidFill>
            <a:srgbClr val="464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 dirty="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D3E2CD9-677D-0BEC-4F02-FA8962D5F95B}"/>
              </a:ext>
            </a:extLst>
          </p:cNvPr>
          <p:cNvSpPr/>
          <p:nvPr/>
        </p:nvSpPr>
        <p:spPr>
          <a:xfrm>
            <a:off x="368165" y="4716657"/>
            <a:ext cx="6423481" cy="27601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57266DAE-F9A1-7DC2-D210-FE76A1E3B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768228"/>
              </p:ext>
            </p:extLst>
          </p:nvPr>
        </p:nvGraphicFramePr>
        <p:xfrm>
          <a:off x="442945" y="5133525"/>
          <a:ext cx="6296863" cy="22656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1475">
                  <a:extLst>
                    <a:ext uri="{9D8B030D-6E8A-4147-A177-3AD203B41FA5}">
                      <a16:colId xmlns:a16="http://schemas.microsoft.com/office/drawing/2014/main" val="3338359837"/>
                    </a:ext>
                  </a:extLst>
                </a:gridCol>
                <a:gridCol w="5325388">
                  <a:extLst>
                    <a:ext uri="{9D8B030D-6E8A-4147-A177-3AD203B41FA5}">
                      <a16:colId xmlns:a16="http://schemas.microsoft.com/office/drawing/2014/main" val="453715899"/>
                    </a:ext>
                  </a:extLst>
                </a:gridCol>
              </a:tblGrid>
              <a:tr h="226562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사건 발생 개요</a:t>
                      </a:r>
                      <a:r>
                        <a:rPr lang="en-US" altLang="ko-KR" sz="130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KoPubWorld돋움체 Medium" panose="00000600000000000000" pitchFamily="2" charset="-127"/>
                        </a:rPr>
                        <a:t>*</a:t>
                      </a:r>
                      <a:endParaRPr lang="en-US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90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KoPubWorld돋움체 Medium" panose="00000600000000000000" pitchFamily="2" charset="-127"/>
                      </a:endParaRPr>
                    </a:p>
                  </a:txBody>
                  <a:tcPr marL="7037" marR="7037" marT="7037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822022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6D7EBD22-9379-3E8E-A74C-40C4336A7ECF}"/>
              </a:ext>
            </a:extLst>
          </p:cNvPr>
          <p:cNvSpPr txBox="1"/>
          <p:nvPr/>
        </p:nvSpPr>
        <p:spPr>
          <a:xfrm>
            <a:off x="339316" y="4395792"/>
            <a:ext cx="5759450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사건 개요 </a:t>
            </a:r>
            <a:r>
              <a:rPr lang="en-US" altLang="ko-KR" sz="1008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008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진술서</a:t>
            </a:r>
            <a:r>
              <a:rPr lang="en-US" altLang="ko-KR" sz="1008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)</a:t>
            </a:r>
            <a:endParaRPr lang="ko-KR" altLang="en-US" sz="1008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5F4B26-DDC5-90EC-1183-D577E5CA0E51}"/>
              </a:ext>
            </a:extLst>
          </p:cNvPr>
          <p:cNvSpPr txBox="1"/>
          <p:nvPr/>
        </p:nvSpPr>
        <p:spPr>
          <a:xfrm>
            <a:off x="407670" y="4795352"/>
            <a:ext cx="5759450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※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사기범의 주민등록번호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사진 등을 등록하시면 안됩니다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피해사례 등록자가 법적 처벌을 받을 수 있습니다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CD48BF2-D6E5-5ED3-3EDF-E374923BBDC7}"/>
              </a:ext>
            </a:extLst>
          </p:cNvPr>
          <p:cNvGrpSpPr/>
          <p:nvPr/>
        </p:nvGrpSpPr>
        <p:grpSpPr>
          <a:xfrm>
            <a:off x="1509992" y="5198882"/>
            <a:ext cx="5160707" cy="2124976"/>
            <a:chOff x="1198669" y="3083867"/>
            <a:chExt cx="4096702" cy="1686861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81FB778-79A3-1225-A0A1-43BCA0CACD5E}"/>
                </a:ext>
              </a:extLst>
            </p:cNvPr>
            <p:cNvSpPr/>
            <p:nvPr/>
          </p:nvSpPr>
          <p:spPr>
            <a:xfrm>
              <a:off x="1198669" y="3083867"/>
              <a:ext cx="4096701" cy="168686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C77A719C-BB44-F043-5DC8-CCF595B4D5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5375"/>
            <a:stretch/>
          </p:blipFill>
          <p:spPr>
            <a:xfrm>
              <a:off x="1198670" y="3101071"/>
              <a:ext cx="4096701" cy="304039"/>
            </a:xfrm>
            <a:prstGeom prst="rect">
              <a:avLst/>
            </a:prstGeom>
          </p:spPr>
        </p:pic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C2261A8-5FE0-617F-BF36-7314044FFB8A}"/>
              </a:ext>
            </a:extLst>
          </p:cNvPr>
          <p:cNvSpPr/>
          <p:nvPr/>
        </p:nvSpPr>
        <p:spPr>
          <a:xfrm>
            <a:off x="1528645" y="5670763"/>
            <a:ext cx="4206776" cy="159900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작성 예시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)</a:t>
            </a:r>
          </a:p>
          <a:p>
            <a:pPr marL="215976" indent="-215976">
              <a:buFont typeface="Arial" panose="020B0604020202020204" pitchFamily="34" charset="0"/>
              <a:buChar char="•"/>
            </a:pP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피해자 본인 여부 </a:t>
            </a:r>
            <a:endParaRPr lang="en-US" altLang="ko-KR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pPr marL="215976" indent="-215976">
              <a:buFont typeface="Arial" panose="020B0604020202020204" pitchFamily="34" charset="0"/>
              <a:buChar char="•"/>
            </a:pP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신고하려는 내용</a:t>
            </a:r>
            <a:endParaRPr lang="en-US" altLang="ko-KR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pPr marL="215976" indent="-215976">
              <a:buFont typeface="Arial" panose="020B0604020202020204" pitchFamily="34" charset="0"/>
              <a:buChar char="•"/>
            </a:pP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언제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·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어디서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·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어떻게 사건이 발생하였는지</a:t>
            </a:r>
            <a:endParaRPr lang="en-US" altLang="ko-KR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pPr marL="215976" indent="-215976">
              <a:buFont typeface="Arial" panose="020B0604020202020204" pitchFamily="34" charset="0"/>
              <a:buChar char="•"/>
            </a:pP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거래 내용 및 피해 여부</a:t>
            </a:r>
            <a:endParaRPr lang="en-US" altLang="ko-KR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pPr marL="215976" indent="-215976">
              <a:buFont typeface="Arial" panose="020B0604020202020204" pitchFamily="34" charset="0"/>
              <a:buChar char="•"/>
            </a:pP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피해가 있었다면 피해금액 얼마이고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언제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·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어떤 방법으로 거래를 진행하였는지</a:t>
            </a:r>
            <a:endParaRPr lang="en-US" altLang="ko-KR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pPr marL="215976" indent="-215976">
              <a:buFont typeface="Arial" panose="020B0604020202020204" pitchFamily="34" charset="0"/>
              <a:buChar char="•"/>
            </a:pP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피해 내역을 증명할 수 있는 자료 있는지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계좌 이체 내역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대화 내역 캡쳐 자료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등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)</a:t>
            </a:r>
          </a:p>
          <a:p>
            <a:pPr marL="215976" indent="-215976">
              <a:buFont typeface="Arial" panose="020B0604020202020204" pitchFamily="34" charset="0"/>
              <a:buChar char="•"/>
            </a:pP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어떠한 방법으로 사기범과 연락을 하였는지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(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중고나라 사이트 내 </a:t>
            </a:r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대화창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카카오톡 등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)</a:t>
            </a:r>
          </a:p>
          <a:p>
            <a:pPr marL="215976" indent="-215976">
              <a:buFont typeface="Arial" panose="020B0604020202020204" pitchFamily="34" charset="0"/>
              <a:buChar char="•"/>
            </a:pP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약속한 물품은 언제까지 어떤 방법으로 보내준다고 했는지</a:t>
            </a:r>
            <a:endParaRPr lang="en-US" altLang="ko-KR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pPr marL="215976" indent="-215976">
              <a:buFont typeface="Arial" panose="020B0604020202020204" pitchFamily="34" charset="0"/>
              <a:buChar char="•"/>
            </a:pP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약속한 물품을 받았는지 </a:t>
            </a:r>
            <a:endParaRPr lang="en-US" altLang="ko-KR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pPr marL="215976" indent="-215976">
              <a:buFont typeface="Arial" panose="020B0604020202020204" pitchFamily="34" charset="0"/>
              <a:buChar char="•"/>
            </a:pP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물품 받지 못한 후 사기범과 연락한 내용 있는지</a:t>
            </a:r>
            <a:endParaRPr lang="en-US" altLang="ko-KR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6222CBC-E70E-0C47-6C99-ED9D679B7A5E}"/>
              </a:ext>
            </a:extLst>
          </p:cNvPr>
          <p:cNvSpPr txBox="1"/>
          <p:nvPr/>
        </p:nvSpPr>
        <p:spPr>
          <a:xfrm>
            <a:off x="353041" y="7589378"/>
            <a:ext cx="5759450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피해사례 등록 약관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755B8FF5-BE81-992D-2EBE-84F1651C79F0}"/>
              </a:ext>
            </a:extLst>
          </p:cNvPr>
          <p:cNvSpPr/>
          <p:nvPr/>
        </p:nvSpPr>
        <p:spPr>
          <a:xfrm>
            <a:off x="381890" y="9104010"/>
            <a:ext cx="6423481" cy="271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648C0F71-9A2D-30B7-4AF8-FA110016E203}"/>
              </a:ext>
            </a:extLst>
          </p:cNvPr>
          <p:cNvSpPr/>
          <p:nvPr/>
        </p:nvSpPr>
        <p:spPr>
          <a:xfrm>
            <a:off x="500955" y="9179863"/>
            <a:ext cx="122988" cy="1197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AAECA4E-D467-A408-DA0A-2FC3D24E0317}"/>
              </a:ext>
            </a:extLst>
          </p:cNvPr>
          <p:cNvSpPr txBox="1"/>
          <p:nvPr/>
        </p:nvSpPr>
        <p:spPr>
          <a:xfrm>
            <a:off x="593944" y="9103864"/>
            <a:ext cx="5687457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피해사례 등록 약관에 동의합니다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(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필수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)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8C05952B-7171-ECB8-2C5E-1B811E7D6EA6}"/>
              </a:ext>
            </a:extLst>
          </p:cNvPr>
          <p:cNvSpPr/>
          <p:nvPr/>
        </p:nvSpPr>
        <p:spPr>
          <a:xfrm>
            <a:off x="2739958" y="11123654"/>
            <a:ext cx="1721466" cy="381231"/>
          </a:xfrm>
          <a:prstGeom prst="roundRect">
            <a:avLst>
              <a:gd name="adj" fmla="val 298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   사기 사례 등록 </a:t>
            </a:r>
          </a:p>
        </p:txBody>
      </p:sp>
      <p:pic>
        <p:nvPicPr>
          <p:cNvPr id="76" name="Picture 6" descr="경고 - 무료 음악개 아이콘">
            <a:extLst>
              <a:ext uri="{FF2B5EF4-FFF2-40B4-BE49-F238E27FC236}">
                <a16:creationId xmlns:a16="http://schemas.microsoft.com/office/drawing/2014/main" id="{CD52C3B6-5F5D-B07D-0367-4702CF25F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925" y="11123650"/>
            <a:ext cx="383928" cy="383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직사각형 76">
            <a:extLst>
              <a:ext uri="{FF2B5EF4-FFF2-40B4-BE49-F238E27FC236}">
                <a16:creationId xmlns:a16="http://schemas.microsoft.com/office/drawing/2014/main" id="{6E84EB94-340A-D616-3DFB-E0E918C24A0D}"/>
              </a:ext>
            </a:extLst>
          </p:cNvPr>
          <p:cNvSpPr/>
          <p:nvPr/>
        </p:nvSpPr>
        <p:spPr>
          <a:xfrm>
            <a:off x="381890" y="7947799"/>
            <a:ext cx="6423481" cy="105494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pic>
        <p:nvPicPr>
          <p:cNvPr id="79" name="그림 78">
            <a:extLst>
              <a:ext uri="{FF2B5EF4-FFF2-40B4-BE49-F238E27FC236}">
                <a16:creationId xmlns:a16="http://schemas.microsoft.com/office/drawing/2014/main" id="{A1958038-07A1-334A-70C9-4ABB86D9807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1920"/>
          <a:stretch/>
        </p:blipFill>
        <p:spPr>
          <a:xfrm>
            <a:off x="6455935" y="7982566"/>
            <a:ext cx="205831" cy="963957"/>
          </a:xfrm>
          <a:prstGeom prst="rect">
            <a:avLst/>
          </a:prstGeom>
        </p:spPr>
      </p:pic>
      <p:sp>
        <p:nvSpPr>
          <p:cNvPr id="80" name="직사각형 79">
            <a:extLst>
              <a:ext uri="{FF2B5EF4-FFF2-40B4-BE49-F238E27FC236}">
                <a16:creationId xmlns:a16="http://schemas.microsoft.com/office/drawing/2014/main" id="{28C53E2F-9112-F02C-FACD-C8F405E7B58B}"/>
              </a:ext>
            </a:extLst>
          </p:cNvPr>
          <p:cNvSpPr/>
          <p:nvPr/>
        </p:nvSpPr>
        <p:spPr>
          <a:xfrm>
            <a:off x="480824" y="7948110"/>
            <a:ext cx="5790976" cy="74575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피해사례 등록 약관</a:t>
            </a:r>
            <a:endParaRPr lang="en-US" altLang="ko-KR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b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</a:b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1.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등록한 피해사례 정보는 추가 피해를 방지하기 위한 목적으로 개인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기업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수사기관 등 제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3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자에게 제공됨을 동의합니다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endParaRPr lang="en-US" altLang="ko-KR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2.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허위사실 유포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명예훼손 등 법적분쟁 발생 시 모든 책임은 피해사례 등록자에게 있으며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피해사례의 사실확인을 위해 검증과정에 참여할 것임을 확인합니다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  <a:b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</a:b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3.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용의자에게 피해사례 등록 사실이 통지되며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소통을 위한 연락처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이름 정보 제공에 동의합니다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  <a:b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</a:b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4.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피해해결 및 원금회복을 위해 용의자의 삭제요청 및 관련 정보 수신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(SMS,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이메일 등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)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에 동의합니다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D59CC5B-DC1F-BE0B-9F61-5F9CF0BF81BD}"/>
              </a:ext>
            </a:extLst>
          </p:cNvPr>
          <p:cNvSpPr txBox="1"/>
          <p:nvPr/>
        </p:nvSpPr>
        <p:spPr>
          <a:xfrm>
            <a:off x="782759" y="9930767"/>
            <a:ext cx="5633796" cy="61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해당 사이트는 광고와 후원으로만 운영이 됩니다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</a:p>
          <a:p>
            <a:pPr algn="ctr"/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애드블럭을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허용해주시면 사이트 운영에 큰 힘이 됩니다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감사합니다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</a:p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본 사이트는 콘텐츠를 보는데 방해되지 않는 위치에 광고를 설치했습니다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</a:p>
        </p:txBody>
      </p:sp>
      <p:pic>
        <p:nvPicPr>
          <p:cNvPr id="82" name="그림 81">
            <a:extLst>
              <a:ext uri="{FF2B5EF4-FFF2-40B4-BE49-F238E27FC236}">
                <a16:creationId xmlns:a16="http://schemas.microsoft.com/office/drawing/2014/main" id="{B48098F6-C1CE-BC36-4B03-4FF14357D2A0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457827" y="9678637"/>
            <a:ext cx="6348410" cy="1135871"/>
          </a:xfrm>
          <a:prstGeom prst="rect">
            <a:avLst/>
          </a:prstGeom>
        </p:spPr>
      </p:pic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0ACE6243-40DA-2346-A6CF-554AFAFCECB1}"/>
              </a:ext>
            </a:extLst>
          </p:cNvPr>
          <p:cNvSpPr/>
          <p:nvPr/>
        </p:nvSpPr>
        <p:spPr>
          <a:xfrm>
            <a:off x="442947" y="9674227"/>
            <a:ext cx="6348699" cy="1167866"/>
          </a:xfrm>
          <a:prstGeom prst="round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5B925CE-5AE1-5726-934C-DFCF11D2781B}"/>
              </a:ext>
            </a:extLst>
          </p:cNvPr>
          <p:cNvSpPr txBox="1"/>
          <p:nvPr/>
        </p:nvSpPr>
        <p:spPr>
          <a:xfrm rot="20345079">
            <a:off x="243137" y="9566429"/>
            <a:ext cx="299879" cy="31021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2016" dirty="0"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ⓐ</a:t>
            </a:r>
            <a:endParaRPr lang="ko-KR" altLang="en-US" sz="189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34311EE-B22A-A84E-09BC-A3388F860283}"/>
              </a:ext>
            </a:extLst>
          </p:cNvPr>
          <p:cNvSpPr txBox="1"/>
          <p:nvPr/>
        </p:nvSpPr>
        <p:spPr>
          <a:xfrm>
            <a:off x="-1" y="11915232"/>
            <a:ext cx="7199313" cy="4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ⓐ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광고 삽입 자리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애드센스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)</a:t>
            </a: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메인페이지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광고 삽입 자리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광고를 끄면 나타나는 문구</a:t>
            </a:r>
          </a:p>
        </p:txBody>
      </p:sp>
    </p:spTree>
    <p:extLst>
      <p:ext uri="{BB962C8B-B14F-4D97-AF65-F5344CB8AC3E}">
        <p14:creationId xmlns:p14="http://schemas.microsoft.com/office/powerpoint/2010/main" val="34249443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7DF337-5CB7-F656-AA97-06D83E3367AA}"/>
              </a:ext>
            </a:extLst>
          </p:cNvPr>
          <p:cNvSpPr txBox="1"/>
          <p:nvPr/>
        </p:nvSpPr>
        <p:spPr>
          <a:xfrm>
            <a:off x="4" y="2128055"/>
            <a:ext cx="11376691" cy="363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3. </a:t>
            </a:r>
            <a:r>
              <a:rPr lang="ko-KR" altLang="en-US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가격동향 페이지</a:t>
            </a:r>
            <a:endParaRPr lang="ko-KR" altLang="en-US" sz="1386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B4A576-43BE-EC4F-2D42-3A30B24EB2AE}"/>
              </a:ext>
            </a:extLst>
          </p:cNvPr>
          <p:cNvSpPr txBox="1"/>
          <p:nvPr/>
        </p:nvSpPr>
        <p:spPr>
          <a:xfrm>
            <a:off x="1" y="2758119"/>
            <a:ext cx="7220836" cy="3055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19952" indent="-319952">
              <a:buFontTx/>
              <a:buChar char="-"/>
            </a:pP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가격 동향 버튼을 누르면 가격 동향 확인을 위해 나타나는 페이지</a:t>
            </a:r>
            <a:endParaRPr lang="en-US" altLang="ko-KR" sz="1386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C9BDFCA-E662-8E64-AFDD-33988FD42B23}"/>
              </a:ext>
            </a:extLst>
          </p:cNvPr>
          <p:cNvCxnSpPr>
            <a:cxnSpLocks/>
          </p:cNvCxnSpPr>
          <p:nvPr/>
        </p:nvCxnSpPr>
        <p:spPr>
          <a:xfrm>
            <a:off x="-1" y="3328587"/>
            <a:ext cx="7199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B3A749B-1993-105E-A004-A74CFBCD2F8C}"/>
              </a:ext>
            </a:extLst>
          </p:cNvPr>
          <p:cNvGrpSpPr/>
          <p:nvPr/>
        </p:nvGrpSpPr>
        <p:grpSpPr>
          <a:xfrm>
            <a:off x="-1" y="3354522"/>
            <a:ext cx="7199313" cy="617932"/>
            <a:chOff x="-6173610" y="696003"/>
            <a:chExt cx="14698254" cy="1261580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454F5FAA-A0B5-6C6E-9F2A-3D8393BB7E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1" r="251"/>
            <a:stretch/>
          </p:blipFill>
          <p:spPr>
            <a:xfrm>
              <a:off x="-6173610" y="696003"/>
              <a:ext cx="14698254" cy="672969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DABE599-2595-B317-5B0A-31081BC5BB70}"/>
                </a:ext>
              </a:extLst>
            </p:cNvPr>
            <p:cNvSpPr txBox="1"/>
            <p:nvPr/>
          </p:nvSpPr>
          <p:spPr>
            <a:xfrm>
              <a:off x="-5639772" y="1580192"/>
              <a:ext cx="813773" cy="2771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사기검증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8C332F-4023-E451-8F68-66D94FF70388}"/>
                </a:ext>
              </a:extLst>
            </p:cNvPr>
            <p:cNvSpPr txBox="1"/>
            <p:nvPr/>
          </p:nvSpPr>
          <p:spPr>
            <a:xfrm>
              <a:off x="-4384543" y="1583681"/>
              <a:ext cx="813773" cy="2771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사기제보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B23A426-8468-2E00-8402-A9ECCF033288}"/>
                </a:ext>
              </a:extLst>
            </p:cNvPr>
            <p:cNvSpPr txBox="1"/>
            <p:nvPr/>
          </p:nvSpPr>
          <p:spPr>
            <a:xfrm>
              <a:off x="-3129315" y="1578190"/>
              <a:ext cx="813773" cy="2771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가격동향</a:t>
              </a: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94115EC-492C-E148-B00D-E1ECE0E97978}"/>
                </a:ext>
              </a:extLst>
            </p:cNvPr>
            <p:cNvGrpSpPr/>
            <p:nvPr/>
          </p:nvGrpSpPr>
          <p:grpSpPr>
            <a:xfrm>
              <a:off x="6305768" y="1507170"/>
              <a:ext cx="2101649" cy="450413"/>
              <a:chOff x="3389868" y="3051668"/>
              <a:chExt cx="3445082" cy="738331"/>
            </a:xfrm>
          </p:grpSpPr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18CB257C-C944-7E81-8414-14A192538FF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biLevel thresh="75000"/>
              </a:blip>
              <a:srcRect b="44835"/>
              <a:stretch/>
            </p:blipFill>
            <p:spPr>
              <a:xfrm>
                <a:off x="3389868" y="3051668"/>
                <a:ext cx="1981373" cy="615459"/>
              </a:xfrm>
              <a:prstGeom prst="rect">
                <a:avLst/>
              </a:prstGeom>
            </p:spPr>
          </p:pic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FAFB2129-3F6C-CDF9-99BA-CFE193B2AC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biLevel thresh="75000"/>
              </a:blip>
              <a:srcRect t="54228" b="-9393"/>
              <a:stretch/>
            </p:blipFill>
            <p:spPr>
              <a:xfrm>
                <a:off x="4853577" y="3174540"/>
                <a:ext cx="1981373" cy="615459"/>
              </a:xfrm>
              <a:prstGeom prst="rect">
                <a:avLst/>
              </a:prstGeom>
            </p:spPr>
          </p:pic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9EF53D64-DACB-48C9-0DF6-148587658127}"/>
              </a:ext>
            </a:extLst>
          </p:cNvPr>
          <p:cNvGrpSpPr/>
          <p:nvPr/>
        </p:nvGrpSpPr>
        <p:grpSpPr>
          <a:xfrm>
            <a:off x="0" y="4107490"/>
            <a:ext cx="7220836" cy="7660017"/>
            <a:chOff x="50622" y="565912"/>
            <a:chExt cx="12141379" cy="7867533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EEE017F-AAF5-3A05-000C-360E0314EFBA}"/>
                </a:ext>
              </a:extLst>
            </p:cNvPr>
            <p:cNvSpPr/>
            <p:nvPr/>
          </p:nvSpPr>
          <p:spPr>
            <a:xfrm>
              <a:off x="50622" y="565912"/>
              <a:ext cx="12141379" cy="7867533"/>
            </a:xfrm>
            <a:prstGeom prst="rect">
              <a:avLst/>
            </a:prstGeom>
            <a:solidFill>
              <a:srgbClr val="4644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360" dirty="0">
                <a:ln>
                  <a:solidFill>
                    <a:schemeClr val="bg1">
                      <a:alpha val="0"/>
                    </a:schemeClr>
                  </a:solidFill>
                </a:ln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EEFF259F-BE7A-1D36-9422-9FE101722463}"/>
                </a:ext>
              </a:extLst>
            </p:cNvPr>
            <p:cNvGrpSpPr/>
            <p:nvPr/>
          </p:nvGrpSpPr>
          <p:grpSpPr>
            <a:xfrm>
              <a:off x="164209" y="7740451"/>
              <a:ext cx="5782060" cy="550501"/>
              <a:chOff x="164209" y="7740451"/>
              <a:chExt cx="5782060" cy="550501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778B60E-F419-4241-A8E5-461726F8009A}"/>
                  </a:ext>
                </a:extLst>
              </p:cNvPr>
              <p:cNvSpPr txBox="1"/>
              <p:nvPr/>
            </p:nvSpPr>
            <p:spPr>
              <a:xfrm>
                <a:off x="164209" y="7740451"/>
                <a:ext cx="5782060" cy="5505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1764"/>
                  </a:lnSpc>
                </a:pPr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                          </a:t>
                </a:r>
                <a:r>
                  <a:rPr lang="ko-KR" altLang="en-US" sz="1134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ㅣ</a:t>
                </a:r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 제휴문의</a:t>
                </a:r>
                <a:r>
                  <a:rPr lang="en-US" altLang="ko-KR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 Cleandeal@naver.com</a:t>
                </a:r>
              </a:p>
              <a:p>
                <a:pPr>
                  <a:lnSpc>
                    <a:spcPts val="1764"/>
                  </a:lnSpc>
                </a:pPr>
                <a:r>
                  <a:rPr lang="en-US" altLang="ko-KR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Watchout.com</a:t>
                </a:r>
                <a:r>
                  <a:rPr lang="ko-KR" altLang="en-US" sz="1134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ㅣ개인정보처리방침</a:t>
                </a:r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 </a:t>
                </a:r>
                <a:r>
                  <a:rPr lang="ko-KR" altLang="en-US" sz="1134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ㅣ</a:t>
                </a:r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 공지사항 </a:t>
                </a:r>
                <a:endParaRPr lang="en-US" altLang="ko-KR" sz="113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endParaRPr>
              </a:p>
            </p:txBody>
          </p:sp>
          <p:pic>
            <p:nvPicPr>
              <p:cNvPr id="31" name="그림 30">
                <a:extLst>
                  <a:ext uri="{FF2B5EF4-FFF2-40B4-BE49-F238E27FC236}">
                    <a16:creationId xmlns:a16="http://schemas.microsoft.com/office/drawing/2014/main" id="{EE6D92B6-A953-87EA-AF94-D1D36C5572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11979" y="7854918"/>
                <a:ext cx="1882290" cy="154570"/>
              </a:xfrm>
              <a:prstGeom prst="rect">
                <a:avLst/>
              </a:prstGeom>
            </p:spPr>
          </p:pic>
        </p:grp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AB3BBBFA-AAE3-09C7-8BF2-AB4158D68E44}"/>
              </a:ext>
            </a:extLst>
          </p:cNvPr>
          <p:cNvSpPr txBox="1"/>
          <p:nvPr/>
        </p:nvSpPr>
        <p:spPr>
          <a:xfrm>
            <a:off x="155437" y="4287884"/>
            <a:ext cx="5759450" cy="363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764" b="1" spc="-189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적정한 가격선을 확인하고 </a:t>
            </a:r>
            <a:r>
              <a:rPr lang="ko-KR" altLang="en-US" sz="1764" b="1" spc="-189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클린한</a:t>
            </a:r>
            <a:r>
              <a:rPr lang="ko-KR" altLang="en-US" sz="1764" b="1" spc="-189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거래하세요</a:t>
            </a:r>
            <a:endParaRPr lang="ko-KR" altLang="en-US" sz="5039" b="1" spc="-189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1C283F8-EF35-889D-CCA4-8AED142FDBA0}"/>
              </a:ext>
            </a:extLst>
          </p:cNvPr>
          <p:cNvSpPr txBox="1"/>
          <p:nvPr/>
        </p:nvSpPr>
        <p:spPr>
          <a:xfrm>
            <a:off x="155441" y="4645532"/>
            <a:ext cx="5418001" cy="228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적정가격 범위를 벗어난 상품은 사기 확률이 높습니다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대략적인 가격 범위를 확인하세요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2F3A269-D897-34FD-CFD1-853E52808148}"/>
              </a:ext>
            </a:extLst>
          </p:cNvPr>
          <p:cNvSpPr txBox="1"/>
          <p:nvPr/>
        </p:nvSpPr>
        <p:spPr>
          <a:xfrm>
            <a:off x="782759" y="9832406"/>
            <a:ext cx="5633796" cy="61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해당 사이트는 광고와 후원으로만 운영이 됩니다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</a:p>
          <a:p>
            <a:pPr algn="ctr"/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애드블럭을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허용해주시면 사이트 운영에 큰 힘이 됩니다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감사합니다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</a:p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본 사이트는 콘텐츠를 보는데 방해되지 않는 위치에 광고를 설치했습니다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9C6AE18D-2176-263F-4D87-F50DB56FD892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457827" y="9584333"/>
            <a:ext cx="6348410" cy="1135871"/>
          </a:xfrm>
          <a:prstGeom prst="rect">
            <a:avLst/>
          </a:prstGeom>
        </p:spPr>
      </p:pic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E41C75E5-285F-7573-2E06-A3F19575702D}"/>
              </a:ext>
            </a:extLst>
          </p:cNvPr>
          <p:cNvSpPr/>
          <p:nvPr/>
        </p:nvSpPr>
        <p:spPr>
          <a:xfrm>
            <a:off x="442947" y="9575866"/>
            <a:ext cx="6348699" cy="1167866"/>
          </a:xfrm>
          <a:prstGeom prst="round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9C1D04E3-3518-39F1-5DD1-7F581EF8F081}"/>
              </a:ext>
            </a:extLst>
          </p:cNvPr>
          <p:cNvSpPr/>
          <p:nvPr/>
        </p:nvSpPr>
        <p:spPr>
          <a:xfrm>
            <a:off x="1255829" y="6812557"/>
            <a:ext cx="4713603" cy="31017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8D8E83D-F6A1-8AAC-F461-B439A1A31952}"/>
              </a:ext>
            </a:extLst>
          </p:cNvPr>
          <p:cNvSpPr txBox="1"/>
          <p:nvPr/>
        </p:nvSpPr>
        <p:spPr>
          <a:xfrm>
            <a:off x="1281775" y="6841355"/>
            <a:ext cx="4687659" cy="24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가격 동향을 확인하고자 하는 브랜드명과 제품명을 입력하세요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(ex. </a:t>
            </a:r>
            <a:r>
              <a:rPr lang="ko-KR" altLang="en-US" sz="756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롤렉스</a:t>
            </a:r>
            <a:r>
              <a:rPr lang="ko-KR" altLang="en-US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756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데이저스트</a:t>
            </a:r>
            <a:r>
              <a:rPr lang="ko-KR" altLang="en-US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36)</a:t>
            </a: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1C024957-DF37-3B62-6CF6-CB66F60CF6BF}"/>
              </a:ext>
            </a:extLst>
          </p:cNvPr>
          <p:cNvGrpSpPr/>
          <p:nvPr/>
        </p:nvGrpSpPr>
        <p:grpSpPr>
          <a:xfrm>
            <a:off x="2123962" y="6011854"/>
            <a:ext cx="2951386" cy="637510"/>
            <a:chOff x="-1166571" y="260314"/>
            <a:chExt cx="2887305" cy="623669"/>
          </a:xfrm>
        </p:grpSpPr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98784C4B-F482-346F-BBA2-3B10F2B555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5328" b="96721" l="4111" r="90135">
                          <a14:foregroundMark x1="7474" y1="22951" x2="10314" y2="30738"/>
                          <a14:foregroundMark x1="24141" y1="49590" x2="24141" y2="49590"/>
                          <a14:foregroundMark x1="25112" y1="50820" x2="23244" y2="46175"/>
                          <a14:foregroundMark x1="4185" y1="12295" x2="5830" y2="14344"/>
                          <a14:foregroundMark x1="11958" y1="51776" x2="12855" y2="50000"/>
                          <a14:foregroundMark x1="33782" y1="38388" x2="35650" y2="43169"/>
                          <a14:foregroundMark x1="52317" y1="26366" x2="52541" y2="29781"/>
                          <a14:foregroundMark x1="63602" y1="28552" x2="62631" y2="29781"/>
                          <a14:foregroundMark x1="76233" y1="22541" x2="77205" y2="28552"/>
                          <a14:foregroundMark x1="38714" y1="64208" x2="40359" y2="67623"/>
                          <a14:foregroundMark x1="46712" y1="77459" x2="47160" y2="83880"/>
                          <a14:foregroundMark x1="57922" y1="80055" x2="57250" y2="90710"/>
                          <a14:foregroundMark x1="64051" y1="71038" x2="65022" y2="84699"/>
                          <a14:foregroundMark x1="33034" y1="96721" x2="34454" y2="94262"/>
                        </a14:backgroundRemoval>
                      </a14:imgEffect>
                    </a14:imgLayer>
                  </a14:imgProps>
                </a:ext>
              </a:extLst>
            </a:blip>
            <a:srcRect l="2418" t="-2" b="45706"/>
            <a:stretch/>
          </p:blipFill>
          <p:spPr>
            <a:xfrm>
              <a:off x="-1166571" y="260314"/>
              <a:ext cx="1980164" cy="602768"/>
            </a:xfrm>
            <a:prstGeom prst="rect">
              <a:avLst/>
            </a:prstGeom>
          </p:spPr>
        </p:pic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7EAB6DF5-0887-E634-A5D9-5BC30B4260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5328" b="96721" l="4111" r="90135">
                          <a14:foregroundMark x1="7474" y1="22951" x2="10314" y2="30738"/>
                          <a14:foregroundMark x1="24141" y1="49590" x2="24141" y2="49590"/>
                          <a14:foregroundMark x1="25112" y1="50820" x2="23244" y2="46175"/>
                          <a14:foregroundMark x1="4185" y1="12295" x2="5830" y2="14344"/>
                          <a14:foregroundMark x1="11958" y1="51776" x2="12855" y2="50000"/>
                          <a14:foregroundMark x1="33782" y1="38388" x2="35650" y2="43169"/>
                          <a14:foregroundMark x1="52317" y1="26366" x2="52541" y2="29781"/>
                          <a14:foregroundMark x1="63602" y1="28552" x2="62631" y2="29781"/>
                          <a14:foregroundMark x1="76233" y1="22541" x2="77205" y2="28552"/>
                          <a14:foregroundMark x1="38714" y1="64208" x2="40359" y2="67623"/>
                          <a14:foregroundMark x1="46712" y1="77459" x2="47160" y2="83880"/>
                          <a14:foregroundMark x1="57922" y1="80055" x2="57250" y2="90710"/>
                          <a14:foregroundMark x1="64051" y1="71038" x2="65022" y2="84699"/>
                          <a14:foregroundMark x1="33034" y1="96721" x2="34454" y2="94262"/>
                        </a14:backgroundRemoval>
                      </a14:imgEffect>
                    </a14:imgLayer>
                  </a14:imgProps>
                </a:ext>
              </a:extLst>
            </a:blip>
            <a:srcRect l="2418" t="53521" r="27368" b="-628"/>
            <a:stretch/>
          </p:blipFill>
          <p:spPr>
            <a:xfrm>
              <a:off x="295932" y="361017"/>
              <a:ext cx="1424802" cy="522966"/>
            </a:xfrm>
            <a:prstGeom prst="rect">
              <a:avLst/>
            </a:prstGeom>
          </p:spPr>
        </p:pic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368FAF28-51F1-AACF-A776-CF8888AF1F63}"/>
              </a:ext>
            </a:extLst>
          </p:cNvPr>
          <p:cNvSpPr txBox="1"/>
          <p:nvPr/>
        </p:nvSpPr>
        <p:spPr>
          <a:xfrm>
            <a:off x="1150307" y="7138969"/>
            <a:ext cx="5496635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가격 동향 데이터는 최대 과거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3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개월 까지만 추적 됩니다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008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광고시청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시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1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년 까지 추적됩니다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</a:p>
        </p:txBody>
      </p:sp>
      <p:pic>
        <p:nvPicPr>
          <p:cNvPr id="7172" name="Picture 4" descr="Cursor PNG, Cursor Transparent Background - FreeIconsPNG">
            <a:extLst>
              <a:ext uri="{FF2B5EF4-FFF2-40B4-BE49-F238E27FC236}">
                <a16:creationId xmlns:a16="http://schemas.microsoft.com/office/drawing/2014/main" id="{098C93CF-4846-13FF-4E61-EE80130BA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36422">
            <a:off x="724956" y="6923116"/>
            <a:ext cx="1287902" cy="933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7103DF8A-4431-4A38-D47D-65474F01F74E}"/>
              </a:ext>
            </a:extLst>
          </p:cNvPr>
          <p:cNvSpPr/>
          <p:nvPr/>
        </p:nvSpPr>
        <p:spPr>
          <a:xfrm>
            <a:off x="1368909" y="7446919"/>
            <a:ext cx="4743584" cy="423051"/>
          </a:xfrm>
          <a:prstGeom prst="roundRect">
            <a:avLst>
              <a:gd name="adj" fmla="val 4794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검색된 텍스트를 기반으로 유사한 제목의 게시물들의 목록을 </a:t>
            </a:r>
            <a:r>
              <a:rPr lang="ko-KR" altLang="en-US" sz="756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로딩합니다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</a:p>
          <a:p>
            <a:r>
              <a:rPr lang="ko-KR" altLang="en-US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각종 옵션에 따라 가격 격차가 있으므로 하단 시세는 신뢰성이 낮습니다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동향을 참고하시는 정도로만 보시기 바랍니다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</a:p>
          <a:p>
            <a:r>
              <a:rPr lang="ko-KR" altLang="en-US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자연어처리 기반으로 가격 데이터가 로딩 되므로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검색어의 정확성과 간결성을 높일수록 신뢰성이 높아집니다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19AA23F-A624-47FF-0D80-EE8409407C3E}"/>
              </a:ext>
            </a:extLst>
          </p:cNvPr>
          <p:cNvSpPr txBox="1"/>
          <p:nvPr/>
        </p:nvSpPr>
        <p:spPr>
          <a:xfrm rot="20345079">
            <a:off x="1144693" y="7463379"/>
            <a:ext cx="299879" cy="27148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764" dirty="0"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ⓑ</a:t>
            </a:r>
            <a:endParaRPr lang="ko-KR" altLang="en-US" sz="189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5BCDC82-BABD-1DA6-78A8-8F51DF287545}"/>
              </a:ext>
            </a:extLst>
          </p:cNvPr>
          <p:cNvSpPr txBox="1"/>
          <p:nvPr/>
        </p:nvSpPr>
        <p:spPr>
          <a:xfrm rot="20345079">
            <a:off x="1079943" y="6640270"/>
            <a:ext cx="299879" cy="27148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764" dirty="0"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ⓐ</a:t>
            </a:r>
            <a:endParaRPr lang="ko-KR" altLang="en-US" sz="189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BAF1FB1-B240-6893-916C-FAC8D9208882}"/>
              </a:ext>
            </a:extLst>
          </p:cNvPr>
          <p:cNvSpPr txBox="1"/>
          <p:nvPr/>
        </p:nvSpPr>
        <p:spPr>
          <a:xfrm rot="20345079">
            <a:off x="276544" y="9533039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Ⓒ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FB8F1CF-27E3-1D05-7E01-5EDC6DF30BA9}"/>
              </a:ext>
            </a:extLst>
          </p:cNvPr>
          <p:cNvSpPr txBox="1"/>
          <p:nvPr/>
        </p:nvSpPr>
        <p:spPr>
          <a:xfrm>
            <a:off x="-1" y="11847610"/>
            <a:ext cx="7199313" cy="4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ⓐ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브랜드명 및 제품명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검색창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가격 동향을 확인하고자 하는 브랜드와 제품명을 입력하는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검색창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705027A-6066-2741-F4DB-5754435F78D4}"/>
              </a:ext>
            </a:extLst>
          </p:cNvPr>
          <p:cNvSpPr txBox="1"/>
          <p:nvPr/>
        </p:nvSpPr>
        <p:spPr>
          <a:xfrm>
            <a:off x="-1" y="12350461"/>
            <a:ext cx="7199313" cy="4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ⓑ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안내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박스창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검색창에 마우스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오버시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나타나는 문구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F183133-514B-7AC1-89FF-B7235C746917}"/>
              </a:ext>
            </a:extLst>
          </p:cNvPr>
          <p:cNvSpPr txBox="1"/>
          <p:nvPr/>
        </p:nvSpPr>
        <p:spPr>
          <a:xfrm>
            <a:off x="-1" y="12885088"/>
            <a:ext cx="7199313" cy="4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ⓒ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광고 삽입 자리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애드센스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)</a:t>
            </a: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메인페이지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광고 삽입 자리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광고를 끄면 나타나는 문구</a:t>
            </a:r>
          </a:p>
        </p:txBody>
      </p:sp>
    </p:spTree>
    <p:extLst>
      <p:ext uri="{BB962C8B-B14F-4D97-AF65-F5344CB8AC3E}">
        <p14:creationId xmlns:p14="http://schemas.microsoft.com/office/powerpoint/2010/main" val="11200028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7DF337-5CB7-F656-AA97-06D83E3367AA}"/>
              </a:ext>
            </a:extLst>
          </p:cNvPr>
          <p:cNvSpPr txBox="1"/>
          <p:nvPr/>
        </p:nvSpPr>
        <p:spPr>
          <a:xfrm>
            <a:off x="4" y="2128055"/>
            <a:ext cx="11376691" cy="363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3. </a:t>
            </a:r>
            <a:r>
              <a:rPr lang="ko-KR" altLang="en-US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가격동향 페이지 </a:t>
            </a:r>
            <a:r>
              <a:rPr lang="en-US" altLang="ko-KR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(1)</a:t>
            </a:r>
            <a:endParaRPr lang="ko-KR" altLang="en-US" sz="1386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B4A576-43BE-EC4F-2D42-3A30B24EB2AE}"/>
              </a:ext>
            </a:extLst>
          </p:cNvPr>
          <p:cNvSpPr txBox="1"/>
          <p:nvPr/>
        </p:nvSpPr>
        <p:spPr>
          <a:xfrm>
            <a:off x="1" y="2758119"/>
            <a:ext cx="7220836" cy="3055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19952" indent="-319952">
              <a:buFontTx/>
              <a:buChar char="-"/>
            </a:pP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가격 동향 검색창에 검색을 한 후 나타나는 페이지</a:t>
            </a:r>
            <a:endParaRPr lang="en-US" altLang="ko-KR" sz="1386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C9BDFCA-E662-8E64-AFDD-33988FD42B23}"/>
              </a:ext>
            </a:extLst>
          </p:cNvPr>
          <p:cNvCxnSpPr>
            <a:cxnSpLocks/>
          </p:cNvCxnSpPr>
          <p:nvPr/>
        </p:nvCxnSpPr>
        <p:spPr>
          <a:xfrm>
            <a:off x="-1" y="3328587"/>
            <a:ext cx="7199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B3A749B-1993-105E-A004-A74CFBCD2F8C}"/>
              </a:ext>
            </a:extLst>
          </p:cNvPr>
          <p:cNvGrpSpPr/>
          <p:nvPr/>
        </p:nvGrpSpPr>
        <p:grpSpPr>
          <a:xfrm>
            <a:off x="-1" y="3354522"/>
            <a:ext cx="7199313" cy="617932"/>
            <a:chOff x="-6173610" y="696003"/>
            <a:chExt cx="14698254" cy="1261580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454F5FAA-A0B5-6C6E-9F2A-3D8393BB7E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1" r="251"/>
            <a:stretch/>
          </p:blipFill>
          <p:spPr>
            <a:xfrm>
              <a:off x="-6173610" y="696003"/>
              <a:ext cx="14698254" cy="672969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DABE599-2595-B317-5B0A-31081BC5BB70}"/>
                </a:ext>
              </a:extLst>
            </p:cNvPr>
            <p:cNvSpPr txBox="1"/>
            <p:nvPr/>
          </p:nvSpPr>
          <p:spPr>
            <a:xfrm>
              <a:off x="-5639772" y="1580192"/>
              <a:ext cx="813773" cy="2771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사기검증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8C332F-4023-E451-8F68-66D94FF70388}"/>
                </a:ext>
              </a:extLst>
            </p:cNvPr>
            <p:cNvSpPr txBox="1"/>
            <p:nvPr/>
          </p:nvSpPr>
          <p:spPr>
            <a:xfrm>
              <a:off x="-4384543" y="1583681"/>
              <a:ext cx="813773" cy="2771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사기제보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B23A426-8468-2E00-8402-A9ECCF033288}"/>
                </a:ext>
              </a:extLst>
            </p:cNvPr>
            <p:cNvSpPr txBox="1"/>
            <p:nvPr/>
          </p:nvSpPr>
          <p:spPr>
            <a:xfrm>
              <a:off x="-3129315" y="1578190"/>
              <a:ext cx="813773" cy="2771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가격동향</a:t>
              </a: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94115EC-492C-E148-B00D-E1ECE0E97978}"/>
                </a:ext>
              </a:extLst>
            </p:cNvPr>
            <p:cNvGrpSpPr/>
            <p:nvPr/>
          </p:nvGrpSpPr>
          <p:grpSpPr>
            <a:xfrm>
              <a:off x="6305768" y="1507170"/>
              <a:ext cx="2101649" cy="450413"/>
              <a:chOff x="3389868" y="3051668"/>
              <a:chExt cx="3445082" cy="738331"/>
            </a:xfrm>
          </p:grpSpPr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18CB257C-C944-7E81-8414-14A192538FF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biLevel thresh="75000"/>
              </a:blip>
              <a:srcRect b="44835"/>
              <a:stretch/>
            </p:blipFill>
            <p:spPr>
              <a:xfrm>
                <a:off x="3389868" y="3051668"/>
                <a:ext cx="1981373" cy="615459"/>
              </a:xfrm>
              <a:prstGeom prst="rect">
                <a:avLst/>
              </a:prstGeom>
            </p:spPr>
          </p:pic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FAFB2129-3F6C-CDF9-99BA-CFE193B2AC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biLevel thresh="75000"/>
              </a:blip>
              <a:srcRect t="54228" b="-9393"/>
              <a:stretch/>
            </p:blipFill>
            <p:spPr>
              <a:xfrm>
                <a:off x="4853577" y="3174540"/>
                <a:ext cx="1981373" cy="615459"/>
              </a:xfrm>
              <a:prstGeom prst="rect">
                <a:avLst/>
              </a:prstGeom>
            </p:spPr>
          </p:pic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9EF53D64-DACB-48C9-0DF6-148587658127}"/>
              </a:ext>
            </a:extLst>
          </p:cNvPr>
          <p:cNvGrpSpPr/>
          <p:nvPr/>
        </p:nvGrpSpPr>
        <p:grpSpPr>
          <a:xfrm>
            <a:off x="0" y="4107490"/>
            <a:ext cx="7220836" cy="7660017"/>
            <a:chOff x="50622" y="565912"/>
            <a:chExt cx="12141379" cy="7867533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EEE017F-AAF5-3A05-000C-360E0314EFBA}"/>
                </a:ext>
              </a:extLst>
            </p:cNvPr>
            <p:cNvSpPr/>
            <p:nvPr/>
          </p:nvSpPr>
          <p:spPr>
            <a:xfrm>
              <a:off x="50622" y="565912"/>
              <a:ext cx="12141379" cy="7867533"/>
            </a:xfrm>
            <a:prstGeom prst="rect">
              <a:avLst/>
            </a:prstGeom>
            <a:solidFill>
              <a:srgbClr val="4644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360" dirty="0">
                <a:ln>
                  <a:solidFill>
                    <a:schemeClr val="bg1">
                      <a:alpha val="0"/>
                    </a:schemeClr>
                  </a:solidFill>
                </a:ln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EEFF259F-BE7A-1D36-9422-9FE101722463}"/>
                </a:ext>
              </a:extLst>
            </p:cNvPr>
            <p:cNvGrpSpPr/>
            <p:nvPr/>
          </p:nvGrpSpPr>
          <p:grpSpPr>
            <a:xfrm>
              <a:off x="164209" y="7740451"/>
              <a:ext cx="5782060" cy="550501"/>
              <a:chOff x="164209" y="7740451"/>
              <a:chExt cx="5782060" cy="550501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778B60E-F419-4241-A8E5-461726F8009A}"/>
                  </a:ext>
                </a:extLst>
              </p:cNvPr>
              <p:cNvSpPr txBox="1"/>
              <p:nvPr/>
            </p:nvSpPr>
            <p:spPr>
              <a:xfrm>
                <a:off x="164209" y="7740451"/>
                <a:ext cx="5782060" cy="5505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1764"/>
                  </a:lnSpc>
                </a:pPr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                          </a:t>
                </a:r>
                <a:r>
                  <a:rPr lang="ko-KR" altLang="en-US" sz="1134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ㅣ</a:t>
                </a:r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 제휴문의</a:t>
                </a:r>
                <a:r>
                  <a:rPr lang="en-US" altLang="ko-KR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 Cleandeal@naver.com</a:t>
                </a:r>
              </a:p>
              <a:p>
                <a:pPr>
                  <a:lnSpc>
                    <a:spcPts val="1764"/>
                  </a:lnSpc>
                </a:pPr>
                <a:r>
                  <a:rPr lang="en-US" altLang="ko-KR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Watchout.com</a:t>
                </a:r>
                <a:r>
                  <a:rPr lang="ko-KR" altLang="en-US" sz="1134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ㅣ개인정보처리방침</a:t>
                </a:r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 </a:t>
                </a:r>
                <a:r>
                  <a:rPr lang="ko-KR" altLang="en-US" sz="1134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ㅣ</a:t>
                </a:r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 공지사항 </a:t>
                </a:r>
                <a:endParaRPr lang="en-US" altLang="ko-KR" sz="113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endParaRPr>
              </a:p>
            </p:txBody>
          </p:sp>
          <p:pic>
            <p:nvPicPr>
              <p:cNvPr id="31" name="그림 30">
                <a:extLst>
                  <a:ext uri="{FF2B5EF4-FFF2-40B4-BE49-F238E27FC236}">
                    <a16:creationId xmlns:a16="http://schemas.microsoft.com/office/drawing/2014/main" id="{EE6D92B6-A953-87EA-AF94-D1D36C5572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11979" y="7854918"/>
                <a:ext cx="1882290" cy="154570"/>
              </a:xfrm>
              <a:prstGeom prst="rect">
                <a:avLst/>
              </a:prstGeom>
            </p:spPr>
          </p:pic>
        </p:grp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D2F3A269-D897-34FD-CFD1-853E52808148}"/>
              </a:ext>
            </a:extLst>
          </p:cNvPr>
          <p:cNvSpPr txBox="1"/>
          <p:nvPr/>
        </p:nvSpPr>
        <p:spPr>
          <a:xfrm>
            <a:off x="782759" y="10066067"/>
            <a:ext cx="5633796" cy="61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해당 사이트는 광고와 후원으로만 운영이 됩니다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</a:p>
          <a:p>
            <a:pPr algn="ctr"/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애드블럭을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허용해주시면 사이트 운영에 큰 힘이 됩니다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감사합니다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</a:p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본 사이트는 콘텐츠를 보는데 방해되지 않는 위치에 광고를 설치했습니다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9C6AE18D-2176-263F-4D87-F50DB56FD892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457827" y="9817994"/>
            <a:ext cx="6348410" cy="1135871"/>
          </a:xfrm>
          <a:prstGeom prst="rect">
            <a:avLst/>
          </a:prstGeom>
        </p:spPr>
      </p:pic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E41C75E5-285F-7573-2E06-A3F19575702D}"/>
              </a:ext>
            </a:extLst>
          </p:cNvPr>
          <p:cNvSpPr/>
          <p:nvPr/>
        </p:nvSpPr>
        <p:spPr>
          <a:xfrm>
            <a:off x="442947" y="9809527"/>
            <a:ext cx="6348699" cy="1167866"/>
          </a:xfrm>
          <a:prstGeom prst="round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9C1D04E3-3518-39F1-5DD1-7F581EF8F081}"/>
              </a:ext>
            </a:extLst>
          </p:cNvPr>
          <p:cNvSpPr/>
          <p:nvPr/>
        </p:nvSpPr>
        <p:spPr>
          <a:xfrm>
            <a:off x="1255829" y="4535110"/>
            <a:ext cx="4713603" cy="31017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8D8E83D-F6A1-8AAC-F461-B439A1A31952}"/>
              </a:ext>
            </a:extLst>
          </p:cNvPr>
          <p:cNvSpPr txBox="1"/>
          <p:nvPr/>
        </p:nvSpPr>
        <p:spPr>
          <a:xfrm>
            <a:off x="1281775" y="4563908"/>
            <a:ext cx="4687659" cy="24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롤렉스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데이저스트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5BCDC82-BABD-1DA6-78A8-8F51DF287545}"/>
              </a:ext>
            </a:extLst>
          </p:cNvPr>
          <p:cNvSpPr txBox="1"/>
          <p:nvPr/>
        </p:nvSpPr>
        <p:spPr>
          <a:xfrm rot="20345079">
            <a:off x="1079943" y="4362823"/>
            <a:ext cx="299879" cy="27148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764" dirty="0"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ⓐ</a:t>
            </a:r>
            <a:endParaRPr lang="ko-KR" altLang="en-US" sz="189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BAF1FB1-B240-6893-916C-FAC8D9208882}"/>
              </a:ext>
            </a:extLst>
          </p:cNvPr>
          <p:cNvSpPr txBox="1"/>
          <p:nvPr/>
        </p:nvSpPr>
        <p:spPr>
          <a:xfrm rot="20345079">
            <a:off x="276544" y="9766700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Ⓒ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FB8F1CF-27E3-1D05-7E01-5EDC6DF30BA9}"/>
              </a:ext>
            </a:extLst>
          </p:cNvPr>
          <p:cNvSpPr txBox="1"/>
          <p:nvPr/>
        </p:nvSpPr>
        <p:spPr>
          <a:xfrm>
            <a:off x="-1" y="11799201"/>
            <a:ext cx="7199313" cy="4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ⓐ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브랜드명 및 제품명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검색창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가격 동향을 확인하고자 하는 브랜드와 제품명을 입력하는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검색창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705027A-6066-2741-F4DB-5754435F78D4}"/>
              </a:ext>
            </a:extLst>
          </p:cNvPr>
          <p:cNvSpPr txBox="1"/>
          <p:nvPr/>
        </p:nvSpPr>
        <p:spPr>
          <a:xfrm>
            <a:off x="-1" y="12302054"/>
            <a:ext cx="7199313" cy="693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ⓑ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가격 동향 결과 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최고 판매가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평균 판매가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최다 판매가를 확인할 수 있으며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시세 변동을 그래프 추이로 확인할 수 있음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 최대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3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개월 까지만 가능하며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유료전환시 혹은 광고시청시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1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년 까지 조회 가능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F183133-514B-7AC1-89FF-B7235C746917}"/>
              </a:ext>
            </a:extLst>
          </p:cNvPr>
          <p:cNvSpPr txBox="1"/>
          <p:nvPr/>
        </p:nvSpPr>
        <p:spPr>
          <a:xfrm>
            <a:off x="-1" y="12973521"/>
            <a:ext cx="7199313" cy="4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ⓒ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광고 삽입 자리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애드센스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)</a:t>
            </a: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메인페이지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광고 삽입 자리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광고를 끄면 나타나는 문구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78B43D3B-E47B-FB46-73E2-9A1DB1ADA09E}"/>
              </a:ext>
            </a:extLst>
          </p:cNvPr>
          <p:cNvGrpSpPr/>
          <p:nvPr/>
        </p:nvGrpSpPr>
        <p:grpSpPr>
          <a:xfrm>
            <a:off x="885678" y="5138781"/>
            <a:ext cx="1708870" cy="656327"/>
            <a:chOff x="703073" y="2831792"/>
            <a:chExt cx="1356545" cy="521009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8FEBD1A9-5E45-8173-DBDC-FE074310F8CD}"/>
                </a:ext>
              </a:extLst>
            </p:cNvPr>
            <p:cNvSpPr/>
            <p:nvPr/>
          </p:nvSpPr>
          <p:spPr>
            <a:xfrm>
              <a:off x="733728" y="2831792"/>
              <a:ext cx="1325890" cy="521009"/>
            </a:xfrm>
            <a:prstGeom prst="roundRect">
              <a:avLst>
                <a:gd name="adj" fmla="val 8109"/>
              </a:avLst>
            </a:prstGeom>
            <a:solidFill>
              <a:srgbClr val="1F1F22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8E85707-EF0A-56AA-4CDD-9C7F7F063053}"/>
                </a:ext>
              </a:extLst>
            </p:cNvPr>
            <p:cNvSpPr txBox="1"/>
            <p:nvPr/>
          </p:nvSpPr>
          <p:spPr>
            <a:xfrm>
              <a:off x="703073" y="2833370"/>
              <a:ext cx="1310271" cy="1964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8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최고 판매가 </a:t>
              </a:r>
              <a:r>
                <a:rPr lang="en-US" altLang="ko-KR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(</a:t>
              </a:r>
              <a:r>
                <a:rPr lang="ko-KR" altLang="en-US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최근 </a:t>
              </a:r>
              <a:r>
                <a:rPr lang="en-US" altLang="ko-KR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3</a:t>
              </a:r>
              <a:r>
                <a:rPr lang="ko-KR" altLang="en-US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개월</a:t>
              </a:r>
              <a:r>
                <a:rPr lang="en-US" altLang="ko-KR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)</a:t>
              </a:r>
              <a:endParaRPr lang="ko-KR" altLang="en-US" sz="1008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748827C-A520-7B66-D9E6-B31161CC6AB3}"/>
                </a:ext>
              </a:extLst>
            </p:cNvPr>
            <p:cNvSpPr txBox="1"/>
            <p:nvPr/>
          </p:nvSpPr>
          <p:spPr>
            <a:xfrm>
              <a:off x="713182" y="3017038"/>
              <a:ext cx="1325890" cy="288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76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20,000,000 </a:t>
              </a:r>
              <a:r>
                <a:rPr lang="ko-KR" altLang="en-US" sz="176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원</a:t>
              </a:r>
              <a:endParaRPr lang="ko-KR" altLang="en-US" sz="1764" dirty="0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0B0AA11-0B4C-1CE3-2F38-92DABB3F5CD5}"/>
              </a:ext>
            </a:extLst>
          </p:cNvPr>
          <p:cNvGrpSpPr/>
          <p:nvPr/>
        </p:nvGrpSpPr>
        <p:grpSpPr>
          <a:xfrm>
            <a:off x="2728819" y="5138780"/>
            <a:ext cx="1715792" cy="656327"/>
            <a:chOff x="2174009" y="2831791"/>
            <a:chExt cx="1362040" cy="521009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5A73C9A3-D684-EE03-F395-A9EBD8F9EE9B}"/>
                </a:ext>
              </a:extLst>
            </p:cNvPr>
            <p:cNvSpPr/>
            <p:nvPr/>
          </p:nvSpPr>
          <p:spPr>
            <a:xfrm>
              <a:off x="2210159" y="2831791"/>
              <a:ext cx="1325890" cy="521009"/>
            </a:xfrm>
            <a:prstGeom prst="roundRect">
              <a:avLst>
                <a:gd name="adj" fmla="val 8109"/>
              </a:avLst>
            </a:prstGeom>
            <a:solidFill>
              <a:srgbClr val="1F1F22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34F5BA1-EFB0-5E7A-BAF1-7692F8163F8C}"/>
                </a:ext>
              </a:extLst>
            </p:cNvPr>
            <p:cNvSpPr txBox="1"/>
            <p:nvPr/>
          </p:nvSpPr>
          <p:spPr>
            <a:xfrm>
              <a:off x="2189643" y="2834376"/>
              <a:ext cx="1310271" cy="1964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8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평균 판매가 </a:t>
              </a:r>
              <a:r>
                <a:rPr lang="en-US" altLang="ko-KR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(</a:t>
              </a:r>
              <a:r>
                <a:rPr lang="ko-KR" altLang="en-US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최근 </a:t>
              </a:r>
              <a:r>
                <a:rPr lang="en-US" altLang="ko-KR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3</a:t>
              </a:r>
              <a:r>
                <a:rPr lang="ko-KR" altLang="en-US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개월</a:t>
              </a:r>
              <a:r>
                <a:rPr lang="en-US" altLang="ko-KR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)</a:t>
              </a:r>
              <a:endParaRPr lang="ko-KR" altLang="en-US" sz="1008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4AB7DCB-1065-26E4-CAFE-DF9C19199F73}"/>
                </a:ext>
              </a:extLst>
            </p:cNvPr>
            <p:cNvSpPr txBox="1"/>
            <p:nvPr/>
          </p:nvSpPr>
          <p:spPr>
            <a:xfrm>
              <a:off x="2174009" y="3017038"/>
              <a:ext cx="1325890" cy="288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76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15,000,000 </a:t>
              </a:r>
              <a:r>
                <a:rPr lang="ko-KR" altLang="en-US" sz="176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원</a:t>
              </a:r>
              <a:endParaRPr lang="ko-KR" altLang="en-US" sz="1764" dirty="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ADF3D060-98DA-612C-8352-9B42A0A48E74}"/>
              </a:ext>
            </a:extLst>
          </p:cNvPr>
          <p:cNvGrpSpPr/>
          <p:nvPr/>
        </p:nvGrpSpPr>
        <p:grpSpPr>
          <a:xfrm>
            <a:off x="4578886" y="5137259"/>
            <a:ext cx="1696135" cy="657849"/>
            <a:chOff x="3634836" y="2830583"/>
            <a:chExt cx="1346436" cy="522217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5902627C-C66C-A7D6-5A26-7BE8385BC451}"/>
                </a:ext>
              </a:extLst>
            </p:cNvPr>
            <p:cNvSpPr/>
            <p:nvPr/>
          </p:nvSpPr>
          <p:spPr>
            <a:xfrm>
              <a:off x="3655382" y="2831791"/>
              <a:ext cx="1325890" cy="521009"/>
            </a:xfrm>
            <a:prstGeom prst="roundRect">
              <a:avLst>
                <a:gd name="adj" fmla="val 8109"/>
              </a:avLst>
            </a:prstGeom>
            <a:solidFill>
              <a:srgbClr val="1F1F22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FE20B4E-CADB-484A-006C-00F0F42FCC8C}"/>
                </a:ext>
              </a:extLst>
            </p:cNvPr>
            <p:cNvSpPr txBox="1"/>
            <p:nvPr/>
          </p:nvSpPr>
          <p:spPr>
            <a:xfrm>
              <a:off x="3650455" y="2830583"/>
              <a:ext cx="1310271" cy="1964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8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최다 판매가 </a:t>
              </a:r>
              <a:r>
                <a:rPr lang="en-US" altLang="ko-KR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(</a:t>
              </a:r>
              <a:r>
                <a:rPr lang="ko-KR" altLang="en-US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최근 </a:t>
              </a:r>
              <a:r>
                <a:rPr lang="en-US" altLang="ko-KR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3</a:t>
              </a:r>
              <a:r>
                <a:rPr lang="ko-KR" altLang="en-US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개월</a:t>
              </a:r>
              <a:r>
                <a:rPr lang="en-US" altLang="ko-KR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)</a:t>
              </a:r>
              <a:endParaRPr lang="ko-KR" altLang="en-US" sz="1008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38C47E2-032C-9E9D-888B-4410F68F1506}"/>
                </a:ext>
              </a:extLst>
            </p:cNvPr>
            <p:cNvSpPr txBox="1"/>
            <p:nvPr/>
          </p:nvSpPr>
          <p:spPr>
            <a:xfrm>
              <a:off x="3634836" y="3017038"/>
              <a:ext cx="1325890" cy="288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76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16,000,000 </a:t>
              </a:r>
              <a:r>
                <a:rPr lang="ko-KR" altLang="en-US" sz="176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원</a:t>
              </a:r>
              <a:endParaRPr lang="ko-KR" altLang="en-US" sz="1764" dirty="0"/>
            </a:p>
          </p:txBody>
        </p:sp>
      </p:grp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69C8AF80-8610-F2C7-9B6F-20F0EDF7DB15}"/>
              </a:ext>
            </a:extLst>
          </p:cNvPr>
          <p:cNvSpPr/>
          <p:nvPr/>
        </p:nvSpPr>
        <p:spPr>
          <a:xfrm>
            <a:off x="924293" y="5953988"/>
            <a:ext cx="5350726" cy="2976531"/>
          </a:xfrm>
          <a:prstGeom prst="roundRect">
            <a:avLst>
              <a:gd name="adj" fmla="val 2627"/>
            </a:avLst>
          </a:prstGeom>
          <a:solidFill>
            <a:srgbClr val="1F1F22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E3D6E0-9193-8941-2E24-6E167A4B1A52}"/>
              </a:ext>
            </a:extLst>
          </p:cNvPr>
          <p:cNvSpPr txBox="1"/>
          <p:nvPr/>
        </p:nvSpPr>
        <p:spPr>
          <a:xfrm>
            <a:off x="902819" y="6000334"/>
            <a:ext cx="1650577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시세 변동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3C25DBC0-6E81-305D-6948-3BAD340BFE5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8216"/>
          <a:stretch/>
        </p:blipFill>
        <p:spPr>
          <a:xfrm>
            <a:off x="1010199" y="6271736"/>
            <a:ext cx="5159631" cy="2572656"/>
          </a:xfrm>
          <a:prstGeom prst="rect">
            <a:avLst/>
          </a:prstGeom>
        </p:spPr>
      </p:pic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7648360-F083-C884-66DD-8BBBE1EB127E}"/>
              </a:ext>
            </a:extLst>
          </p:cNvPr>
          <p:cNvSpPr/>
          <p:nvPr/>
        </p:nvSpPr>
        <p:spPr>
          <a:xfrm>
            <a:off x="5936379" y="8093843"/>
            <a:ext cx="136747" cy="123362"/>
          </a:xfrm>
          <a:prstGeom prst="roundRect">
            <a:avLst/>
          </a:prstGeom>
          <a:solidFill>
            <a:srgbClr val="2D2D2F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756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0A4896D8-8C6C-5BA6-B3FB-16895F113827}"/>
              </a:ext>
            </a:extLst>
          </p:cNvPr>
          <p:cNvSpPr/>
          <p:nvPr/>
        </p:nvSpPr>
        <p:spPr>
          <a:xfrm>
            <a:off x="4444615" y="6014509"/>
            <a:ext cx="1725219" cy="146322"/>
          </a:xfrm>
          <a:prstGeom prst="roundRect">
            <a:avLst/>
          </a:prstGeom>
          <a:solidFill>
            <a:srgbClr val="464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64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B9794D-DB0C-95F8-7F5E-68117C3B9D14}"/>
              </a:ext>
            </a:extLst>
          </p:cNvPr>
          <p:cNvSpPr txBox="1"/>
          <p:nvPr/>
        </p:nvSpPr>
        <p:spPr>
          <a:xfrm>
            <a:off x="4419661" y="5988893"/>
            <a:ext cx="664248" cy="169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0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날짜 입력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021BF4DE-15B9-6280-7611-537E02994D3C}"/>
              </a:ext>
            </a:extLst>
          </p:cNvPr>
          <p:cNvSpPr/>
          <p:nvPr/>
        </p:nvSpPr>
        <p:spPr>
          <a:xfrm>
            <a:off x="4905350" y="6033572"/>
            <a:ext cx="446418" cy="112173"/>
          </a:xfrm>
          <a:prstGeom prst="roundRect">
            <a:avLst/>
          </a:prstGeom>
          <a:solidFill>
            <a:srgbClr val="1F1F2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4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20240224</a:t>
            </a:r>
            <a:endParaRPr lang="ko-KR" altLang="en-US" sz="504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D2542AF3-89BA-52FA-1CF3-9C7C946E444B}"/>
              </a:ext>
            </a:extLst>
          </p:cNvPr>
          <p:cNvSpPr/>
          <p:nvPr/>
        </p:nvSpPr>
        <p:spPr>
          <a:xfrm>
            <a:off x="5599239" y="6031546"/>
            <a:ext cx="446418" cy="112173"/>
          </a:xfrm>
          <a:prstGeom prst="roundRect">
            <a:avLst/>
          </a:prstGeom>
          <a:solidFill>
            <a:srgbClr val="1F1F2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4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20240308</a:t>
            </a:r>
            <a:endParaRPr lang="ko-KR" altLang="en-US" sz="504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BA3184C-C4AB-B8C7-9DB9-0D3A2EFB8D2F}"/>
              </a:ext>
            </a:extLst>
          </p:cNvPr>
          <p:cNvSpPr txBox="1"/>
          <p:nvPr/>
        </p:nvSpPr>
        <p:spPr>
          <a:xfrm>
            <a:off x="5331380" y="5977306"/>
            <a:ext cx="327426" cy="208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56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~</a:t>
            </a:r>
            <a:endParaRPr lang="ko-KR" altLang="en-US" sz="1764" dirty="0"/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9B69B889-1032-F303-D572-33953FF9B979}"/>
              </a:ext>
            </a:extLst>
          </p:cNvPr>
          <p:cNvGrpSpPr/>
          <p:nvPr/>
        </p:nvGrpSpPr>
        <p:grpSpPr>
          <a:xfrm>
            <a:off x="4444615" y="6216688"/>
            <a:ext cx="1725219" cy="146322"/>
            <a:chOff x="5588310" y="3554665"/>
            <a:chExt cx="1595942" cy="173138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02E91D98-DE1E-3F20-FD0F-546A4CD1B1D9}"/>
                </a:ext>
              </a:extLst>
            </p:cNvPr>
            <p:cNvSpPr/>
            <p:nvPr/>
          </p:nvSpPr>
          <p:spPr>
            <a:xfrm>
              <a:off x="5588310" y="3554665"/>
              <a:ext cx="1595942" cy="173138"/>
            </a:xfrm>
            <a:prstGeom prst="roundRect">
              <a:avLst/>
            </a:prstGeom>
            <a:solidFill>
              <a:srgbClr val="4644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64"/>
            </a:p>
          </p:txBody>
        </p: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3ECA0765-6020-2242-32EC-7DA5EEF5B563}"/>
                </a:ext>
              </a:extLst>
            </p:cNvPr>
            <p:cNvSpPr/>
            <p:nvPr/>
          </p:nvSpPr>
          <p:spPr>
            <a:xfrm>
              <a:off x="6544345" y="3587638"/>
              <a:ext cx="253370" cy="10719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4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3</a:t>
              </a:r>
              <a:r>
                <a:rPr lang="ko-KR" altLang="en-US" sz="504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개월</a:t>
              </a:r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63D73B1E-BEF7-1F64-68DE-D1275F4D52D7}"/>
                </a:ext>
              </a:extLst>
            </p:cNvPr>
            <p:cNvSpPr/>
            <p:nvPr/>
          </p:nvSpPr>
          <p:spPr>
            <a:xfrm>
              <a:off x="6816015" y="3587638"/>
              <a:ext cx="253370" cy="10719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4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1</a:t>
              </a:r>
              <a:r>
                <a:rPr lang="ko-KR" altLang="en-US" sz="504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년</a:t>
              </a:r>
            </a:p>
          </p:txBody>
        </p: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CF28A8A4-DF19-9F72-57A2-48468861FC91}"/>
                </a:ext>
              </a:extLst>
            </p:cNvPr>
            <p:cNvSpPr/>
            <p:nvPr/>
          </p:nvSpPr>
          <p:spPr>
            <a:xfrm>
              <a:off x="6279435" y="3587638"/>
              <a:ext cx="253370" cy="10719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4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1</a:t>
              </a:r>
              <a:r>
                <a:rPr lang="ko-KR" altLang="en-US" sz="504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개월</a:t>
              </a:r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269DD345-19B3-F4A0-8D6E-B14EDC71A6C6}"/>
                </a:ext>
              </a:extLst>
            </p:cNvPr>
            <p:cNvSpPr/>
            <p:nvPr/>
          </p:nvSpPr>
          <p:spPr>
            <a:xfrm>
              <a:off x="6014525" y="3586853"/>
              <a:ext cx="253370" cy="107191"/>
            </a:xfrm>
            <a:prstGeom prst="roundRect">
              <a:avLst/>
            </a:prstGeom>
            <a:solidFill>
              <a:srgbClr val="1F1F22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504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금주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247C8F13-3B8D-7D6C-872F-37693CB389A7}"/>
              </a:ext>
            </a:extLst>
          </p:cNvPr>
          <p:cNvSpPr txBox="1"/>
          <p:nvPr/>
        </p:nvSpPr>
        <p:spPr>
          <a:xfrm>
            <a:off x="4419662" y="6191626"/>
            <a:ext cx="503871" cy="169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0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날짜 선택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119D243-6696-95E8-C4CB-83B5701F1788}"/>
              </a:ext>
            </a:extLst>
          </p:cNvPr>
          <p:cNvSpPr txBox="1"/>
          <p:nvPr/>
        </p:nvSpPr>
        <p:spPr>
          <a:xfrm>
            <a:off x="826875" y="8921940"/>
            <a:ext cx="5496635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가격 동향 데이터는 최대 과거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3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개월 까지만 추적 됩니다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008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광고시청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시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1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년 까지 추적됩니다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B08AEA2-DC85-DBAD-6B6F-4D4820ED52D1}"/>
              </a:ext>
            </a:extLst>
          </p:cNvPr>
          <p:cNvSpPr/>
          <p:nvPr/>
        </p:nvSpPr>
        <p:spPr>
          <a:xfrm>
            <a:off x="2739958" y="9269965"/>
            <a:ext cx="1721466" cy="381231"/>
          </a:xfrm>
          <a:prstGeom prst="roundRect">
            <a:avLst>
              <a:gd name="adj" fmla="val 298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    게시물 </a:t>
            </a:r>
            <a:r>
              <a:rPr lang="ko-KR" altLang="en-US" sz="1323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알람설정</a:t>
            </a:r>
            <a:endParaRPr lang="ko-KR" altLang="en-US" sz="1323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</p:txBody>
      </p:sp>
      <p:pic>
        <p:nvPicPr>
          <p:cNvPr id="34" name="Picture 6" descr="경고 - 무료 음악개 아이콘">
            <a:extLst>
              <a:ext uri="{FF2B5EF4-FFF2-40B4-BE49-F238E27FC236}">
                <a16:creationId xmlns:a16="http://schemas.microsoft.com/office/drawing/2014/main" id="{158DD77B-F5B2-0892-1E28-C41B86AF7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925" y="9269961"/>
            <a:ext cx="383928" cy="383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B97223F1-B2CD-7F85-78B4-9CB9A5B374B3}"/>
              </a:ext>
            </a:extLst>
          </p:cNvPr>
          <p:cNvSpPr txBox="1"/>
          <p:nvPr/>
        </p:nvSpPr>
        <p:spPr>
          <a:xfrm rot="20345079">
            <a:off x="735740" y="5036115"/>
            <a:ext cx="299879" cy="27148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764" dirty="0"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ⓑ</a:t>
            </a:r>
            <a:endParaRPr lang="ko-KR" altLang="en-US" sz="1890" dirty="0"/>
          </a:p>
        </p:txBody>
      </p:sp>
    </p:spTree>
    <p:extLst>
      <p:ext uri="{BB962C8B-B14F-4D97-AF65-F5344CB8AC3E}">
        <p14:creationId xmlns:p14="http://schemas.microsoft.com/office/powerpoint/2010/main" val="11186027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7DF337-5CB7-F656-AA97-06D83E3367AA}"/>
              </a:ext>
            </a:extLst>
          </p:cNvPr>
          <p:cNvSpPr txBox="1"/>
          <p:nvPr/>
        </p:nvSpPr>
        <p:spPr>
          <a:xfrm>
            <a:off x="4" y="2128055"/>
            <a:ext cx="11376691" cy="363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3. </a:t>
            </a:r>
            <a:r>
              <a:rPr lang="ko-KR" altLang="en-US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가격동향 페이지 </a:t>
            </a:r>
            <a:r>
              <a:rPr lang="en-US" altLang="ko-KR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(1)</a:t>
            </a:r>
            <a:endParaRPr lang="ko-KR" altLang="en-US" sz="1386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B4A576-43BE-EC4F-2D42-3A30B24EB2AE}"/>
              </a:ext>
            </a:extLst>
          </p:cNvPr>
          <p:cNvSpPr txBox="1"/>
          <p:nvPr/>
        </p:nvSpPr>
        <p:spPr>
          <a:xfrm>
            <a:off x="1" y="2758119"/>
            <a:ext cx="7220836" cy="3055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19952" indent="-319952">
              <a:buFontTx/>
              <a:buChar char="-"/>
            </a:pP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가격 동향 검색창에 검색을 한 후 나타나는 페이지</a:t>
            </a:r>
            <a:endParaRPr lang="en-US" altLang="ko-KR" sz="1386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C9BDFCA-E662-8E64-AFDD-33988FD42B23}"/>
              </a:ext>
            </a:extLst>
          </p:cNvPr>
          <p:cNvCxnSpPr>
            <a:cxnSpLocks/>
          </p:cNvCxnSpPr>
          <p:nvPr/>
        </p:nvCxnSpPr>
        <p:spPr>
          <a:xfrm>
            <a:off x="-1" y="3328587"/>
            <a:ext cx="7199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B3A749B-1993-105E-A004-A74CFBCD2F8C}"/>
              </a:ext>
            </a:extLst>
          </p:cNvPr>
          <p:cNvGrpSpPr/>
          <p:nvPr/>
        </p:nvGrpSpPr>
        <p:grpSpPr>
          <a:xfrm>
            <a:off x="-1" y="3354522"/>
            <a:ext cx="7199313" cy="617932"/>
            <a:chOff x="-6173610" y="696003"/>
            <a:chExt cx="14698254" cy="1261580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454F5FAA-A0B5-6C6E-9F2A-3D8393BB7E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1" r="251"/>
            <a:stretch/>
          </p:blipFill>
          <p:spPr>
            <a:xfrm>
              <a:off x="-6173610" y="696003"/>
              <a:ext cx="14698254" cy="672969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DABE599-2595-B317-5B0A-31081BC5BB70}"/>
                </a:ext>
              </a:extLst>
            </p:cNvPr>
            <p:cNvSpPr txBox="1"/>
            <p:nvPr/>
          </p:nvSpPr>
          <p:spPr>
            <a:xfrm>
              <a:off x="-5639772" y="1580192"/>
              <a:ext cx="813773" cy="2771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사기검증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8C332F-4023-E451-8F68-66D94FF70388}"/>
                </a:ext>
              </a:extLst>
            </p:cNvPr>
            <p:cNvSpPr txBox="1"/>
            <p:nvPr/>
          </p:nvSpPr>
          <p:spPr>
            <a:xfrm>
              <a:off x="-4384543" y="1583681"/>
              <a:ext cx="813773" cy="2771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사기제보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B23A426-8468-2E00-8402-A9ECCF033288}"/>
                </a:ext>
              </a:extLst>
            </p:cNvPr>
            <p:cNvSpPr txBox="1"/>
            <p:nvPr/>
          </p:nvSpPr>
          <p:spPr>
            <a:xfrm>
              <a:off x="-3129315" y="1578190"/>
              <a:ext cx="813773" cy="2771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가격동향</a:t>
              </a: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94115EC-492C-E148-B00D-E1ECE0E97978}"/>
                </a:ext>
              </a:extLst>
            </p:cNvPr>
            <p:cNvGrpSpPr/>
            <p:nvPr/>
          </p:nvGrpSpPr>
          <p:grpSpPr>
            <a:xfrm>
              <a:off x="6305768" y="1507170"/>
              <a:ext cx="2101649" cy="450413"/>
              <a:chOff x="3389868" y="3051668"/>
              <a:chExt cx="3445082" cy="738331"/>
            </a:xfrm>
          </p:grpSpPr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18CB257C-C944-7E81-8414-14A192538FF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biLevel thresh="75000"/>
              </a:blip>
              <a:srcRect b="44835"/>
              <a:stretch/>
            </p:blipFill>
            <p:spPr>
              <a:xfrm>
                <a:off x="3389868" y="3051668"/>
                <a:ext cx="1981373" cy="615459"/>
              </a:xfrm>
              <a:prstGeom prst="rect">
                <a:avLst/>
              </a:prstGeom>
            </p:spPr>
          </p:pic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FAFB2129-3F6C-CDF9-99BA-CFE193B2AC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biLevel thresh="75000"/>
              </a:blip>
              <a:srcRect t="54228" b="-9393"/>
              <a:stretch/>
            </p:blipFill>
            <p:spPr>
              <a:xfrm>
                <a:off x="4853577" y="3174540"/>
                <a:ext cx="1981373" cy="615459"/>
              </a:xfrm>
              <a:prstGeom prst="rect">
                <a:avLst/>
              </a:prstGeom>
            </p:spPr>
          </p:pic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9EF53D64-DACB-48C9-0DF6-148587658127}"/>
              </a:ext>
            </a:extLst>
          </p:cNvPr>
          <p:cNvGrpSpPr/>
          <p:nvPr/>
        </p:nvGrpSpPr>
        <p:grpSpPr>
          <a:xfrm>
            <a:off x="0" y="4107490"/>
            <a:ext cx="7220836" cy="7660017"/>
            <a:chOff x="50622" y="565912"/>
            <a:chExt cx="12141379" cy="7867533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EEE017F-AAF5-3A05-000C-360E0314EFBA}"/>
                </a:ext>
              </a:extLst>
            </p:cNvPr>
            <p:cNvSpPr/>
            <p:nvPr/>
          </p:nvSpPr>
          <p:spPr>
            <a:xfrm>
              <a:off x="50622" y="565912"/>
              <a:ext cx="12141379" cy="7867533"/>
            </a:xfrm>
            <a:prstGeom prst="rect">
              <a:avLst/>
            </a:prstGeom>
            <a:solidFill>
              <a:srgbClr val="4644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360" dirty="0">
                <a:ln>
                  <a:solidFill>
                    <a:schemeClr val="bg1">
                      <a:alpha val="0"/>
                    </a:schemeClr>
                  </a:solidFill>
                </a:ln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EEFF259F-BE7A-1D36-9422-9FE101722463}"/>
                </a:ext>
              </a:extLst>
            </p:cNvPr>
            <p:cNvGrpSpPr/>
            <p:nvPr/>
          </p:nvGrpSpPr>
          <p:grpSpPr>
            <a:xfrm>
              <a:off x="164209" y="7740451"/>
              <a:ext cx="5782060" cy="550501"/>
              <a:chOff x="164209" y="7740451"/>
              <a:chExt cx="5782060" cy="550501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778B60E-F419-4241-A8E5-461726F8009A}"/>
                  </a:ext>
                </a:extLst>
              </p:cNvPr>
              <p:cNvSpPr txBox="1"/>
              <p:nvPr/>
            </p:nvSpPr>
            <p:spPr>
              <a:xfrm>
                <a:off x="164209" y="7740451"/>
                <a:ext cx="5782060" cy="5505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1764"/>
                  </a:lnSpc>
                </a:pPr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                          </a:t>
                </a:r>
                <a:r>
                  <a:rPr lang="ko-KR" altLang="en-US" sz="1134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ㅣ</a:t>
                </a:r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 제휴문의</a:t>
                </a:r>
                <a:r>
                  <a:rPr lang="en-US" altLang="ko-KR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 Cleandeal@naver.com</a:t>
                </a:r>
              </a:p>
              <a:p>
                <a:pPr>
                  <a:lnSpc>
                    <a:spcPts val="1764"/>
                  </a:lnSpc>
                </a:pPr>
                <a:r>
                  <a:rPr lang="en-US" altLang="ko-KR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Watchout.com</a:t>
                </a:r>
                <a:r>
                  <a:rPr lang="ko-KR" altLang="en-US" sz="1134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ㅣ개인정보처리방침</a:t>
                </a:r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 </a:t>
                </a:r>
                <a:r>
                  <a:rPr lang="ko-KR" altLang="en-US" sz="1134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ㅣ</a:t>
                </a:r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 공지사항 </a:t>
                </a:r>
                <a:endParaRPr lang="en-US" altLang="ko-KR" sz="113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endParaRPr>
              </a:p>
            </p:txBody>
          </p:sp>
          <p:pic>
            <p:nvPicPr>
              <p:cNvPr id="31" name="그림 30">
                <a:extLst>
                  <a:ext uri="{FF2B5EF4-FFF2-40B4-BE49-F238E27FC236}">
                    <a16:creationId xmlns:a16="http://schemas.microsoft.com/office/drawing/2014/main" id="{EE6D92B6-A953-87EA-AF94-D1D36C5572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11979" y="7854918"/>
                <a:ext cx="1882290" cy="154570"/>
              </a:xfrm>
              <a:prstGeom prst="rect">
                <a:avLst/>
              </a:prstGeom>
            </p:spPr>
          </p:pic>
        </p:grp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D2F3A269-D897-34FD-CFD1-853E52808148}"/>
              </a:ext>
            </a:extLst>
          </p:cNvPr>
          <p:cNvSpPr txBox="1"/>
          <p:nvPr/>
        </p:nvSpPr>
        <p:spPr>
          <a:xfrm>
            <a:off x="782759" y="10066067"/>
            <a:ext cx="5633796" cy="61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해당 사이트는 광고와 후원으로만 운영이 됩니다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</a:p>
          <a:p>
            <a:pPr algn="ctr"/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애드블럭을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허용해주시면 사이트 운영에 큰 힘이 됩니다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감사합니다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</a:p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본 사이트는 콘텐츠를 보는데 방해되지 않는 위치에 광고를 설치했습니다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9C6AE18D-2176-263F-4D87-F50DB56FD892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457827" y="9817994"/>
            <a:ext cx="6348410" cy="1135871"/>
          </a:xfrm>
          <a:prstGeom prst="rect">
            <a:avLst/>
          </a:prstGeom>
        </p:spPr>
      </p:pic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E41C75E5-285F-7573-2E06-A3F19575702D}"/>
              </a:ext>
            </a:extLst>
          </p:cNvPr>
          <p:cNvSpPr/>
          <p:nvPr/>
        </p:nvSpPr>
        <p:spPr>
          <a:xfrm>
            <a:off x="442947" y="9809527"/>
            <a:ext cx="6348699" cy="1167866"/>
          </a:xfrm>
          <a:prstGeom prst="round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9C1D04E3-3518-39F1-5DD1-7F581EF8F081}"/>
              </a:ext>
            </a:extLst>
          </p:cNvPr>
          <p:cNvSpPr/>
          <p:nvPr/>
        </p:nvSpPr>
        <p:spPr>
          <a:xfrm>
            <a:off x="1255829" y="4535110"/>
            <a:ext cx="4713603" cy="31017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8D8E83D-F6A1-8AAC-F461-B439A1A31952}"/>
              </a:ext>
            </a:extLst>
          </p:cNvPr>
          <p:cNvSpPr txBox="1"/>
          <p:nvPr/>
        </p:nvSpPr>
        <p:spPr>
          <a:xfrm>
            <a:off x="1281775" y="4563908"/>
            <a:ext cx="4687659" cy="24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롤렉스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데이저스트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36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FB8F1CF-27E3-1D05-7E01-5EDC6DF30BA9}"/>
              </a:ext>
            </a:extLst>
          </p:cNvPr>
          <p:cNvSpPr txBox="1"/>
          <p:nvPr/>
        </p:nvSpPr>
        <p:spPr>
          <a:xfrm>
            <a:off x="-1" y="11799203"/>
            <a:ext cx="7199313" cy="693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ⓐ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게시물 알람 설정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사용자가 설정한 조건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특정 가격 이상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~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이하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제품 및 브랜드명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)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에 맞는 게시물이 게시된 경우 사용자의 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개인 연락처로 알람을 보내는 기능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버튼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클릭시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세부 설정 가능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78B43D3B-E47B-FB46-73E2-9A1DB1ADA09E}"/>
              </a:ext>
            </a:extLst>
          </p:cNvPr>
          <p:cNvGrpSpPr/>
          <p:nvPr/>
        </p:nvGrpSpPr>
        <p:grpSpPr>
          <a:xfrm>
            <a:off x="885678" y="5138781"/>
            <a:ext cx="1708870" cy="656327"/>
            <a:chOff x="703073" y="2831792"/>
            <a:chExt cx="1356545" cy="521009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8FEBD1A9-5E45-8173-DBDC-FE074310F8CD}"/>
                </a:ext>
              </a:extLst>
            </p:cNvPr>
            <p:cNvSpPr/>
            <p:nvPr/>
          </p:nvSpPr>
          <p:spPr>
            <a:xfrm>
              <a:off x="733728" y="2831792"/>
              <a:ext cx="1325890" cy="521009"/>
            </a:xfrm>
            <a:prstGeom prst="roundRect">
              <a:avLst>
                <a:gd name="adj" fmla="val 8109"/>
              </a:avLst>
            </a:prstGeom>
            <a:solidFill>
              <a:srgbClr val="1F1F22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8E85707-EF0A-56AA-4CDD-9C7F7F063053}"/>
                </a:ext>
              </a:extLst>
            </p:cNvPr>
            <p:cNvSpPr txBox="1"/>
            <p:nvPr/>
          </p:nvSpPr>
          <p:spPr>
            <a:xfrm>
              <a:off x="703073" y="2833370"/>
              <a:ext cx="1310271" cy="1964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8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최고 판매가 </a:t>
              </a:r>
              <a:r>
                <a:rPr lang="en-US" altLang="ko-KR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(</a:t>
              </a:r>
              <a:r>
                <a:rPr lang="ko-KR" altLang="en-US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최근 </a:t>
              </a:r>
              <a:r>
                <a:rPr lang="en-US" altLang="ko-KR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3</a:t>
              </a:r>
              <a:r>
                <a:rPr lang="ko-KR" altLang="en-US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개월</a:t>
              </a:r>
              <a:r>
                <a:rPr lang="en-US" altLang="ko-KR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)</a:t>
              </a:r>
              <a:endParaRPr lang="ko-KR" altLang="en-US" sz="1008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748827C-A520-7B66-D9E6-B31161CC6AB3}"/>
                </a:ext>
              </a:extLst>
            </p:cNvPr>
            <p:cNvSpPr txBox="1"/>
            <p:nvPr/>
          </p:nvSpPr>
          <p:spPr>
            <a:xfrm>
              <a:off x="713182" y="3017038"/>
              <a:ext cx="1325890" cy="288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76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20,000,000 </a:t>
              </a:r>
              <a:r>
                <a:rPr lang="ko-KR" altLang="en-US" sz="176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원</a:t>
              </a:r>
              <a:endParaRPr lang="ko-KR" altLang="en-US" sz="1764" dirty="0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0B0AA11-0B4C-1CE3-2F38-92DABB3F5CD5}"/>
              </a:ext>
            </a:extLst>
          </p:cNvPr>
          <p:cNvGrpSpPr/>
          <p:nvPr/>
        </p:nvGrpSpPr>
        <p:grpSpPr>
          <a:xfrm>
            <a:off x="2728819" y="5138780"/>
            <a:ext cx="1715792" cy="656327"/>
            <a:chOff x="2174009" y="2831791"/>
            <a:chExt cx="1362040" cy="521009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5A73C9A3-D684-EE03-F395-A9EBD8F9EE9B}"/>
                </a:ext>
              </a:extLst>
            </p:cNvPr>
            <p:cNvSpPr/>
            <p:nvPr/>
          </p:nvSpPr>
          <p:spPr>
            <a:xfrm>
              <a:off x="2210159" y="2831791"/>
              <a:ext cx="1325890" cy="521009"/>
            </a:xfrm>
            <a:prstGeom prst="roundRect">
              <a:avLst>
                <a:gd name="adj" fmla="val 8109"/>
              </a:avLst>
            </a:prstGeom>
            <a:solidFill>
              <a:srgbClr val="1F1F22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34F5BA1-EFB0-5E7A-BAF1-7692F8163F8C}"/>
                </a:ext>
              </a:extLst>
            </p:cNvPr>
            <p:cNvSpPr txBox="1"/>
            <p:nvPr/>
          </p:nvSpPr>
          <p:spPr>
            <a:xfrm>
              <a:off x="2189643" y="2834376"/>
              <a:ext cx="1310271" cy="1964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8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평균 판매가 </a:t>
              </a:r>
              <a:r>
                <a:rPr lang="en-US" altLang="ko-KR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(</a:t>
              </a:r>
              <a:r>
                <a:rPr lang="ko-KR" altLang="en-US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최근 </a:t>
              </a:r>
              <a:r>
                <a:rPr lang="en-US" altLang="ko-KR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3</a:t>
              </a:r>
              <a:r>
                <a:rPr lang="ko-KR" altLang="en-US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개월</a:t>
              </a:r>
              <a:r>
                <a:rPr lang="en-US" altLang="ko-KR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)</a:t>
              </a:r>
              <a:endParaRPr lang="ko-KR" altLang="en-US" sz="1008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4AB7DCB-1065-26E4-CAFE-DF9C19199F73}"/>
                </a:ext>
              </a:extLst>
            </p:cNvPr>
            <p:cNvSpPr txBox="1"/>
            <p:nvPr/>
          </p:nvSpPr>
          <p:spPr>
            <a:xfrm>
              <a:off x="2174009" y="3017038"/>
              <a:ext cx="1325890" cy="288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76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15,000,000 </a:t>
              </a:r>
              <a:r>
                <a:rPr lang="ko-KR" altLang="en-US" sz="176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원</a:t>
              </a:r>
              <a:endParaRPr lang="ko-KR" altLang="en-US" sz="1764" dirty="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ADF3D060-98DA-612C-8352-9B42A0A48E74}"/>
              </a:ext>
            </a:extLst>
          </p:cNvPr>
          <p:cNvGrpSpPr/>
          <p:nvPr/>
        </p:nvGrpSpPr>
        <p:grpSpPr>
          <a:xfrm>
            <a:off x="4578886" y="5137259"/>
            <a:ext cx="1696135" cy="657849"/>
            <a:chOff x="3634836" y="2830583"/>
            <a:chExt cx="1346436" cy="522217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5902627C-C66C-A7D6-5A26-7BE8385BC451}"/>
                </a:ext>
              </a:extLst>
            </p:cNvPr>
            <p:cNvSpPr/>
            <p:nvPr/>
          </p:nvSpPr>
          <p:spPr>
            <a:xfrm>
              <a:off x="3655382" y="2831791"/>
              <a:ext cx="1325890" cy="521009"/>
            </a:xfrm>
            <a:prstGeom prst="roundRect">
              <a:avLst>
                <a:gd name="adj" fmla="val 8109"/>
              </a:avLst>
            </a:prstGeom>
            <a:solidFill>
              <a:srgbClr val="1F1F22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FE20B4E-CADB-484A-006C-00F0F42FCC8C}"/>
                </a:ext>
              </a:extLst>
            </p:cNvPr>
            <p:cNvSpPr txBox="1"/>
            <p:nvPr/>
          </p:nvSpPr>
          <p:spPr>
            <a:xfrm>
              <a:off x="3650455" y="2830583"/>
              <a:ext cx="1310271" cy="1964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8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최다 판매가 </a:t>
              </a:r>
              <a:r>
                <a:rPr lang="en-US" altLang="ko-KR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(</a:t>
              </a:r>
              <a:r>
                <a:rPr lang="ko-KR" altLang="en-US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최근 </a:t>
              </a:r>
              <a:r>
                <a:rPr lang="en-US" altLang="ko-KR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3</a:t>
              </a:r>
              <a:r>
                <a:rPr lang="ko-KR" altLang="en-US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개월</a:t>
              </a:r>
              <a:r>
                <a:rPr lang="en-US" altLang="ko-KR" sz="756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)</a:t>
              </a:r>
              <a:endParaRPr lang="ko-KR" altLang="en-US" sz="1008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38C47E2-032C-9E9D-888B-4410F68F1506}"/>
                </a:ext>
              </a:extLst>
            </p:cNvPr>
            <p:cNvSpPr txBox="1"/>
            <p:nvPr/>
          </p:nvSpPr>
          <p:spPr>
            <a:xfrm>
              <a:off x="3634836" y="3017038"/>
              <a:ext cx="1325890" cy="288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76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16,000,000 </a:t>
              </a:r>
              <a:r>
                <a:rPr lang="ko-KR" altLang="en-US" sz="176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원</a:t>
              </a:r>
              <a:endParaRPr lang="ko-KR" altLang="en-US" sz="1764" dirty="0"/>
            </a:p>
          </p:txBody>
        </p:sp>
      </p:grp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69C8AF80-8610-F2C7-9B6F-20F0EDF7DB15}"/>
              </a:ext>
            </a:extLst>
          </p:cNvPr>
          <p:cNvSpPr/>
          <p:nvPr/>
        </p:nvSpPr>
        <p:spPr>
          <a:xfrm>
            <a:off x="924293" y="5953988"/>
            <a:ext cx="5350726" cy="2976531"/>
          </a:xfrm>
          <a:prstGeom prst="roundRect">
            <a:avLst>
              <a:gd name="adj" fmla="val 2627"/>
            </a:avLst>
          </a:prstGeom>
          <a:solidFill>
            <a:srgbClr val="1F1F22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E3D6E0-9193-8941-2E24-6E167A4B1A52}"/>
              </a:ext>
            </a:extLst>
          </p:cNvPr>
          <p:cNvSpPr txBox="1"/>
          <p:nvPr/>
        </p:nvSpPr>
        <p:spPr>
          <a:xfrm>
            <a:off x="902819" y="6000334"/>
            <a:ext cx="1650577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시세 변동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3C25DBC0-6E81-305D-6948-3BAD340BFE5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8216"/>
          <a:stretch/>
        </p:blipFill>
        <p:spPr>
          <a:xfrm>
            <a:off x="1010199" y="6271736"/>
            <a:ext cx="5159631" cy="2572656"/>
          </a:xfrm>
          <a:prstGeom prst="rect">
            <a:avLst/>
          </a:prstGeom>
        </p:spPr>
      </p:pic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7648360-F083-C884-66DD-8BBBE1EB127E}"/>
              </a:ext>
            </a:extLst>
          </p:cNvPr>
          <p:cNvSpPr/>
          <p:nvPr/>
        </p:nvSpPr>
        <p:spPr>
          <a:xfrm>
            <a:off x="5936379" y="8093843"/>
            <a:ext cx="136747" cy="123362"/>
          </a:xfrm>
          <a:prstGeom prst="roundRect">
            <a:avLst/>
          </a:prstGeom>
          <a:solidFill>
            <a:srgbClr val="2D2D2F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756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0A4896D8-8C6C-5BA6-B3FB-16895F113827}"/>
              </a:ext>
            </a:extLst>
          </p:cNvPr>
          <p:cNvSpPr/>
          <p:nvPr/>
        </p:nvSpPr>
        <p:spPr>
          <a:xfrm>
            <a:off x="4444615" y="6014509"/>
            <a:ext cx="1725219" cy="146322"/>
          </a:xfrm>
          <a:prstGeom prst="roundRect">
            <a:avLst/>
          </a:prstGeom>
          <a:solidFill>
            <a:srgbClr val="464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64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B9794D-DB0C-95F8-7F5E-68117C3B9D14}"/>
              </a:ext>
            </a:extLst>
          </p:cNvPr>
          <p:cNvSpPr txBox="1"/>
          <p:nvPr/>
        </p:nvSpPr>
        <p:spPr>
          <a:xfrm>
            <a:off x="4419661" y="5988893"/>
            <a:ext cx="664248" cy="169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0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날짜 입력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021BF4DE-15B9-6280-7611-537E02994D3C}"/>
              </a:ext>
            </a:extLst>
          </p:cNvPr>
          <p:cNvSpPr/>
          <p:nvPr/>
        </p:nvSpPr>
        <p:spPr>
          <a:xfrm>
            <a:off x="4905350" y="6033572"/>
            <a:ext cx="446418" cy="112173"/>
          </a:xfrm>
          <a:prstGeom prst="roundRect">
            <a:avLst/>
          </a:prstGeom>
          <a:solidFill>
            <a:srgbClr val="1F1F2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4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20240224</a:t>
            </a:r>
            <a:endParaRPr lang="ko-KR" altLang="en-US" sz="504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D2542AF3-89BA-52FA-1CF3-9C7C946E444B}"/>
              </a:ext>
            </a:extLst>
          </p:cNvPr>
          <p:cNvSpPr/>
          <p:nvPr/>
        </p:nvSpPr>
        <p:spPr>
          <a:xfrm>
            <a:off x="5599239" y="6031546"/>
            <a:ext cx="446418" cy="112173"/>
          </a:xfrm>
          <a:prstGeom prst="roundRect">
            <a:avLst/>
          </a:prstGeom>
          <a:solidFill>
            <a:srgbClr val="1F1F2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4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20240308</a:t>
            </a:r>
            <a:endParaRPr lang="ko-KR" altLang="en-US" sz="504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BA3184C-C4AB-B8C7-9DB9-0D3A2EFB8D2F}"/>
              </a:ext>
            </a:extLst>
          </p:cNvPr>
          <p:cNvSpPr txBox="1"/>
          <p:nvPr/>
        </p:nvSpPr>
        <p:spPr>
          <a:xfrm>
            <a:off x="5331380" y="5977306"/>
            <a:ext cx="327426" cy="208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56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~</a:t>
            </a:r>
            <a:endParaRPr lang="ko-KR" altLang="en-US" sz="1764" dirty="0"/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9B69B889-1032-F303-D572-33953FF9B979}"/>
              </a:ext>
            </a:extLst>
          </p:cNvPr>
          <p:cNvGrpSpPr/>
          <p:nvPr/>
        </p:nvGrpSpPr>
        <p:grpSpPr>
          <a:xfrm>
            <a:off x="4444615" y="6216688"/>
            <a:ext cx="1725219" cy="146322"/>
            <a:chOff x="5588310" y="3554665"/>
            <a:chExt cx="1595942" cy="173138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02E91D98-DE1E-3F20-FD0F-546A4CD1B1D9}"/>
                </a:ext>
              </a:extLst>
            </p:cNvPr>
            <p:cNvSpPr/>
            <p:nvPr/>
          </p:nvSpPr>
          <p:spPr>
            <a:xfrm>
              <a:off x="5588310" y="3554665"/>
              <a:ext cx="1595942" cy="173138"/>
            </a:xfrm>
            <a:prstGeom prst="roundRect">
              <a:avLst/>
            </a:prstGeom>
            <a:solidFill>
              <a:srgbClr val="4644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64"/>
            </a:p>
          </p:txBody>
        </p: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3ECA0765-6020-2242-32EC-7DA5EEF5B563}"/>
                </a:ext>
              </a:extLst>
            </p:cNvPr>
            <p:cNvSpPr/>
            <p:nvPr/>
          </p:nvSpPr>
          <p:spPr>
            <a:xfrm>
              <a:off x="6544345" y="3587638"/>
              <a:ext cx="253370" cy="10719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4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3</a:t>
              </a:r>
              <a:r>
                <a:rPr lang="ko-KR" altLang="en-US" sz="504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개월</a:t>
              </a:r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63D73B1E-BEF7-1F64-68DE-D1275F4D52D7}"/>
                </a:ext>
              </a:extLst>
            </p:cNvPr>
            <p:cNvSpPr/>
            <p:nvPr/>
          </p:nvSpPr>
          <p:spPr>
            <a:xfrm>
              <a:off x="6816015" y="3587638"/>
              <a:ext cx="253370" cy="10719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4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1</a:t>
              </a:r>
              <a:r>
                <a:rPr lang="ko-KR" altLang="en-US" sz="504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년</a:t>
              </a:r>
            </a:p>
          </p:txBody>
        </p: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CF28A8A4-DF19-9F72-57A2-48468861FC91}"/>
                </a:ext>
              </a:extLst>
            </p:cNvPr>
            <p:cNvSpPr/>
            <p:nvPr/>
          </p:nvSpPr>
          <p:spPr>
            <a:xfrm>
              <a:off x="6279435" y="3587638"/>
              <a:ext cx="253370" cy="10719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4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1</a:t>
              </a:r>
              <a:r>
                <a:rPr lang="ko-KR" altLang="en-US" sz="504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개월</a:t>
              </a:r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269DD345-19B3-F4A0-8D6E-B14EDC71A6C6}"/>
                </a:ext>
              </a:extLst>
            </p:cNvPr>
            <p:cNvSpPr/>
            <p:nvPr/>
          </p:nvSpPr>
          <p:spPr>
            <a:xfrm>
              <a:off x="6014525" y="3586853"/>
              <a:ext cx="253370" cy="107191"/>
            </a:xfrm>
            <a:prstGeom prst="roundRect">
              <a:avLst/>
            </a:prstGeom>
            <a:solidFill>
              <a:srgbClr val="1F1F22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504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금주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247C8F13-3B8D-7D6C-872F-37693CB389A7}"/>
              </a:ext>
            </a:extLst>
          </p:cNvPr>
          <p:cNvSpPr txBox="1"/>
          <p:nvPr/>
        </p:nvSpPr>
        <p:spPr>
          <a:xfrm>
            <a:off x="4419662" y="6191626"/>
            <a:ext cx="503871" cy="169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0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날짜 선택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119D243-6696-95E8-C4CB-83B5701F1788}"/>
              </a:ext>
            </a:extLst>
          </p:cNvPr>
          <p:cNvSpPr txBox="1"/>
          <p:nvPr/>
        </p:nvSpPr>
        <p:spPr>
          <a:xfrm>
            <a:off x="826875" y="8921940"/>
            <a:ext cx="5496635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가격 동향 데이터는 최대 과거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3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개월 까지만 추적 됩니다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008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광고시청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시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1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년 까지 추적됩니다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F5F74C6-F35B-B60B-C86D-B568D2440033}"/>
              </a:ext>
            </a:extLst>
          </p:cNvPr>
          <p:cNvSpPr/>
          <p:nvPr/>
        </p:nvSpPr>
        <p:spPr>
          <a:xfrm>
            <a:off x="0" y="4100296"/>
            <a:ext cx="7220836" cy="7660017"/>
          </a:xfrm>
          <a:prstGeom prst="rect">
            <a:avLst/>
          </a:prstGeom>
          <a:solidFill>
            <a:srgbClr val="464445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 dirty="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6FB3D9D9-72B5-AB3E-329A-C5A57FF7C576}"/>
              </a:ext>
            </a:extLst>
          </p:cNvPr>
          <p:cNvGrpSpPr/>
          <p:nvPr/>
        </p:nvGrpSpPr>
        <p:grpSpPr>
          <a:xfrm>
            <a:off x="2745560" y="9269961"/>
            <a:ext cx="1721466" cy="383928"/>
            <a:chOff x="2175050" y="5786637"/>
            <a:chExt cx="1366544" cy="304772"/>
          </a:xfrm>
        </p:grpSpPr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61EEC747-41A1-F9E5-FAFF-C21396A4CCE3}"/>
                </a:ext>
              </a:extLst>
            </p:cNvPr>
            <p:cNvSpPr/>
            <p:nvPr/>
          </p:nvSpPr>
          <p:spPr>
            <a:xfrm>
              <a:off x="2175050" y="5786637"/>
              <a:ext cx="1366544" cy="302631"/>
            </a:xfrm>
            <a:prstGeom prst="roundRect">
              <a:avLst>
                <a:gd name="adj" fmla="val 2985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23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     게시물 </a:t>
              </a:r>
              <a:r>
                <a:rPr lang="ko-KR" altLang="en-US" sz="1323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알람설정</a:t>
              </a:r>
              <a:endParaRPr lang="ko-KR" altLang="en-US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pic>
          <p:nvPicPr>
            <p:cNvPr id="45" name="Picture 6" descr="경고 - 무료 음악개 아이콘">
              <a:extLst>
                <a:ext uri="{FF2B5EF4-FFF2-40B4-BE49-F238E27FC236}">
                  <a16:creationId xmlns:a16="http://schemas.microsoft.com/office/drawing/2014/main" id="{400110A6-BD41-7C14-4D81-2C6014307D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6622" y="5786637"/>
              <a:ext cx="304772" cy="304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2" name="Picture 4" descr="Cursor PNG, Cursor Transparent Background - FreeIconsPNG">
            <a:extLst>
              <a:ext uri="{FF2B5EF4-FFF2-40B4-BE49-F238E27FC236}">
                <a16:creationId xmlns:a16="http://schemas.microsoft.com/office/drawing/2014/main" id="{62C84BBF-832D-3F61-0474-875B2E903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36422">
            <a:off x="2146921" y="9374466"/>
            <a:ext cx="1287902" cy="933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07E4ACAB-43E7-C8EC-00F8-DDA24016D288}"/>
              </a:ext>
            </a:extLst>
          </p:cNvPr>
          <p:cNvSpPr txBox="1"/>
          <p:nvPr/>
        </p:nvSpPr>
        <p:spPr>
          <a:xfrm rot="20345079">
            <a:off x="2595622" y="9139613"/>
            <a:ext cx="299879" cy="27148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764" dirty="0"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ⓐ</a:t>
            </a:r>
            <a:endParaRPr lang="ko-KR" altLang="en-US" sz="1890" dirty="0"/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BFB564E0-C543-2DDE-7FA7-9B38F34759D1}"/>
              </a:ext>
            </a:extLst>
          </p:cNvPr>
          <p:cNvGrpSpPr/>
          <p:nvPr/>
        </p:nvGrpSpPr>
        <p:grpSpPr>
          <a:xfrm>
            <a:off x="2942466" y="9742631"/>
            <a:ext cx="4107541" cy="2247784"/>
            <a:chOff x="2231070" y="9417050"/>
            <a:chExt cx="3260672" cy="1784349"/>
          </a:xfrm>
        </p:grpSpPr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8E3681C1-4927-7647-E798-ABBBF2DC8D3B}"/>
                </a:ext>
              </a:extLst>
            </p:cNvPr>
            <p:cNvSpPr/>
            <p:nvPr/>
          </p:nvSpPr>
          <p:spPr>
            <a:xfrm>
              <a:off x="2231070" y="9417050"/>
              <a:ext cx="3260672" cy="1784349"/>
            </a:xfrm>
            <a:prstGeom prst="roundRect">
              <a:avLst>
                <a:gd name="adj" fmla="val 2332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5000" sy="105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알람을 받을 조건을 설정해 주세요</a:t>
              </a:r>
              <a:endPara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345C0E-BAD7-3BF4-D6F7-EA1503C2ED34}"/>
                </a:ext>
              </a:extLst>
            </p:cNvPr>
            <p:cNvSpPr txBox="1"/>
            <p:nvPr/>
          </p:nvSpPr>
          <p:spPr>
            <a:xfrm>
              <a:off x="2304241" y="9678410"/>
              <a:ext cx="779100" cy="196424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pPr algn="ctr"/>
              <a:r>
                <a:rPr lang="ko-KR" altLang="en-US" sz="1008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검색명</a:t>
              </a:r>
              <a:endPara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E79DC298-58D6-14E8-E2CD-6792667E9C0B}"/>
                </a:ext>
              </a:extLst>
            </p:cNvPr>
            <p:cNvSpPr/>
            <p:nvPr/>
          </p:nvSpPr>
          <p:spPr>
            <a:xfrm>
              <a:off x="3118247" y="9709150"/>
              <a:ext cx="2119692" cy="15819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KoPubWorld돋움체 Medium" panose="00000600000000000000" pitchFamily="2" charset="-127"/>
                </a:rPr>
                <a:t>브랜드명과 제품명을 입력하세요 </a:t>
              </a:r>
              <a:r>
                <a:rPr lang="en-US" altLang="ko-KR" sz="63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KoPubWorld돋움체 Medium" panose="00000600000000000000" pitchFamily="2" charset="-127"/>
                </a:rPr>
                <a:t>(ex. </a:t>
              </a:r>
              <a:r>
                <a:rPr lang="ko-KR" altLang="en-US" sz="63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KoPubWorld돋움체 Medium" panose="00000600000000000000" pitchFamily="2" charset="-127"/>
                </a:rPr>
                <a:t>롤렉스</a:t>
              </a:r>
              <a:r>
                <a:rPr lang="ko-KR" altLang="en-US" sz="63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KoPubWorld돋움체 Medium" panose="00000600000000000000" pitchFamily="2" charset="-127"/>
                </a:rPr>
                <a:t> </a:t>
              </a:r>
              <a:r>
                <a:rPr lang="ko-KR" altLang="en-US" sz="63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KoPubWorld돋움체 Medium" panose="00000600000000000000" pitchFamily="2" charset="-127"/>
                </a:rPr>
                <a:t>데이저스트</a:t>
              </a:r>
              <a:r>
                <a:rPr lang="ko-KR" altLang="en-US" sz="63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KoPubWorld돋움체 Medium" panose="00000600000000000000" pitchFamily="2" charset="-127"/>
                </a:rPr>
                <a:t> </a:t>
              </a:r>
              <a:r>
                <a:rPr lang="en-US" altLang="ko-KR" sz="63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KoPubWorld돋움체 Medium" panose="00000600000000000000" pitchFamily="2" charset="-127"/>
                </a:rPr>
                <a:t>36)</a:t>
              </a:r>
            </a:p>
          </p:txBody>
        </p: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A8D39BCE-2DB6-13C9-6711-07BC4021D5DC}"/>
                </a:ext>
              </a:extLst>
            </p:cNvPr>
            <p:cNvGrpSpPr/>
            <p:nvPr/>
          </p:nvGrpSpPr>
          <p:grpSpPr>
            <a:xfrm>
              <a:off x="3118247" y="9956570"/>
              <a:ext cx="2119692" cy="165977"/>
              <a:chOff x="1196359" y="2831964"/>
              <a:chExt cx="2119692" cy="165977"/>
            </a:xfrm>
          </p:grpSpPr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6B4663A0-D071-46E7-7658-A847704E6A9E}"/>
                  </a:ext>
                </a:extLst>
              </p:cNvPr>
              <p:cNvSpPr/>
              <p:nvPr/>
            </p:nvSpPr>
            <p:spPr>
              <a:xfrm>
                <a:off x="1196359" y="2831964"/>
                <a:ext cx="2119692" cy="16597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>
                        <a:lumMod val="65000"/>
                      </a:schemeClr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Medium" panose="00000600000000000000" pitchFamily="2" charset="-127"/>
                  </a:rPr>
                  <a:t>선택해주세요</a:t>
                </a:r>
              </a:p>
            </p:txBody>
          </p:sp>
          <p:pic>
            <p:nvPicPr>
              <p:cNvPr id="71" name="그림 70">
                <a:extLst>
                  <a:ext uri="{FF2B5EF4-FFF2-40B4-BE49-F238E27FC236}">
                    <a16:creationId xmlns:a16="http://schemas.microsoft.com/office/drawing/2014/main" id="{B73709FA-020D-17D7-22C0-79965638D7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43270" y="2862158"/>
                <a:ext cx="159857" cy="109376"/>
              </a:xfrm>
              <a:prstGeom prst="rect">
                <a:avLst/>
              </a:prstGeom>
            </p:spPr>
          </p:pic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6D805DB-99D6-5AF0-E73D-16803D91249E}"/>
                </a:ext>
              </a:extLst>
            </p:cNvPr>
            <p:cNvSpPr txBox="1"/>
            <p:nvPr/>
          </p:nvSpPr>
          <p:spPr>
            <a:xfrm>
              <a:off x="2304241" y="9938722"/>
              <a:ext cx="779100" cy="196424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pPr algn="ctr"/>
              <a:r>
                <a:rPr lang="ko-KR" altLang="en-US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사이트명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52A8559-A672-58A0-8DDB-1E6366B52AF5}"/>
                </a:ext>
              </a:extLst>
            </p:cNvPr>
            <p:cNvSpPr txBox="1"/>
            <p:nvPr/>
          </p:nvSpPr>
          <p:spPr>
            <a:xfrm>
              <a:off x="2304241" y="10199034"/>
              <a:ext cx="779100" cy="196424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pPr algn="ctr"/>
              <a:r>
                <a:rPr lang="ko-KR" altLang="en-US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가격범위</a:t>
              </a: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8F823462-D451-5164-DFA6-DFB30015EA71}"/>
                </a:ext>
              </a:extLst>
            </p:cNvPr>
            <p:cNvSpPr/>
            <p:nvPr/>
          </p:nvSpPr>
          <p:spPr>
            <a:xfrm>
              <a:off x="3118247" y="10216101"/>
              <a:ext cx="632331" cy="1659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30B3990A-6183-4C88-9FA4-F307A1755A9E}"/>
                </a:ext>
              </a:extLst>
            </p:cNvPr>
            <p:cNvSpPr/>
            <p:nvPr/>
          </p:nvSpPr>
          <p:spPr>
            <a:xfrm>
              <a:off x="4294054" y="10216101"/>
              <a:ext cx="632331" cy="1659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C5F2B0B-A382-B9F7-3986-4A5A57DD598A}"/>
                </a:ext>
              </a:extLst>
            </p:cNvPr>
            <p:cNvSpPr txBox="1"/>
            <p:nvPr/>
          </p:nvSpPr>
          <p:spPr>
            <a:xfrm>
              <a:off x="3696831" y="10199062"/>
              <a:ext cx="690313" cy="181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원 이상    </a:t>
              </a:r>
              <a:r>
                <a:rPr lang="en-US" altLang="ko-KR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~</a:t>
              </a:r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9BF655F-4216-3ECA-D1A0-98A87605F651}"/>
                </a:ext>
              </a:extLst>
            </p:cNvPr>
            <p:cNvSpPr txBox="1"/>
            <p:nvPr/>
          </p:nvSpPr>
          <p:spPr>
            <a:xfrm>
              <a:off x="4893399" y="10199062"/>
              <a:ext cx="469887" cy="181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원 이하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D94D059E-4618-5042-E0FA-D235B03767B7}"/>
                </a:ext>
              </a:extLst>
            </p:cNvPr>
            <p:cNvSpPr txBox="1"/>
            <p:nvPr/>
          </p:nvSpPr>
          <p:spPr>
            <a:xfrm>
              <a:off x="2304240" y="10459346"/>
              <a:ext cx="779100" cy="196424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pPr algn="ctr"/>
              <a:r>
                <a:rPr lang="ko-KR" altLang="en-US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사기위험점수</a:t>
              </a: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442BF0F7-1826-5A2E-CC82-57BD7D24ABFE}"/>
                </a:ext>
              </a:extLst>
            </p:cNvPr>
            <p:cNvSpPr/>
            <p:nvPr/>
          </p:nvSpPr>
          <p:spPr>
            <a:xfrm>
              <a:off x="3118247" y="10474463"/>
              <a:ext cx="632331" cy="1659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5EA70931-09B5-4665-B6F8-1D6D4D1086C2}"/>
                </a:ext>
              </a:extLst>
            </p:cNvPr>
            <p:cNvSpPr txBox="1"/>
            <p:nvPr/>
          </p:nvSpPr>
          <p:spPr>
            <a:xfrm>
              <a:off x="3696281" y="10457424"/>
              <a:ext cx="469887" cy="181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점 이하</a:t>
              </a:r>
            </a:p>
          </p:txBody>
        </p:sp>
        <p:grpSp>
          <p:nvGrpSpPr>
            <p:cNvPr id="102" name="그룹 101">
              <a:extLst>
                <a:ext uri="{FF2B5EF4-FFF2-40B4-BE49-F238E27FC236}">
                  <a16:creationId xmlns:a16="http://schemas.microsoft.com/office/drawing/2014/main" id="{063F82E2-823E-F44A-2981-4F010AE4AB5D}"/>
                </a:ext>
              </a:extLst>
            </p:cNvPr>
            <p:cNvGrpSpPr/>
            <p:nvPr/>
          </p:nvGrpSpPr>
          <p:grpSpPr>
            <a:xfrm>
              <a:off x="3118247" y="10732358"/>
              <a:ext cx="1332723" cy="196424"/>
              <a:chOff x="1198671" y="5438765"/>
              <a:chExt cx="1332723" cy="196424"/>
            </a:xfrm>
          </p:grpSpPr>
          <p:sp>
            <p:nvSpPr>
              <p:cNvPr id="97" name="직사각형 96">
                <a:extLst>
                  <a:ext uri="{FF2B5EF4-FFF2-40B4-BE49-F238E27FC236}">
                    <a16:creationId xmlns:a16="http://schemas.microsoft.com/office/drawing/2014/main" id="{050FDD0F-FA0E-A10F-AE85-738670C094E8}"/>
                  </a:ext>
                </a:extLst>
              </p:cNvPr>
              <p:cNvSpPr/>
              <p:nvPr/>
            </p:nvSpPr>
            <p:spPr>
              <a:xfrm>
                <a:off x="1198671" y="5463499"/>
                <a:ext cx="350730" cy="16597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8" name="직사각형 97">
                <a:extLst>
                  <a:ext uri="{FF2B5EF4-FFF2-40B4-BE49-F238E27FC236}">
                    <a16:creationId xmlns:a16="http://schemas.microsoft.com/office/drawing/2014/main" id="{8B66AD0A-07AE-E56B-F367-A428FC48F6B4}"/>
                  </a:ext>
                </a:extLst>
              </p:cNvPr>
              <p:cNvSpPr/>
              <p:nvPr/>
            </p:nvSpPr>
            <p:spPr>
              <a:xfrm>
                <a:off x="1689667" y="5463499"/>
                <a:ext cx="350730" cy="16597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7C9C0A9B-1CCA-E952-B1F9-5DCCEB596FF9}"/>
                  </a:ext>
                </a:extLst>
              </p:cNvPr>
              <p:cNvSpPr/>
              <p:nvPr/>
            </p:nvSpPr>
            <p:spPr>
              <a:xfrm>
                <a:off x="2180664" y="5463499"/>
                <a:ext cx="350730" cy="16597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B342BCB2-CEF9-F9BB-4D8D-E368F35D86C9}"/>
                  </a:ext>
                </a:extLst>
              </p:cNvPr>
              <p:cNvSpPr txBox="1"/>
              <p:nvPr/>
            </p:nvSpPr>
            <p:spPr>
              <a:xfrm>
                <a:off x="1500101" y="5438765"/>
                <a:ext cx="266311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Medium" panose="00000600000000000000" pitchFamily="2" charset="-127"/>
                  </a:rPr>
                  <a:t>-</a:t>
                </a:r>
                <a:endParaRPr lang="ko-KR" altLang="en-US" sz="22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ADBA690-BEE6-5EA4-00EF-F2C6A4F684DB}"/>
                  </a:ext>
                </a:extLst>
              </p:cNvPr>
              <p:cNvSpPr txBox="1"/>
              <p:nvPr/>
            </p:nvSpPr>
            <p:spPr>
              <a:xfrm>
                <a:off x="1985301" y="5438765"/>
                <a:ext cx="266311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Medium" panose="00000600000000000000" pitchFamily="2" charset="-127"/>
                  </a:rPr>
                  <a:t>-</a:t>
                </a:r>
                <a:endParaRPr lang="ko-KR" altLang="en-US" sz="2267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EDAD3AA-310F-162A-399E-AD9AD21F4AC3}"/>
                </a:ext>
              </a:extLst>
            </p:cNvPr>
            <p:cNvSpPr txBox="1"/>
            <p:nvPr/>
          </p:nvSpPr>
          <p:spPr>
            <a:xfrm>
              <a:off x="2304240" y="10719658"/>
              <a:ext cx="779100" cy="196424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pPr algn="ctr"/>
              <a:r>
                <a:rPr lang="ko-KR" altLang="en-US" sz="1008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알람받을번호</a:t>
              </a:r>
              <a:endPara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7D3295C0-B51F-20A2-1597-9CADB7C3C77B}"/>
                </a:ext>
              </a:extLst>
            </p:cNvPr>
            <p:cNvSpPr txBox="1"/>
            <p:nvPr/>
          </p:nvSpPr>
          <p:spPr>
            <a:xfrm>
              <a:off x="3424237" y="10739664"/>
              <a:ext cx="272044" cy="1964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-</a:t>
              </a:r>
              <a:endParaRPr lang="ko-KR" altLang="en-US" sz="2267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AD4365CA-972C-915F-66AF-841221DE43D6}"/>
                </a:ext>
              </a:extLst>
            </p:cNvPr>
            <p:cNvSpPr txBox="1"/>
            <p:nvPr/>
          </p:nvSpPr>
          <p:spPr>
            <a:xfrm>
              <a:off x="3905770" y="10739664"/>
              <a:ext cx="272044" cy="1964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-</a:t>
              </a:r>
              <a:endParaRPr lang="ko-KR" altLang="en-US" sz="2267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E4FD53E2-3739-C0AD-7790-471DDC0CCCEB}"/>
                </a:ext>
              </a:extLst>
            </p:cNvPr>
            <p:cNvSpPr txBox="1"/>
            <p:nvPr/>
          </p:nvSpPr>
          <p:spPr>
            <a:xfrm>
              <a:off x="2333744" y="10959320"/>
              <a:ext cx="2592641" cy="181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※ </a:t>
              </a:r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조건에 맞는 게시글이 게시되면 </a:t>
              </a:r>
              <a:r>
                <a:rPr lang="en-US" altLang="ko-KR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SMS</a:t>
              </a:r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로 알람이 전송됩니다</a:t>
              </a:r>
              <a:r>
                <a:rPr lang="en-US" altLang="ko-KR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Medium" panose="00000600000000000000" pitchFamily="2" charset="-127"/>
                </a:rPr>
                <a:t>.</a:t>
              </a:r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48761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7DF337-5CB7-F656-AA97-06D83E3367AA}"/>
              </a:ext>
            </a:extLst>
          </p:cNvPr>
          <p:cNvSpPr txBox="1"/>
          <p:nvPr/>
        </p:nvSpPr>
        <p:spPr>
          <a:xfrm>
            <a:off x="4" y="2128055"/>
            <a:ext cx="11376691" cy="363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3. </a:t>
            </a:r>
            <a:r>
              <a:rPr lang="ko-KR" altLang="en-US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가격동향 페이지 </a:t>
            </a:r>
            <a:r>
              <a:rPr lang="en-US" altLang="ko-KR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(2)</a:t>
            </a:r>
            <a:endParaRPr lang="ko-KR" altLang="en-US" sz="1386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B4A576-43BE-EC4F-2D42-3A30B24EB2AE}"/>
              </a:ext>
            </a:extLst>
          </p:cNvPr>
          <p:cNvSpPr txBox="1"/>
          <p:nvPr/>
        </p:nvSpPr>
        <p:spPr>
          <a:xfrm>
            <a:off x="1" y="2758119"/>
            <a:ext cx="7220836" cy="3055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19952" indent="-319952">
              <a:buFontTx/>
              <a:buChar char="-"/>
            </a:pP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가격 동향 검색창에 검색을 한 후 나타나는 페이지 </a:t>
            </a:r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스크롤 다운하면 나타나는 화면</a:t>
            </a:r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)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C9BDFCA-E662-8E64-AFDD-33988FD42B23}"/>
              </a:ext>
            </a:extLst>
          </p:cNvPr>
          <p:cNvCxnSpPr>
            <a:cxnSpLocks/>
          </p:cNvCxnSpPr>
          <p:nvPr/>
        </p:nvCxnSpPr>
        <p:spPr>
          <a:xfrm>
            <a:off x="-1" y="3328587"/>
            <a:ext cx="7199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B3A749B-1993-105E-A004-A74CFBCD2F8C}"/>
              </a:ext>
            </a:extLst>
          </p:cNvPr>
          <p:cNvGrpSpPr/>
          <p:nvPr/>
        </p:nvGrpSpPr>
        <p:grpSpPr>
          <a:xfrm>
            <a:off x="-1" y="3354522"/>
            <a:ext cx="7199313" cy="617932"/>
            <a:chOff x="-6173610" y="696003"/>
            <a:chExt cx="14698254" cy="1261580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454F5FAA-A0B5-6C6E-9F2A-3D8393BB7E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1" r="251"/>
            <a:stretch/>
          </p:blipFill>
          <p:spPr>
            <a:xfrm>
              <a:off x="-6173610" y="696003"/>
              <a:ext cx="14698254" cy="672969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DABE599-2595-B317-5B0A-31081BC5BB70}"/>
                </a:ext>
              </a:extLst>
            </p:cNvPr>
            <p:cNvSpPr txBox="1"/>
            <p:nvPr/>
          </p:nvSpPr>
          <p:spPr>
            <a:xfrm>
              <a:off x="-5639772" y="1580192"/>
              <a:ext cx="813773" cy="2771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사기검증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8C332F-4023-E451-8F68-66D94FF70388}"/>
                </a:ext>
              </a:extLst>
            </p:cNvPr>
            <p:cNvSpPr txBox="1"/>
            <p:nvPr/>
          </p:nvSpPr>
          <p:spPr>
            <a:xfrm>
              <a:off x="-4384543" y="1583681"/>
              <a:ext cx="813773" cy="2771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사기제보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B23A426-8468-2E00-8402-A9ECCF033288}"/>
                </a:ext>
              </a:extLst>
            </p:cNvPr>
            <p:cNvSpPr txBox="1"/>
            <p:nvPr/>
          </p:nvSpPr>
          <p:spPr>
            <a:xfrm>
              <a:off x="-3129315" y="1578190"/>
              <a:ext cx="813773" cy="2771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가격동향</a:t>
              </a: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94115EC-492C-E148-B00D-E1ECE0E97978}"/>
                </a:ext>
              </a:extLst>
            </p:cNvPr>
            <p:cNvGrpSpPr/>
            <p:nvPr/>
          </p:nvGrpSpPr>
          <p:grpSpPr>
            <a:xfrm>
              <a:off x="6305768" y="1507170"/>
              <a:ext cx="2101649" cy="450413"/>
              <a:chOff x="3389868" y="3051668"/>
              <a:chExt cx="3445082" cy="738331"/>
            </a:xfrm>
          </p:grpSpPr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18CB257C-C944-7E81-8414-14A192538FF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biLevel thresh="75000"/>
              </a:blip>
              <a:srcRect b="44835"/>
              <a:stretch/>
            </p:blipFill>
            <p:spPr>
              <a:xfrm>
                <a:off x="3389868" y="3051668"/>
                <a:ext cx="1981373" cy="615459"/>
              </a:xfrm>
              <a:prstGeom prst="rect">
                <a:avLst/>
              </a:prstGeom>
            </p:spPr>
          </p:pic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FAFB2129-3F6C-CDF9-99BA-CFE193B2AC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biLevel thresh="75000"/>
              </a:blip>
              <a:srcRect t="54228" b="-9393"/>
              <a:stretch/>
            </p:blipFill>
            <p:spPr>
              <a:xfrm>
                <a:off x="4853577" y="3174540"/>
                <a:ext cx="1981373" cy="615459"/>
              </a:xfrm>
              <a:prstGeom prst="rect">
                <a:avLst/>
              </a:prstGeom>
            </p:spPr>
          </p:pic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9EF53D64-DACB-48C9-0DF6-148587658127}"/>
              </a:ext>
            </a:extLst>
          </p:cNvPr>
          <p:cNvGrpSpPr/>
          <p:nvPr/>
        </p:nvGrpSpPr>
        <p:grpSpPr>
          <a:xfrm>
            <a:off x="0" y="4107490"/>
            <a:ext cx="7220836" cy="7660017"/>
            <a:chOff x="50622" y="565912"/>
            <a:chExt cx="12141379" cy="7867533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EEE017F-AAF5-3A05-000C-360E0314EFBA}"/>
                </a:ext>
              </a:extLst>
            </p:cNvPr>
            <p:cNvSpPr/>
            <p:nvPr/>
          </p:nvSpPr>
          <p:spPr>
            <a:xfrm>
              <a:off x="50622" y="565912"/>
              <a:ext cx="12141379" cy="7867533"/>
            </a:xfrm>
            <a:prstGeom prst="rect">
              <a:avLst/>
            </a:prstGeom>
            <a:solidFill>
              <a:srgbClr val="4644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360" dirty="0">
                <a:ln>
                  <a:solidFill>
                    <a:schemeClr val="bg1">
                      <a:alpha val="0"/>
                    </a:schemeClr>
                  </a:solidFill>
                </a:ln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EEFF259F-BE7A-1D36-9422-9FE101722463}"/>
                </a:ext>
              </a:extLst>
            </p:cNvPr>
            <p:cNvGrpSpPr/>
            <p:nvPr/>
          </p:nvGrpSpPr>
          <p:grpSpPr>
            <a:xfrm>
              <a:off x="164209" y="7740451"/>
              <a:ext cx="5782060" cy="550501"/>
              <a:chOff x="164209" y="7740451"/>
              <a:chExt cx="5782060" cy="550501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778B60E-F419-4241-A8E5-461726F8009A}"/>
                  </a:ext>
                </a:extLst>
              </p:cNvPr>
              <p:cNvSpPr txBox="1"/>
              <p:nvPr/>
            </p:nvSpPr>
            <p:spPr>
              <a:xfrm>
                <a:off x="164209" y="7740451"/>
                <a:ext cx="5782060" cy="5505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1764"/>
                  </a:lnSpc>
                </a:pPr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                          </a:t>
                </a:r>
                <a:r>
                  <a:rPr lang="ko-KR" altLang="en-US" sz="1134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ㅣ</a:t>
                </a:r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 제휴문의</a:t>
                </a:r>
                <a:r>
                  <a:rPr lang="en-US" altLang="ko-KR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 Cleandeal@naver.com</a:t>
                </a:r>
              </a:p>
              <a:p>
                <a:pPr>
                  <a:lnSpc>
                    <a:spcPts val="1764"/>
                  </a:lnSpc>
                </a:pPr>
                <a:r>
                  <a:rPr lang="en-US" altLang="ko-KR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Watchout.com</a:t>
                </a:r>
                <a:r>
                  <a:rPr lang="ko-KR" altLang="en-US" sz="1134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ㅣ개인정보처리방침</a:t>
                </a:r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 </a:t>
                </a:r>
                <a:r>
                  <a:rPr lang="ko-KR" altLang="en-US" sz="1134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ㅣ</a:t>
                </a:r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 공지사항 </a:t>
                </a:r>
                <a:endParaRPr lang="en-US" altLang="ko-KR" sz="113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endParaRPr>
              </a:p>
            </p:txBody>
          </p:sp>
          <p:pic>
            <p:nvPicPr>
              <p:cNvPr id="31" name="그림 30">
                <a:extLst>
                  <a:ext uri="{FF2B5EF4-FFF2-40B4-BE49-F238E27FC236}">
                    <a16:creationId xmlns:a16="http://schemas.microsoft.com/office/drawing/2014/main" id="{EE6D92B6-A953-87EA-AF94-D1D36C5572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11979" y="7854918"/>
                <a:ext cx="1882290" cy="154570"/>
              </a:xfrm>
              <a:prstGeom prst="rect">
                <a:avLst/>
              </a:prstGeom>
            </p:spPr>
          </p:pic>
        </p:grpSp>
      </p:grp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9C1D04E3-3518-39F1-5DD1-7F581EF8F081}"/>
              </a:ext>
            </a:extLst>
          </p:cNvPr>
          <p:cNvSpPr/>
          <p:nvPr/>
        </p:nvSpPr>
        <p:spPr>
          <a:xfrm>
            <a:off x="1255829" y="4535110"/>
            <a:ext cx="4713603" cy="31017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8D8E83D-F6A1-8AAC-F461-B439A1A31952}"/>
              </a:ext>
            </a:extLst>
          </p:cNvPr>
          <p:cNvSpPr txBox="1"/>
          <p:nvPr/>
        </p:nvSpPr>
        <p:spPr>
          <a:xfrm>
            <a:off x="1281775" y="4563908"/>
            <a:ext cx="4687659" cy="24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롤렉스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데이저스트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5BCDC82-BABD-1DA6-78A8-8F51DF287545}"/>
              </a:ext>
            </a:extLst>
          </p:cNvPr>
          <p:cNvSpPr txBox="1"/>
          <p:nvPr/>
        </p:nvSpPr>
        <p:spPr>
          <a:xfrm rot="20345079">
            <a:off x="1079943" y="4362823"/>
            <a:ext cx="299879" cy="27148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764" dirty="0"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ⓐ</a:t>
            </a:r>
            <a:endParaRPr lang="ko-KR" altLang="en-US" sz="189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FB8F1CF-27E3-1D05-7E01-5EDC6DF30BA9}"/>
              </a:ext>
            </a:extLst>
          </p:cNvPr>
          <p:cNvSpPr txBox="1"/>
          <p:nvPr/>
        </p:nvSpPr>
        <p:spPr>
          <a:xfrm>
            <a:off x="-1" y="11847610"/>
            <a:ext cx="7199313" cy="4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ⓐ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브랜드명 및 제품명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검색창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가격 동향을 확인하고자 하는 브랜드와 제품명을 입력하는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검색창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705027A-6066-2741-F4DB-5754435F78D4}"/>
              </a:ext>
            </a:extLst>
          </p:cNvPr>
          <p:cNvSpPr txBox="1"/>
          <p:nvPr/>
        </p:nvSpPr>
        <p:spPr>
          <a:xfrm>
            <a:off x="-1" y="12350460"/>
            <a:ext cx="7199313" cy="4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ⓑ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검색 결과 원문 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사용자가 검색한 검색어에 대한 원문을 게시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해당글을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클릭하면 해당 게시글로 이동할 수 있음 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F0639A9-D9AA-4479-5866-6EC9764E5828}"/>
              </a:ext>
            </a:extLst>
          </p:cNvPr>
          <p:cNvSpPr/>
          <p:nvPr/>
        </p:nvSpPr>
        <p:spPr>
          <a:xfrm>
            <a:off x="924293" y="5102191"/>
            <a:ext cx="5350726" cy="5867651"/>
          </a:xfrm>
          <a:prstGeom prst="roundRect">
            <a:avLst>
              <a:gd name="adj" fmla="val 1551"/>
            </a:avLst>
          </a:prstGeom>
          <a:solidFill>
            <a:srgbClr val="1F1F22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D949E1-022D-7A32-FE70-72D666B2B420}"/>
              </a:ext>
            </a:extLst>
          </p:cNvPr>
          <p:cNvSpPr txBox="1"/>
          <p:nvPr/>
        </p:nvSpPr>
        <p:spPr>
          <a:xfrm>
            <a:off x="902819" y="5132676"/>
            <a:ext cx="1650577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거래 게시글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1CFEB3B-714B-CC98-CCFC-3251D2809D55}"/>
              </a:ext>
            </a:extLst>
          </p:cNvPr>
          <p:cNvSpPr txBox="1"/>
          <p:nvPr/>
        </p:nvSpPr>
        <p:spPr>
          <a:xfrm>
            <a:off x="905097" y="5377846"/>
            <a:ext cx="5687457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게시글을 클릭하면 해당 게시글로 이동합니다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858036F-6E48-4D41-7377-B4EA83645424}"/>
              </a:ext>
            </a:extLst>
          </p:cNvPr>
          <p:cNvSpPr txBox="1"/>
          <p:nvPr/>
        </p:nvSpPr>
        <p:spPr>
          <a:xfrm>
            <a:off x="1545155" y="5796403"/>
            <a:ext cx="4459114" cy="441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777ls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24-03-08 12:48</a:t>
            </a:r>
            <a:r>
              <a:rPr lang="ko-KR" altLang="en-US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endParaRPr lang="en-US" altLang="ko-KR" sz="756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롤렉스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데이저스트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41 126300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화이트 로만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21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년식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판매합니다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pic>
        <p:nvPicPr>
          <p:cNvPr id="10242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2725849D-87C0-3CEE-D5D8-0BFC08442C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1115449" y="5825556"/>
            <a:ext cx="375673" cy="39863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DCCF7CD0-5BF5-D0B0-C40D-55DB7027F0DD}"/>
              </a:ext>
            </a:extLst>
          </p:cNvPr>
          <p:cNvSpPr txBox="1"/>
          <p:nvPr/>
        </p:nvSpPr>
        <p:spPr>
          <a:xfrm>
            <a:off x="1545155" y="6352059"/>
            <a:ext cx="4459114" cy="441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777ls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24-03-08 12:48</a:t>
            </a:r>
            <a:r>
              <a:rPr lang="ko-KR" altLang="en-US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endParaRPr lang="en-US" altLang="ko-KR" sz="756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롤렉스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데이저스트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41 126300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화이트 로만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21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년식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판매합니다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pic>
        <p:nvPicPr>
          <p:cNvPr id="67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9D3D60D6-1B46-B55E-6E73-5516680F80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1115449" y="6381212"/>
            <a:ext cx="375673" cy="39863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4D3420BB-FDE0-C2AB-7F99-9DFA59BC6178}"/>
              </a:ext>
            </a:extLst>
          </p:cNvPr>
          <p:cNvSpPr txBox="1"/>
          <p:nvPr/>
        </p:nvSpPr>
        <p:spPr>
          <a:xfrm>
            <a:off x="1545155" y="6919720"/>
            <a:ext cx="4459114" cy="441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777ls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24-03-08 12:48</a:t>
            </a:r>
            <a:r>
              <a:rPr lang="ko-KR" altLang="en-US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endParaRPr lang="en-US" altLang="ko-KR" sz="756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롤렉스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데이저스트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41 126300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화이트 로만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21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년식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판매합니다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pic>
        <p:nvPicPr>
          <p:cNvPr id="69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D350D9C7-6F83-E7F9-BB62-ED05B59B62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1115449" y="6948873"/>
            <a:ext cx="375673" cy="39863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69431D4F-6D2F-4514-FBAE-AB777115A5EE}"/>
              </a:ext>
            </a:extLst>
          </p:cNvPr>
          <p:cNvSpPr txBox="1"/>
          <p:nvPr/>
        </p:nvSpPr>
        <p:spPr>
          <a:xfrm>
            <a:off x="1545155" y="7475376"/>
            <a:ext cx="4459114" cy="441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777ls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24-03-08 12:48</a:t>
            </a:r>
            <a:r>
              <a:rPr lang="ko-KR" altLang="en-US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endParaRPr lang="en-US" altLang="ko-KR" sz="756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롤렉스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데이저스트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41 126300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화이트 로만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21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년식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판매합니다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pic>
        <p:nvPicPr>
          <p:cNvPr id="71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119F5BEB-D609-7FF5-B1B6-B99C7582AF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1115449" y="7504529"/>
            <a:ext cx="375673" cy="39863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F7494670-9DD9-2EF7-3C44-D02DA19147BC}"/>
              </a:ext>
            </a:extLst>
          </p:cNvPr>
          <p:cNvSpPr txBox="1"/>
          <p:nvPr/>
        </p:nvSpPr>
        <p:spPr>
          <a:xfrm>
            <a:off x="1545155" y="8062248"/>
            <a:ext cx="4459114" cy="441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777ls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24-03-08 12:48</a:t>
            </a:r>
            <a:r>
              <a:rPr lang="ko-KR" altLang="en-US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endParaRPr lang="en-US" altLang="ko-KR" sz="756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롤렉스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데이저스트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41 126300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화이트 로만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21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년식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판매합니다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pic>
        <p:nvPicPr>
          <p:cNvPr id="73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0CDD6478-F678-2249-0521-D13686647A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1115449" y="8091401"/>
            <a:ext cx="375673" cy="39863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AD08E305-7A26-EA8F-961D-F16284C97B8F}"/>
              </a:ext>
            </a:extLst>
          </p:cNvPr>
          <p:cNvSpPr txBox="1"/>
          <p:nvPr/>
        </p:nvSpPr>
        <p:spPr>
          <a:xfrm>
            <a:off x="1545155" y="8617904"/>
            <a:ext cx="4459114" cy="441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777ls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24-03-08 12:48</a:t>
            </a:r>
            <a:r>
              <a:rPr lang="ko-KR" altLang="en-US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endParaRPr lang="en-US" altLang="ko-KR" sz="756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롤렉스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데이저스트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41 126300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화이트 로만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21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년식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판매합니다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pic>
        <p:nvPicPr>
          <p:cNvPr id="75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CA35C956-E4D3-6DA9-0370-C3AFEB7215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1115449" y="8647057"/>
            <a:ext cx="375673" cy="39863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43DAF90F-EBA0-1F2D-DC30-CB1472FCE796}"/>
              </a:ext>
            </a:extLst>
          </p:cNvPr>
          <p:cNvSpPr txBox="1"/>
          <p:nvPr/>
        </p:nvSpPr>
        <p:spPr>
          <a:xfrm>
            <a:off x="1545155" y="9185565"/>
            <a:ext cx="4459114" cy="441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777ls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24-03-08 12:48</a:t>
            </a:r>
            <a:r>
              <a:rPr lang="ko-KR" altLang="en-US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endParaRPr lang="en-US" altLang="ko-KR" sz="756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롤렉스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데이저스트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41 126300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화이트 로만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21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년식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판매합니다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pic>
        <p:nvPicPr>
          <p:cNvPr id="77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8A9FC91B-0F79-BB6E-913E-2A74A7A514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1115449" y="9214718"/>
            <a:ext cx="375673" cy="39863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8674753A-1E3A-5113-76DF-931167C16843}"/>
              </a:ext>
            </a:extLst>
          </p:cNvPr>
          <p:cNvSpPr txBox="1"/>
          <p:nvPr/>
        </p:nvSpPr>
        <p:spPr>
          <a:xfrm>
            <a:off x="1545155" y="9741221"/>
            <a:ext cx="4459114" cy="441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777ls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24-03-08 12:48</a:t>
            </a:r>
            <a:r>
              <a:rPr lang="ko-KR" altLang="en-US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endParaRPr lang="en-US" altLang="ko-KR" sz="756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롤렉스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데이저스트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41 126300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화이트 로만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21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년식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판매합니다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pic>
        <p:nvPicPr>
          <p:cNvPr id="80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638ABFF9-BEED-7D7E-E419-8FFD2A01BE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1115449" y="9770374"/>
            <a:ext cx="375673" cy="39863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1B7433EC-5BB9-913B-860D-A2FBF39335A0}"/>
              </a:ext>
            </a:extLst>
          </p:cNvPr>
          <p:cNvSpPr txBox="1"/>
          <p:nvPr/>
        </p:nvSpPr>
        <p:spPr>
          <a:xfrm>
            <a:off x="1545155" y="10276789"/>
            <a:ext cx="4459114" cy="441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777ls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24-03-08 12:48</a:t>
            </a:r>
            <a:r>
              <a:rPr lang="ko-KR" altLang="en-US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endParaRPr lang="en-US" altLang="ko-KR" sz="756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롤렉스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데이저스트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41 126300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화이트 로만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21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년식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판매합니다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pic>
        <p:nvPicPr>
          <p:cNvPr id="84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7366B247-F577-BB6E-79A9-3D50AF7C74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1115449" y="10305942"/>
            <a:ext cx="375673" cy="39863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3B8E10C-5EEE-1466-ACA1-27806AF2C19C}"/>
              </a:ext>
            </a:extLst>
          </p:cNvPr>
          <p:cNvSpPr/>
          <p:nvPr/>
        </p:nvSpPr>
        <p:spPr>
          <a:xfrm>
            <a:off x="4645921" y="5206100"/>
            <a:ext cx="1575484" cy="146322"/>
          </a:xfrm>
          <a:prstGeom prst="roundRect">
            <a:avLst/>
          </a:prstGeom>
          <a:solidFill>
            <a:srgbClr val="464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64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8F731D1-B057-6BBB-6518-163896D14868}"/>
              </a:ext>
            </a:extLst>
          </p:cNvPr>
          <p:cNvSpPr/>
          <p:nvPr/>
        </p:nvSpPr>
        <p:spPr>
          <a:xfrm>
            <a:off x="5253491" y="5230694"/>
            <a:ext cx="273894" cy="9058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504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댓글순</a:t>
            </a:r>
            <a:endParaRPr lang="ko-KR" altLang="en-US" sz="504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4C83AF5-4875-565E-A486-CA023EA3E08C}"/>
              </a:ext>
            </a:extLst>
          </p:cNvPr>
          <p:cNvSpPr/>
          <p:nvPr/>
        </p:nvSpPr>
        <p:spPr>
          <a:xfrm>
            <a:off x="5543369" y="5230694"/>
            <a:ext cx="308655" cy="9058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504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낮은가격순</a:t>
            </a:r>
            <a:endParaRPr lang="ko-KR" altLang="en-US" sz="504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F9F62A0-C8F4-CCAB-FCB6-BAD2160A6BC2}"/>
              </a:ext>
            </a:extLst>
          </p:cNvPr>
          <p:cNvSpPr/>
          <p:nvPr/>
        </p:nvSpPr>
        <p:spPr>
          <a:xfrm>
            <a:off x="4963615" y="5230694"/>
            <a:ext cx="273894" cy="9058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504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조회순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4806088-DA48-BE9F-9F3D-7877660EF712}"/>
              </a:ext>
            </a:extLst>
          </p:cNvPr>
          <p:cNvSpPr/>
          <p:nvPr/>
        </p:nvSpPr>
        <p:spPr>
          <a:xfrm>
            <a:off x="4673739" y="5230694"/>
            <a:ext cx="273894" cy="90589"/>
          </a:xfrm>
          <a:prstGeom prst="roundRect">
            <a:avLst/>
          </a:prstGeom>
          <a:solidFill>
            <a:srgbClr val="1F1F2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504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최신순</a:t>
            </a:r>
            <a:endParaRPr lang="ko-KR" altLang="en-US" sz="504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1D1865B-9D90-E333-1465-60FC6AEFD423}"/>
              </a:ext>
            </a:extLst>
          </p:cNvPr>
          <p:cNvSpPr/>
          <p:nvPr/>
        </p:nvSpPr>
        <p:spPr>
          <a:xfrm>
            <a:off x="5868007" y="5230694"/>
            <a:ext cx="308655" cy="9058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504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높은가격순</a:t>
            </a:r>
            <a:endParaRPr lang="ko-KR" altLang="en-US" sz="504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50742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710C2AA-9280-E1CF-7C92-A5F556858DE1}"/>
              </a:ext>
            </a:extLst>
          </p:cNvPr>
          <p:cNvSpPr/>
          <p:nvPr/>
        </p:nvSpPr>
        <p:spPr>
          <a:xfrm>
            <a:off x="0" y="1980406"/>
            <a:ext cx="7220836" cy="11518900"/>
          </a:xfrm>
          <a:prstGeom prst="rect">
            <a:avLst/>
          </a:prstGeom>
          <a:solidFill>
            <a:srgbClr val="464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 dirty="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9512430-5676-B94B-C724-E9D157AD9792}"/>
              </a:ext>
            </a:extLst>
          </p:cNvPr>
          <p:cNvGrpSpPr/>
          <p:nvPr/>
        </p:nvGrpSpPr>
        <p:grpSpPr>
          <a:xfrm>
            <a:off x="1564652" y="7185849"/>
            <a:ext cx="4828515" cy="1034816"/>
            <a:chOff x="4852253" y="1406209"/>
            <a:chExt cx="817167" cy="17513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3192384-97EF-46AB-53F6-E83EA91FDE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75000"/>
            </a:blip>
            <a:srcRect b="44835"/>
            <a:stretch/>
          </p:blipFill>
          <p:spPr>
            <a:xfrm>
              <a:off x="4852253" y="1406209"/>
              <a:ext cx="469978" cy="145985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EAC1982-A3D8-29CA-34DA-9C9DC56BB6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75000"/>
            </a:blip>
            <a:srcRect t="54228" b="-9393"/>
            <a:stretch/>
          </p:blipFill>
          <p:spPr>
            <a:xfrm>
              <a:off x="5199442" y="1435354"/>
              <a:ext cx="469978" cy="145985"/>
            </a:xfrm>
            <a:prstGeom prst="rect">
              <a:avLst/>
            </a:prstGeom>
          </p:spPr>
        </p:pic>
      </p:grp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4BC347A-7D07-65A8-AB0B-346F0D1F13AF}"/>
              </a:ext>
            </a:extLst>
          </p:cNvPr>
          <p:cNvCxnSpPr>
            <a:cxnSpLocks/>
          </p:cNvCxnSpPr>
          <p:nvPr/>
        </p:nvCxnSpPr>
        <p:spPr>
          <a:xfrm>
            <a:off x="1727837" y="6755460"/>
            <a:ext cx="37436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4A4C742-48AD-0593-5D0A-3A9D9C642C6E}"/>
              </a:ext>
            </a:extLst>
          </p:cNvPr>
          <p:cNvCxnSpPr>
            <a:cxnSpLocks/>
          </p:cNvCxnSpPr>
          <p:nvPr/>
        </p:nvCxnSpPr>
        <p:spPr>
          <a:xfrm>
            <a:off x="1727837" y="8656078"/>
            <a:ext cx="37436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1638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880001D9-7380-941D-8279-53B79D1CB390}"/>
              </a:ext>
            </a:extLst>
          </p:cNvPr>
          <p:cNvGrpSpPr/>
          <p:nvPr/>
        </p:nvGrpSpPr>
        <p:grpSpPr>
          <a:xfrm>
            <a:off x="491158" y="4201968"/>
            <a:ext cx="6217001" cy="958728"/>
            <a:chOff x="-4719064" y="-3870960"/>
            <a:chExt cx="21544024" cy="332232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C0F6AFB-8A08-A2A8-94F2-F716E01FBCC3}"/>
                </a:ext>
              </a:extLst>
            </p:cNvPr>
            <p:cNvSpPr/>
            <p:nvPr/>
          </p:nvSpPr>
          <p:spPr>
            <a:xfrm>
              <a:off x="-4693920" y="-3870960"/>
              <a:ext cx="21518880" cy="3322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360"/>
            </a:p>
          </p:txBody>
        </p: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7277C30-D80A-EC7F-ED2A-43BACF281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454823" y="-3276600"/>
              <a:ext cx="18029156" cy="2188842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A31EBFC-0EFC-457D-EAD9-AC9E7D6F62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24510" b="77255" l="26144" r="73693">
                          <a14:foregroundMark x1="37582" y1="74902" x2="37582" y2="74902"/>
                          <a14:foregroundMark x1="61438" y1="24510" x2="67320" y2="26471"/>
                          <a14:foregroundMark x1="37418" y1="77255" x2="40523" y2="75294"/>
                        </a14:backgroundRemoval>
                      </a14:imgEffect>
                    </a14:imgLayer>
                  </a14:imgProps>
                </a:ext>
              </a:extLst>
            </a:blip>
            <a:srcRect l="20373" t="20372" r="20373" b="20372"/>
            <a:stretch/>
          </p:blipFill>
          <p:spPr>
            <a:xfrm>
              <a:off x="-4719064" y="-3667126"/>
              <a:ext cx="3454144" cy="2878454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1A939F96-138F-9765-B765-527814458213}"/>
              </a:ext>
            </a:extLst>
          </p:cNvPr>
          <p:cNvGrpSpPr/>
          <p:nvPr/>
        </p:nvGrpSpPr>
        <p:grpSpPr>
          <a:xfrm>
            <a:off x="1463860" y="5887221"/>
            <a:ext cx="4271592" cy="5013311"/>
            <a:chOff x="19073554" y="-3229761"/>
            <a:chExt cx="9608126" cy="11276481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6BC21B0-DCB6-36E0-8F7D-6C820A605D4F}"/>
                </a:ext>
              </a:extLst>
            </p:cNvPr>
            <p:cNvSpPr/>
            <p:nvPr/>
          </p:nvSpPr>
          <p:spPr>
            <a:xfrm>
              <a:off x="19073554" y="-3229761"/>
              <a:ext cx="9608126" cy="112764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360"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AFF040E-4238-81DC-DDB6-AE39068177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8927" t="18927" r="18927" b="18927"/>
            <a:stretch/>
          </p:blipFill>
          <p:spPr>
            <a:xfrm>
              <a:off x="20961530" y="-2076601"/>
              <a:ext cx="6104710" cy="5087258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840BB65-404C-B4D2-D1D5-6F8A4BB3F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439697" y="3927682"/>
              <a:ext cx="7096125" cy="31337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821424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7DF337-5CB7-F656-AA97-06D83E3367AA}"/>
              </a:ext>
            </a:extLst>
          </p:cNvPr>
          <p:cNvSpPr txBox="1"/>
          <p:nvPr/>
        </p:nvSpPr>
        <p:spPr>
          <a:xfrm>
            <a:off x="4" y="2128055"/>
            <a:ext cx="11376691" cy="363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2. </a:t>
            </a:r>
            <a:r>
              <a:rPr lang="ko-KR" altLang="en-US" sz="1764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사기제보 페이지</a:t>
            </a:r>
            <a:endParaRPr lang="ko-KR" altLang="en-US" sz="1386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B4A576-43BE-EC4F-2D42-3A30B24EB2AE}"/>
              </a:ext>
            </a:extLst>
          </p:cNvPr>
          <p:cNvSpPr txBox="1"/>
          <p:nvPr/>
        </p:nvSpPr>
        <p:spPr>
          <a:xfrm>
            <a:off x="1" y="2544859"/>
            <a:ext cx="7220836" cy="7321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19952" indent="-319952">
              <a:buFontTx/>
              <a:buChar char="-"/>
            </a:pP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사기제보 페이지를 누르면 나타나는 페이지</a:t>
            </a:r>
            <a:endParaRPr lang="en-US" altLang="ko-KR" sz="1386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pPr marL="319952" indent="-319952">
              <a:buFontTx/>
              <a:buChar char="-"/>
            </a:pP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해당 페이지에서 사용자들이 </a:t>
            </a:r>
            <a:r>
              <a:rPr lang="ko-KR" altLang="en-US" sz="1386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사기게시글을</a:t>
            </a: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누르고 신고 </a:t>
            </a:r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386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더치트의</a:t>
            </a: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사기계좌 등록 시스템과 유사</a:t>
            </a:r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)</a:t>
            </a:r>
          </a:p>
          <a:p>
            <a:pPr marL="319952" indent="-319952">
              <a:buFontTx/>
              <a:buChar char="-"/>
            </a:pP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신고된 게시물은 즉시 서버에서 수집 시작</a:t>
            </a:r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수집 후 패턴 파악하여 이후 사기 패턴 학습에 적용</a:t>
            </a:r>
            <a:endParaRPr lang="en-US" altLang="ko-KR" sz="1386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3CD856-B4A7-76DB-8335-6CB78892F4BC}"/>
              </a:ext>
            </a:extLst>
          </p:cNvPr>
          <p:cNvSpPr txBox="1"/>
          <p:nvPr/>
        </p:nvSpPr>
        <p:spPr>
          <a:xfrm>
            <a:off x="-1" y="11847609"/>
            <a:ext cx="7199313" cy="4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ⓐ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사기 제보 버튼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방문자들이 사기 사례를 제보하기 위해 클릭하는 버튼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D1CCCC-7757-33AD-8113-AF03AC60F5ED}"/>
              </a:ext>
            </a:extLst>
          </p:cNvPr>
          <p:cNvSpPr txBox="1"/>
          <p:nvPr/>
        </p:nvSpPr>
        <p:spPr>
          <a:xfrm>
            <a:off x="-1" y="12350461"/>
            <a:ext cx="7199313" cy="4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ⓑ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광고 삽입 자리 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애드센스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)</a:t>
            </a: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메인페이지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광고 삽입 자리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광고를 끄면 나타나는 문구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C9BDFCA-E662-8E64-AFDD-33988FD42B23}"/>
              </a:ext>
            </a:extLst>
          </p:cNvPr>
          <p:cNvCxnSpPr>
            <a:cxnSpLocks/>
          </p:cNvCxnSpPr>
          <p:nvPr/>
        </p:nvCxnSpPr>
        <p:spPr>
          <a:xfrm>
            <a:off x="-1" y="3328587"/>
            <a:ext cx="7199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B3A749B-1993-105E-A004-A74CFBCD2F8C}"/>
              </a:ext>
            </a:extLst>
          </p:cNvPr>
          <p:cNvGrpSpPr/>
          <p:nvPr/>
        </p:nvGrpSpPr>
        <p:grpSpPr>
          <a:xfrm>
            <a:off x="-1" y="3354522"/>
            <a:ext cx="7199313" cy="617932"/>
            <a:chOff x="-6173610" y="696003"/>
            <a:chExt cx="14698254" cy="1261580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454F5FAA-A0B5-6C6E-9F2A-3D8393BB7E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1" r="251"/>
            <a:stretch/>
          </p:blipFill>
          <p:spPr>
            <a:xfrm>
              <a:off x="-6173610" y="696003"/>
              <a:ext cx="14698254" cy="672969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DABE599-2595-B317-5B0A-31081BC5BB70}"/>
                </a:ext>
              </a:extLst>
            </p:cNvPr>
            <p:cNvSpPr txBox="1"/>
            <p:nvPr/>
          </p:nvSpPr>
          <p:spPr>
            <a:xfrm>
              <a:off x="-5639772" y="1580192"/>
              <a:ext cx="813773" cy="2771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사기검증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8C332F-4023-E451-8F68-66D94FF70388}"/>
                </a:ext>
              </a:extLst>
            </p:cNvPr>
            <p:cNvSpPr txBox="1"/>
            <p:nvPr/>
          </p:nvSpPr>
          <p:spPr>
            <a:xfrm>
              <a:off x="-4384543" y="1583681"/>
              <a:ext cx="813773" cy="2771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사기제보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B23A426-8468-2E00-8402-A9ECCF033288}"/>
                </a:ext>
              </a:extLst>
            </p:cNvPr>
            <p:cNvSpPr txBox="1"/>
            <p:nvPr/>
          </p:nvSpPr>
          <p:spPr>
            <a:xfrm>
              <a:off x="-3129315" y="1578190"/>
              <a:ext cx="813773" cy="2771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가격동향</a:t>
              </a:r>
              <a:endParaRPr lang="ko-KR" altLang="en-US" sz="882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94115EC-492C-E148-B00D-E1ECE0E97978}"/>
                </a:ext>
              </a:extLst>
            </p:cNvPr>
            <p:cNvGrpSpPr/>
            <p:nvPr/>
          </p:nvGrpSpPr>
          <p:grpSpPr>
            <a:xfrm>
              <a:off x="6305768" y="1507170"/>
              <a:ext cx="2101649" cy="450413"/>
              <a:chOff x="3389868" y="3051668"/>
              <a:chExt cx="3445082" cy="738331"/>
            </a:xfrm>
          </p:grpSpPr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18CB257C-C944-7E81-8414-14A192538FF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biLevel thresh="75000"/>
              </a:blip>
              <a:srcRect b="44835"/>
              <a:stretch/>
            </p:blipFill>
            <p:spPr>
              <a:xfrm>
                <a:off x="3389868" y="3051668"/>
                <a:ext cx="1981373" cy="615459"/>
              </a:xfrm>
              <a:prstGeom prst="rect">
                <a:avLst/>
              </a:prstGeom>
            </p:spPr>
          </p:pic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FAFB2129-3F6C-CDF9-99BA-CFE193B2AC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biLevel thresh="75000"/>
              </a:blip>
              <a:srcRect t="54228" b="-9393"/>
              <a:stretch/>
            </p:blipFill>
            <p:spPr>
              <a:xfrm>
                <a:off x="4853577" y="3174540"/>
                <a:ext cx="1981373" cy="615459"/>
              </a:xfrm>
              <a:prstGeom prst="rect">
                <a:avLst/>
              </a:prstGeom>
            </p:spPr>
          </p:pic>
        </p:grp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9C688CF-060F-0E17-24FE-73E5CC777C99}"/>
              </a:ext>
            </a:extLst>
          </p:cNvPr>
          <p:cNvSpPr/>
          <p:nvPr/>
        </p:nvSpPr>
        <p:spPr>
          <a:xfrm>
            <a:off x="0" y="4107490"/>
            <a:ext cx="7220836" cy="7660017"/>
          </a:xfrm>
          <a:prstGeom prst="rect">
            <a:avLst/>
          </a:prstGeom>
          <a:solidFill>
            <a:srgbClr val="464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 dirty="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0F519BE-A6C1-3890-0FEA-6A8E74C9C744}"/>
              </a:ext>
            </a:extLst>
          </p:cNvPr>
          <p:cNvGrpSpPr/>
          <p:nvPr/>
        </p:nvGrpSpPr>
        <p:grpSpPr>
          <a:xfrm>
            <a:off x="67555" y="11092791"/>
            <a:ext cx="3438762" cy="535981"/>
            <a:chOff x="164209" y="7740451"/>
            <a:chExt cx="5782060" cy="550501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8D01C04-D382-D3CB-895E-B118DEAC44EF}"/>
                </a:ext>
              </a:extLst>
            </p:cNvPr>
            <p:cNvSpPr txBox="1"/>
            <p:nvPr/>
          </p:nvSpPr>
          <p:spPr>
            <a:xfrm>
              <a:off x="164209" y="7740451"/>
              <a:ext cx="5782060" cy="5505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1764"/>
                </a:lnSpc>
              </a:pPr>
              <a:r>
                <a:rPr lang="ko-KR" altLang="en-US" sz="113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                          </a:t>
              </a:r>
              <a:r>
                <a:rPr lang="ko-KR" altLang="en-US" sz="1134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ㅣ</a:t>
              </a:r>
              <a:r>
                <a:rPr lang="ko-KR" altLang="en-US" sz="113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 제휴문의</a:t>
              </a:r>
              <a:r>
                <a:rPr lang="en-US" altLang="ko-KR" sz="113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 Cleandeal@naver.com</a:t>
              </a:r>
            </a:p>
            <a:p>
              <a:pPr>
                <a:lnSpc>
                  <a:spcPts val="1764"/>
                </a:lnSpc>
              </a:pPr>
              <a:r>
                <a:rPr lang="en-US" altLang="ko-KR" sz="113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Watchout.com</a:t>
              </a:r>
              <a:r>
                <a:rPr lang="ko-KR" altLang="en-US" sz="1134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ㅣ개인정보처리방침</a:t>
              </a:r>
              <a:r>
                <a:rPr lang="ko-KR" altLang="en-US" sz="113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 </a:t>
              </a:r>
              <a:r>
                <a:rPr lang="ko-KR" altLang="en-US" sz="1134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ㅣ</a:t>
              </a:r>
              <a:r>
                <a:rPr lang="ko-KR" altLang="en-US" sz="113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 공지사항 </a:t>
              </a:r>
              <a:endPara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endParaRPr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C14300D1-FAC1-3A4F-0A96-68199565F5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11979" y="7854918"/>
              <a:ext cx="1882290" cy="154570"/>
            </a:xfrm>
            <a:prstGeom prst="rect">
              <a:avLst/>
            </a:prstGeom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EACA809-4B50-2C49-F642-44CB99BC0485}"/>
              </a:ext>
            </a:extLst>
          </p:cNvPr>
          <p:cNvSpPr txBox="1"/>
          <p:nvPr/>
        </p:nvSpPr>
        <p:spPr>
          <a:xfrm>
            <a:off x="782759" y="9921531"/>
            <a:ext cx="5633796" cy="61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해당 사이트는 광고와 후원으로만 운영이 됩니다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</a:p>
          <a:p>
            <a:pPr algn="ctr"/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애드블럭을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허용해주시면 사이트 운영에 큰 힘이 됩니다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감사합니다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</a:p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본 사이트는 콘텐츠를 보는데 방해되지 않는 위치에 광고를 설치했습니다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345CEC04-21CF-CAAE-9BBD-BD67815F2D2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457827" y="9669401"/>
            <a:ext cx="6348410" cy="1135871"/>
          </a:xfrm>
          <a:prstGeom prst="rect">
            <a:avLst/>
          </a:prstGeom>
        </p:spPr>
      </p:pic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2417F54-D9A9-E830-62AF-621535BDEED9}"/>
              </a:ext>
            </a:extLst>
          </p:cNvPr>
          <p:cNvSpPr/>
          <p:nvPr/>
        </p:nvSpPr>
        <p:spPr>
          <a:xfrm>
            <a:off x="442947" y="9664991"/>
            <a:ext cx="6348699" cy="1167866"/>
          </a:xfrm>
          <a:prstGeom prst="round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6343F2-D8EC-535B-CE06-F40B3C08AF88}"/>
              </a:ext>
            </a:extLst>
          </p:cNvPr>
          <p:cNvSpPr txBox="1"/>
          <p:nvPr/>
        </p:nvSpPr>
        <p:spPr>
          <a:xfrm rot="20345079">
            <a:off x="218224" y="9528034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ⓑ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CD662D-35E9-01FF-615D-D47964751450}"/>
              </a:ext>
            </a:extLst>
          </p:cNvPr>
          <p:cNvSpPr txBox="1"/>
          <p:nvPr/>
        </p:nvSpPr>
        <p:spPr>
          <a:xfrm rot="20345079">
            <a:off x="-50310" y="10910373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ⓒ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82EA82-988C-2AA6-6F00-639BDAE4C946}"/>
              </a:ext>
            </a:extLst>
          </p:cNvPr>
          <p:cNvSpPr txBox="1"/>
          <p:nvPr/>
        </p:nvSpPr>
        <p:spPr>
          <a:xfrm>
            <a:off x="-1" y="12885088"/>
            <a:ext cx="7199313" cy="4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ⓒ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기업정보 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관리자 및 기업에 대한 정보를 삽입하는 공간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매 페이지마다 디폴트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B9366EA-2358-252C-2B14-D900916D3931}"/>
              </a:ext>
            </a:extLst>
          </p:cNvPr>
          <p:cNvSpPr/>
          <p:nvPr/>
        </p:nvSpPr>
        <p:spPr>
          <a:xfrm>
            <a:off x="2843967" y="6955761"/>
            <a:ext cx="1511379" cy="381231"/>
          </a:xfrm>
          <a:prstGeom prst="roundRect">
            <a:avLst>
              <a:gd name="adj" fmla="val 298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   사기 제보</a:t>
            </a:r>
          </a:p>
        </p:txBody>
      </p:sp>
      <p:pic>
        <p:nvPicPr>
          <p:cNvPr id="9" name="Picture 6" descr="경고 - 무료 음악개 아이콘">
            <a:extLst>
              <a:ext uri="{FF2B5EF4-FFF2-40B4-BE49-F238E27FC236}">
                <a16:creationId xmlns:a16="http://schemas.microsoft.com/office/drawing/2014/main" id="{E7C2B2B9-0E63-14D0-68B9-5B6786B62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8407" y="6955757"/>
            <a:ext cx="383928" cy="383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E13BF48-870A-10EF-6E48-A3A9A8B86C14}"/>
              </a:ext>
            </a:extLst>
          </p:cNvPr>
          <p:cNvSpPr txBox="1"/>
          <p:nvPr/>
        </p:nvSpPr>
        <p:spPr>
          <a:xfrm rot="20345079">
            <a:off x="2647860" y="6891936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ⓐ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312D9E-B0B0-B7C9-5AE2-5E0EFDDDF266}"/>
              </a:ext>
            </a:extLst>
          </p:cNvPr>
          <p:cNvSpPr txBox="1"/>
          <p:nvPr/>
        </p:nvSpPr>
        <p:spPr>
          <a:xfrm>
            <a:off x="155437" y="4287884"/>
            <a:ext cx="5759450" cy="363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764" b="1" spc="-189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사기 사례를 제보해 주세요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8F0661E-7541-31F2-CA3E-7916D9EFCFAC}"/>
              </a:ext>
            </a:extLst>
          </p:cNvPr>
          <p:cNvSpPr txBox="1"/>
          <p:nvPr/>
        </p:nvSpPr>
        <p:spPr>
          <a:xfrm>
            <a:off x="155441" y="4645532"/>
            <a:ext cx="5418001" cy="363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사용자들의 소중한 사기제보 관련 정보는 사기 패턴 학습 데이터로 활용됩니다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</a:p>
          <a:p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해당 사이트는 사용자들의 후원으로 운영이 됩니다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사용자들의 사기제보는 사이트 운영에 큰 힘이 됩니다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87235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5041</TotalTime>
  <Words>7671</Words>
  <Application>Microsoft Office PowerPoint</Application>
  <PresentationFormat>사용자 지정</PresentationFormat>
  <Paragraphs>1469</Paragraphs>
  <Slides>33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2" baseType="lpstr">
      <vt:lpstr>KoPub돋움체 Bold</vt:lpstr>
      <vt:lpstr>KoPub돋움체 Light</vt:lpstr>
      <vt:lpstr>KoPub돋움체 Medium</vt:lpstr>
      <vt:lpstr>맑은 고딕</vt:lpstr>
      <vt:lpstr>Arial</vt:lpstr>
      <vt:lpstr>Calibri</vt:lpstr>
      <vt:lpstr>Calibri Light</vt:lpstr>
      <vt:lpstr>Segoe UI Emoji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혜진 나</dc:creator>
  <cp:lastModifiedBy>혜진 나</cp:lastModifiedBy>
  <cp:revision>122</cp:revision>
  <dcterms:created xsi:type="dcterms:W3CDTF">2024-03-07T06:52:38Z</dcterms:created>
  <dcterms:modified xsi:type="dcterms:W3CDTF">2025-05-05T10:01:02Z</dcterms:modified>
</cp:coreProperties>
</file>